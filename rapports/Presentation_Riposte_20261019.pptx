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E34948"/>
            </a:solidFill>
          </c:spPr>
          <c:cat>
            <c:strRef>
              <c:f>Sheet1!$A$2:$A$17</c:f>
              <c:strCache>
                <c:ptCount val="16"/>
                <c:pt idx="0">
                  <c:v>S27</c:v>
                </c:pt>
                <c:pt idx="1">
                  <c:v>S28</c:v>
                </c:pt>
                <c:pt idx="2">
                  <c:v>S29</c:v>
                </c:pt>
                <c:pt idx="3">
                  <c:v>S30</c:v>
                </c:pt>
                <c:pt idx="4">
                  <c:v>S31</c:v>
                </c:pt>
                <c:pt idx="5">
                  <c:v>S32</c:v>
                </c:pt>
                <c:pt idx="6">
                  <c:v>S33</c:v>
                </c:pt>
                <c:pt idx="7">
                  <c:v>S34</c:v>
                </c:pt>
                <c:pt idx="8">
                  <c:v>S35</c:v>
                </c:pt>
                <c:pt idx="9">
                  <c:v>S36</c:v>
                </c:pt>
                <c:pt idx="10">
                  <c:v>S37</c:v>
                </c:pt>
                <c:pt idx="11">
                  <c:v>S38</c:v>
                </c:pt>
                <c:pt idx="12">
                  <c:v>S39</c:v>
                </c:pt>
                <c:pt idx="13">
                  <c:v>S40</c:v>
                </c:pt>
                <c:pt idx="14">
                  <c:v>S41</c:v>
                </c:pt>
                <c:pt idx="15">
                  <c:v>S42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138.0</c:v>
                </c:pt>
                <c:pt idx="1">
                  <c:v>148.0</c:v>
                </c:pt>
                <c:pt idx="2">
                  <c:v>131.0</c:v>
                </c:pt>
                <c:pt idx="3">
                  <c:v>204.0</c:v>
                </c:pt>
                <c:pt idx="4">
                  <c:v>198.0</c:v>
                </c:pt>
                <c:pt idx="5">
                  <c:v>199.0</c:v>
                </c:pt>
                <c:pt idx="6">
                  <c:v>243.0</c:v>
                </c:pt>
                <c:pt idx="7">
                  <c:v>202.0</c:v>
                </c:pt>
                <c:pt idx="8">
                  <c:v>219.0</c:v>
                </c:pt>
                <c:pt idx="9">
                  <c:v>226.0</c:v>
                </c:pt>
                <c:pt idx="10">
                  <c:v>280.0</c:v>
                </c:pt>
                <c:pt idx="11">
                  <c:v>155.0</c:v>
                </c:pt>
                <c:pt idx="12">
                  <c:v>157.0</c:v>
                </c:pt>
                <c:pt idx="13">
                  <c:v>139.0</c:v>
                </c:pt>
                <c:pt idx="14">
                  <c:v>170.0</c:v>
                </c:pt>
                <c:pt idx="15">
                  <c:v>146.0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 confirmés non décédés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Sheet1!$A$2:$A$17</c:f>
              <c:strCache>
                <c:ptCount val="16"/>
                <c:pt idx="0">
                  <c:v>S27</c:v>
                </c:pt>
                <c:pt idx="1">
                  <c:v>S28</c:v>
                </c:pt>
                <c:pt idx="2">
                  <c:v>S29</c:v>
                </c:pt>
                <c:pt idx="3">
                  <c:v>S30</c:v>
                </c:pt>
                <c:pt idx="4">
                  <c:v>S31</c:v>
                </c:pt>
                <c:pt idx="5">
                  <c:v>S32</c:v>
                </c:pt>
                <c:pt idx="6">
                  <c:v>S33</c:v>
                </c:pt>
                <c:pt idx="7">
                  <c:v>S34</c:v>
                </c:pt>
                <c:pt idx="8">
                  <c:v>S35</c:v>
                </c:pt>
                <c:pt idx="9">
                  <c:v>S36</c:v>
                </c:pt>
                <c:pt idx="10">
                  <c:v>S37</c:v>
                </c:pt>
                <c:pt idx="11">
                  <c:v>S38</c:v>
                </c:pt>
                <c:pt idx="12">
                  <c:v>S39</c:v>
                </c:pt>
                <c:pt idx="13">
                  <c:v>S40</c:v>
                </c:pt>
                <c:pt idx="14">
                  <c:v>S41</c:v>
                </c:pt>
                <c:pt idx="15">
                  <c:v>S42</c:v>
                </c:pt>
              </c:strCache>
            </c: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243.0</c:v>
                </c:pt>
                <c:pt idx="1">
                  <c:v>255.0</c:v>
                </c:pt>
                <c:pt idx="2">
                  <c:v>283.0</c:v>
                </c:pt>
                <c:pt idx="3">
                  <c:v>327.0</c:v>
                </c:pt>
                <c:pt idx="4">
                  <c:v>289.0</c:v>
                </c:pt>
                <c:pt idx="5">
                  <c:v>307.0</c:v>
                </c:pt>
                <c:pt idx="6">
                  <c:v>374.0</c:v>
                </c:pt>
                <c:pt idx="7">
                  <c:v>291.0</c:v>
                </c:pt>
                <c:pt idx="8">
                  <c:v>344.0</c:v>
                </c:pt>
                <c:pt idx="9">
                  <c:v>301.0</c:v>
                </c:pt>
                <c:pt idx="10">
                  <c:v>339.0</c:v>
                </c:pt>
                <c:pt idx="11">
                  <c:v>327.0</c:v>
                </c:pt>
                <c:pt idx="12">
                  <c:v>281.0</c:v>
                </c:pt>
                <c:pt idx="13">
                  <c:v>259.0</c:v>
                </c:pt>
                <c:pt idx="14">
                  <c:v>267.0</c:v>
                </c:pt>
                <c:pt idx="15">
                  <c:v>260.0</c:v>
                </c:pt>
              </c:numCache>
            </c:numRef>
          </c:val>
        </c:ser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9D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4E2D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4A556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Borne supérieure (IC 95 %)</c:v>
                </c:pt>
              </c:strCache>
            </c:strRef>
          </c:tx>
          <c:spPr>
            <a:ln w="15875">
              <a:solidFill>
                <a:srgbClr val="CADCFC"/>
              </a:solidFill>
            </a:ln>
          </c:spPr>
          <c:marker>
            <c:symbol val="none"/>
          </c:marker>
          <c:cat>
            <c:strRef>
              <c:f>Sheet1!$A$2:$A$44</c:f>
              <c:strCache>
                <c:ptCount val="43"/>
                <c:pt idx="0">
                  <c:v>21/07</c:v>
                </c:pt>
                <c:pt idx="1">
                  <c:v>23/07</c:v>
                </c:pt>
                <c:pt idx="2">
                  <c:v>25/07</c:v>
                </c:pt>
                <c:pt idx="3">
                  <c:v>27/07</c:v>
                </c:pt>
                <c:pt idx="4">
                  <c:v>29/07</c:v>
                </c:pt>
                <c:pt idx="5">
                  <c:v>31/07</c:v>
                </c:pt>
                <c:pt idx="6">
                  <c:v>02/08</c:v>
                </c:pt>
                <c:pt idx="7">
                  <c:v>04/08</c:v>
                </c:pt>
                <c:pt idx="8">
                  <c:v>06/08</c:v>
                </c:pt>
                <c:pt idx="9">
                  <c:v>08/08</c:v>
                </c:pt>
                <c:pt idx="10">
                  <c:v>10/08</c:v>
                </c:pt>
                <c:pt idx="11">
                  <c:v>12/08</c:v>
                </c:pt>
                <c:pt idx="12">
                  <c:v>14/08</c:v>
                </c:pt>
                <c:pt idx="13">
                  <c:v>16/08</c:v>
                </c:pt>
                <c:pt idx="14">
                  <c:v>18/08</c:v>
                </c:pt>
                <c:pt idx="15">
                  <c:v>20/08</c:v>
                </c:pt>
                <c:pt idx="16">
                  <c:v>22/08</c:v>
                </c:pt>
                <c:pt idx="17">
                  <c:v>24/08</c:v>
                </c:pt>
                <c:pt idx="18">
                  <c:v>26/08</c:v>
                </c:pt>
                <c:pt idx="19">
                  <c:v>28/08</c:v>
                </c:pt>
                <c:pt idx="20">
                  <c:v>30/08</c:v>
                </c:pt>
                <c:pt idx="21">
                  <c:v>01/09</c:v>
                </c:pt>
                <c:pt idx="22">
                  <c:v>03/09</c:v>
                </c:pt>
                <c:pt idx="23">
                  <c:v>05/09</c:v>
                </c:pt>
                <c:pt idx="24">
                  <c:v>07/09</c:v>
                </c:pt>
                <c:pt idx="25">
                  <c:v>09/09</c:v>
                </c:pt>
                <c:pt idx="26">
                  <c:v>11/09</c:v>
                </c:pt>
                <c:pt idx="27">
                  <c:v>13/09</c:v>
                </c:pt>
                <c:pt idx="28">
                  <c:v>15/09</c:v>
                </c:pt>
                <c:pt idx="29">
                  <c:v>17/09</c:v>
                </c:pt>
                <c:pt idx="30">
                  <c:v>19/09</c:v>
                </c:pt>
                <c:pt idx="31">
                  <c:v>21/09</c:v>
                </c:pt>
                <c:pt idx="32">
                  <c:v>23/09</c:v>
                </c:pt>
                <c:pt idx="33">
                  <c:v>25/09</c:v>
                </c:pt>
                <c:pt idx="34">
                  <c:v>27/09</c:v>
                </c:pt>
                <c:pt idx="35">
                  <c:v>29/09</c:v>
                </c:pt>
                <c:pt idx="36">
                  <c:v>01/10</c:v>
                </c:pt>
                <c:pt idx="37">
                  <c:v>03/10</c:v>
                </c:pt>
                <c:pt idx="38">
                  <c:v>05/10</c:v>
                </c:pt>
                <c:pt idx="39">
                  <c:v>07/10</c:v>
                </c:pt>
                <c:pt idx="40">
                  <c:v>09/10</c:v>
                </c:pt>
                <c:pt idx="41">
                  <c:v>11/10</c:v>
                </c:pt>
                <c:pt idx="42">
                  <c:v>13/10</c:v>
                </c:pt>
              </c:strCache>
            </c:strRef>
          </c:cat>
          <c:val>
            <c:numRef>
              <c:f>Sheet1!$B$2:$B$44</c:f>
              <c:numCache>
                <c:formatCode>General</c:formatCode>
                <c:ptCount val="43"/>
                <c:pt idx="0">
                  <c:v>1.306</c:v>
                </c:pt>
                <c:pt idx="1">
                  <c:v>1.316</c:v>
                </c:pt>
                <c:pt idx="2">
                  <c:v>1.276</c:v>
                </c:pt>
                <c:pt idx="3">
                  <c:v>1.178</c:v>
                </c:pt>
                <c:pt idx="4">
                  <c:v>1.14</c:v>
                </c:pt>
                <c:pt idx="5">
                  <c:v>1.179</c:v>
                </c:pt>
                <c:pt idx="6">
                  <c:v>1.279</c:v>
                </c:pt>
                <c:pt idx="7">
                  <c:v>1.164</c:v>
                </c:pt>
                <c:pt idx="8">
                  <c:v>1.208</c:v>
                </c:pt>
                <c:pt idx="9">
                  <c:v>1.135</c:v>
                </c:pt>
                <c:pt idx="10">
                  <c:v>1.219</c:v>
                </c:pt>
                <c:pt idx="11">
                  <c:v>1.252</c:v>
                </c:pt>
                <c:pt idx="12">
                  <c:v>1.238</c:v>
                </c:pt>
                <c:pt idx="13">
                  <c:v>1.162</c:v>
                </c:pt>
                <c:pt idx="14">
                  <c:v>1.082</c:v>
                </c:pt>
                <c:pt idx="15">
                  <c:v>1.072</c:v>
                </c:pt>
                <c:pt idx="16">
                  <c:v>1.053</c:v>
                </c:pt>
                <c:pt idx="17">
                  <c:v>1.084</c:v>
                </c:pt>
                <c:pt idx="18">
                  <c:v>1.188</c:v>
                </c:pt>
                <c:pt idx="19">
                  <c:v>1.101</c:v>
                </c:pt>
                <c:pt idx="20">
                  <c:v>1.108</c:v>
                </c:pt>
                <c:pt idx="21">
                  <c:v>1.098</c:v>
                </c:pt>
                <c:pt idx="22">
                  <c:v>1.095</c:v>
                </c:pt>
                <c:pt idx="23">
                  <c:v>1.117</c:v>
                </c:pt>
                <c:pt idx="24">
                  <c:v>1.133</c:v>
                </c:pt>
                <c:pt idx="25">
                  <c:v>1.112</c:v>
                </c:pt>
                <c:pt idx="26">
                  <c:v>1.132</c:v>
                </c:pt>
                <c:pt idx="27">
                  <c:v>1.051</c:v>
                </c:pt>
                <c:pt idx="28">
                  <c:v>1.01</c:v>
                </c:pt>
                <c:pt idx="29">
                  <c:v>0.927</c:v>
                </c:pt>
                <c:pt idx="30">
                  <c:v>0.956</c:v>
                </c:pt>
                <c:pt idx="31">
                  <c:v>0.938</c:v>
                </c:pt>
                <c:pt idx="32">
                  <c:v>0.903</c:v>
                </c:pt>
                <c:pt idx="33">
                  <c:v>0.93</c:v>
                </c:pt>
                <c:pt idx="34">
                  <c:v>0.877</c:v>
                </c:pt>
                <c:pt idx="35">
                  <c:v>0.994</c:v>
                </c:pt>
                <c:pt idx="36">
                  <c:v>1.074</c:v>
                </c:pt>
                <c:pt idx="37">
                  <c:v>1.042</c:v>
                </c:pt>
                <c:pt idx="38">
                  <c:v>1.013</c:v>
                </c:pt>
                <c:pt idx="39">
                  <c:v>0.989</c:v>
                </c:pt>
                <c:pt idx="40">
                  <c:v>0.987</c:v>
                </c:pt>
                <c:pt idx="41">
                  <c:v>1.091</c:v>
                </c:pt>
                <c:pt idx="42">
                  <c:v>1.021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 (médiane)</c:v>
                </c:pt>
              </c:strCache>
            </c:strRef>
          </c:tx>
          <c:spPr>
            <a:ln w="31750">
              <a:solidFill>
                <a:srgbClr val="2A78D6"/>
              </a:solidFill>
            </a:ln>
          </c:spPr>
          <c:marker>
            <c:symbol val="none"/>
          </c:marker>
          <c:cat>
            <c:strRef>
              <c:f>Sheet1!$A$2:$A$44</c:f>
              <c:strCache>
                <c:ptCount val="43"/>
                <c:pt idx="0">
                  <c:v>21/07</c:v>
                </c:pt>
                <c:pt idx="1">
                  <c:v>23/07</c:v>
                </c:pt>
                <c:pt idx="2">
                  <c:v>25/07</c:v>
                </c:pt>
                <c:pt idx="3">
                  <c:v>27/07</c:v>
                </c:pt>
                <c:pt idx="4">
                  <c:v>29/07</c:v>
                </c:pt>
                <c:pt idx="5">
                  <c:v>31/07</c:v>
                </c:pt>
                <c:pt idx="6">
                  <c:v>02/08</c:v>
                </c:pt>
                <c:pt idx="7">
                  <c:v>04/08</c:v>
                </c:pt>
                <c:pt idx="8">
                  <c:v>06/08</c:v>
                </c:pt>
                <c:pt idx="9">
                  <c:v>08/08</c:v>
                </c:pt>
                <c:pt idx="10">
                  <c:v>10/08</c:v>
                </c:pt>
                <c:pt idx="11">
                  <c:v>12/08</c:v>
                </c:pt>
                <c:pt idx="12">
                  <c:v>14/08</c:v>
                </c:pt>
                <c:pt idx="13">
                  <c:v>16/08</c:v>
                </c:pt>
                <c:pt idx="14">
                  <c:v>18/08</c:v>
                </c:pt>
                <c:pt idx="15">
                  <c:v>20/08</c:v>
                </c:pt>
                <c:pt idx="16">
                  <c:v>22/08</c:v>
                </c:pt>
                <c:pt idx="17">
                  <c:v>24/08</c:v>
                </c:pt>
                <c:pt idx="18">
                  <c:v>26/08</c:v>
                </c:pt>
                <c:pt idx="19">
                  <c:v>28/08</c:v>
                </c:pt>
                <c:pt idx="20">
                  <c:v>30/08</c:v>
                </c:pt>
                <c:pt idx="21">
                  <c:v>01/09</c:v>
                </c:pt>
                <c:pt idx="22">
                  <c:v>03/09</c:v>
                </c:pt>
                <c:pt idx="23">
                  <c:v>05/09</c:v>
                </c:pt>
                <c:pt idx="24">
                  <c:v>07/09</c:v>
                </c:pt>
                <c:pt idx="25">
                  <c:v>09/09</c:v>
                </c:pt>
                <c:pt idx="26">
                  <c:v>11/09</c:v>
                </c:pt>
                <c:pt idx="27">
                  <c:v>13/09</c:v>
                </c:pt>
                <c:pt idx="28">
                  <c:v>15/09</c:v>
                </c:pt>
                <c:pt idx="29">
                  <c:v>17/09</c:v>
                </c:pt>
                <c:pt idx="30">
                  <c:v>19/09</c:v>
                </c:pt>
                <c:pt idx="31">
                  <c:v>21/09</c:v>
                </c:pt>
                <c:pt idx="32">
                  <c:v>23/09</c:v>
                </c:pt>
                <c:pt idx="33">
                  <c:v>25/09</c:v>
                </c:pt>
                <c:pt idx="34">
                  <c:v>27/09</c:v>
                </c:pt>
                <c:pt idx="35">
                  <c:v>29/09</c:v>
                </c:pt>
                <c:pt idx="36">
                  <c:v>01/10</c:v>
                </c:pt>
                <c:pt idx="37">
                  <c:v>03/10</c:v>
                </c:pt>
                <c:pt idx="38">
                  <c:v>05/10</c:v>
                </c:pt>
                <c:pt idx="39">
                  <c:v>07/10</c:v>
                </c:pt>
                <c:pt idx="40">
                  <c:v>09/10</c:v>
                </c:pt>
                <c:pt idx="41">
                  <c:v>11/10</c:v>
                </c:pt>
                <c:pt idx="42">
                  <c:v>13/10</c:v>
                </c:pt>
              </c:strCache>
            </c:strRef>
          </c:cat>
          <c:val>
            <c:numRef>
              <c:f>Sheet1!$C$2:$C$44</c:f>
              <c:numCache>
                <c:formatCode>General</c:formatCode>
                <c:ptCount val="43"/>
                <c:pt idx="0">
                  <c:v>1.199</c:v>
                </c:pt>
                <c:pt idx="1">
                  <c:v>1.21</c:v>
                </c:pt>
                <c:pt idx="2">
                  <c:v>1.177</c:v>
                </c:pt>
                <c:pt idx="3">
                  <c:v>1.077</c:v>
                </c:pt>
                <c:pt idx="4">
                  <c:v>1.041</c:v>
                </c:pt>
                <c:pt idx="5">
                  <c:v>1.082</c:v>
                </c:pt>
                <c:pt idx="6">
                  <c:v>1.178</c:v>
                </c:pt>
                <c:pt idx="7">
                  <c:v>1.067</c:v>
                </c:pt>
                <c:pt idx="8">
                  <c:v>1.109</c:v>
                </c:pt>
                <c:pt idx="9">
                  <c:v>1.049</c:v>
                </c:pt>
                <c:pt idx="10">
                  <c:v>1.121</c:v>
                </c:pt>
                <c:pt idx="11">
                  <c:v>1.15</c:v>
                </c:pt>
                <c:pt idx="12">
                  <c:v>1.143</c:v>
                </c:pt>
                <c:pt idx="13">
                  <c:v>1.074</c:v>
                </c:pt>
                <c:pt idx="14">
                  <c:v>0.99</c:v>
                </c:pt>
                <c:pt idx="15">
                  <c:v>0.984</c:v>
                </c:pt>
                <c:pt idx="16">
                  <c:v>0.966</c:v>
                </c:pt>
                <c:pt idx="17">
                  <c:v>0.998</c:v>
                </c:pt>
                <c:pt idx="18">
                  <c:v>1.095</c:v>
                </c:pt>
                <c:pt idx="19">
                  <c:v>1.016</c:v>
                </c:pt>
                <c:pt idx="20">
                  <c:v>1.024</c:v>
                </c:pt>
                <c:pt idx="21">
                  <c:v>1.018</c:v>
                </c:pt>
                <c:pt idx="22">
                  <c:v>1.013</c:v>
                </c:pt>
                <c:pt idx="23">
                  <c:v>1.035</c:v>
                </c:pt>
                <c:pt idx="24">
                  <c:v>1.048</c:v>
                </c:pt>
                <c:pt idx="25">
                  <c:v>1.027</c:v>
                </c:pt>
                <c:pt idx="26">
                  <c:v>1.046</c:v>
                </c:pt>
                <c:pt idx="27">
                  <c:v>0.964</c:v>
                </c:pt>
                <c:pt idx="28">
                  <c:v>0.927</c:v>
                </c:pt>
                <c:pt idx="29">
                  <c:v>0.845</c:v>
                </c:pt>
                <c:pt idx="30">
                  <c:v>0.877</c:v>
                </c:pt>
                <c:pt idx="31">
                  <c:v>0.86</c:v>
                </c:pt>
                <c:pt idx="32">
                  <c:v>0.82</c:v>
                </c:pt>
                <c:pt idx="33">
                  <c:v>0.846</c:v>
                </c:pt>
                <c:pt idx="34">
                  <c:v>0.793</c:v>
                </c:pt>
                <c:pt idx="35">
                  <c:v>0.898</c:v>
                </c:pt>
                <c:pt idx="36">
                  <c:v>0.985</c:v>
                </c:pt>
                <c:pt idx="37">
                  <c:v>0.953</c:v>
                </c:pt>
                <c:pt idx="38">
                  <c:v>0.925</c:v>
                </c:pt>
                <c:pt idx="39">
                  <c:v>0.898</c:v>
                </c:pt>
                <c:pt idx="40">
                  <c:v>0.899</c:v>
                </c:pt>
                <c:pt idx="41">
                  <c:v>0.999</c:v>
                </c:pt>
                <c:pt idx="42">
                  <c:v>0.935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Borne inférieure (IC 95 %)</c:v>
                </c:pt>
              </c:strCache>
            </c:strRef>
          </c:tx>
          <c:spPr>
            <a:ln w="15875">
              <a:solidFill>
                <a:srgbClr val="CADCFC"/>
              </a:solidFill>
            </a:ln>
          </c:spPr>
          <c:marker>
            <c:symbol val="none"/>
          </c:marker>
          <c:cat>
            <c:strRef>
              <c:f>Sheet1!$A$2:$A$44</c:f>
              <c:strCache>
                <c:ptCount val="43"/>
                <c:pt idx="0">
                  <c:v>21/07</c:v>
                </c:pt>
                <c:pt idx="1">
                  <c:v>23/07</c:v>
                </c:pt>
                <c:pt idx="2">
                  <c:v>25/07</c:v>
                </c:pt>
                <c:pt idx="3">
                  <c:v>27/07</c:v>
                </c:pt>
                <c:pt idx="4">
                  <c:v>29/07</c:v>
                </c:pt>
                <c:pt idx="5">
                  <c:v>31/07</c:v>
                </c:pt>
                <c:pt idx="6">
                  <c:v>02/08</c:v>
                </c:pt>
                <c:pt idx="7">
                  <c:v>04/08</c:v>
                </c:pt>
                <c:pt idx="8">
                  <c:v>06/08</c:v>
                </c:pt>
                <c:pt idx="9">
                  <c:v>08/08</c:v>
                </c:pt>
                <c:pt idx="10">
                  <c:v>10/08</c:v>
                </c:pt>
                <c:pt idx="11">
                  <c:v>12/08</c:v>
                </c:pt>
                <c:pt idx="12">
                  <c:v>14/08</c:v>
                </c:pt>
                <c:pt idx="13">
                  <c:v>16/08</c:v>
                </c:pt>
                <c:pt idx="14">
                  <c:v>18/08</c:v>
                </c:pt>
                <c:pt idx="15">
                  <c:v>20/08</c:v>
                </c:pt>
                <c:pt idx="16">
                  <c:v>22/08</c:v>
                </c:pt>
                <c:pt idx="17">
                  <c:v>24/08</c:v>
                </c:pt>
                <c:pt idx="18">
                  <c:v>26/08</c:v>
                </c:pt>
                <c:pt idx="19">
                  <c:v>28/08</c:v>
                </c:pt>
                <c:pt idx="20">
                  <c:v>30/08</c:v>
                </c:pt>
                <c:pt idx="21">
                  <c:v>01/09</c:v>
                </c:pt>
                <c:pt idx="22">
                  <c:v>03/09</c:v>
                </c:pt>
                <c:pt idx="23">
                  <c:v>05/09</c:v>
                </c:pt>
                <c:pt idx="24">
                  <c:v>07/09</c:v>
                </c:pt>
                <c:pt idx="25">
                  <c:v>09/09</c:v>
                </c:pt>
                <c:pt idx="26">
                  <c:v>11/09</c:v>
                </c:pt>
                <c:pt idx="27">
                  <c:v>13/09</c:v>
                </c:pt>
                <c:pt idx="28">
                  <c:v>15/09</c:v>
                </c:pt>
                <c:pt idx="29">
                  <c:v>17/09</c:v>
                </c:pt>
                <c:pt idx="30">
                  <c:v>19/09</c:v>
                </c:pt>
                <c:pt idx="31">
                  <c:v>21/09</c:v>
                </c:pt>
                <c:pt idx="32">
                  <c:v>23/09</c:v>
                </c:pt>
                <c:pt idx="33">
                  <c:v>25/09</c:v>
                </c:pt>
                <c:pt idx="34">
                  <c:v>27/09</c:v>
                </c:pt>
                <c:pt idx="35">
                  <c:v>29/09</c:v>
                </c:pt>
                <c:pt idx="36">
                  <c:v>01/10</c:v>
                </c:pt>
                <c:pt idx="37">
                  <c:v>03/10</c:v>
                </c:pt>
                <c:pt idx="38">
                  <c:v>05/10</c:v>
                </c:pt>
                <c:pt idx="39">
                  <c:v>07/10</c:v>
                </c:pt>
                <c:pt idx="40">
                  <c:v>09/10</c:v>
                </c:pt>
                <c:pt idx="41">
                  <c:v>11/10</c:v>
                </c:pt>
                <c:pt idx="42">
                  <c:v>13/10</c:v>
                </c:pt>
              </c:strCache>
            </c:strRef>
          </c:cat>
          <c:val>
            <c:numRef>
              <c:f>Sheet1!$D$2:$D$44</c:f>
              <c:numCache>
                <c:formatCode>General</c:formatCode>
                <c:ptCount val="43"/>
                <c:pt idx="0">
                  <c:v>1.092</c:v>
                </c:pt>
                <c:pt idx="1">
                  <c:v>1.116</c:v>
                </c:pt>
                <c:pt idx="2">
                  <c:v>1.074</c:v>
                </c:pt>
                <c:pt idx="3">
                  <c:v>0.983</c:v>
                </c:pt>
                <c:pt idx="4">
                  <c:v>0.948</c:v>
                </c:pt>
                <c:pt idx="5">
                  <c:v>0.985</c:v>
                </c:pt>
                <c:pt idx="6">
                  <c:v>1.084</c:v>
                </c:pt>
                <c:pt idx="7">
                  <c:v>0.974</c:v>
                </c:pt>
                <c:pt idx="8">
                  <c:v>1.018</c:v>
                </c:pt>
                <c:pt idx="9">
                  <c:v>0.955</c:v>
                </c:pt>
                <c:pt idx="10">
                  <c:v>1.032</c:v>
                </c:pt>
                <c:pt idx="11">
                  <c:v>1.053</c:v>
                </c:pt>
                <c:pt idx="12">
                  <c:v>1.055</c:v>
                </c:pt>
                <c:pt idx="13">
                  <c:v>0.981</c:v>
                </c:pt>
                <c:pt idx="14">
                  <c:v>0.907</c:v>
                </c:pt>
                <c:pt idx="15">
                  <c:v>0.898</c:v>
                </c:pt>
                <c:pt idx="16">
                  <c:v>0.881</c:v>
                </c:pt>
                <c:pt idx="17">
                  <c:v>0.913</c:v>
                </c:pt>
                <c:pt idx="18">
                  <c:v>1.011</c:v>
                </c:pt>
                <c:pt idx="19">
                  <c:v>0.933</c:v>
                </c:pt>
                <c:pt idx="20">
                  <c:v>0.942</c:v>
                </c:pt>
                <c:pt idx="21">
                  <c:v>0.928</c:v>
                </c:pt>
                <c:pt idx="22">
                  <c:v>0.93</c:v>
                </c:pt>
                <c:pt idx="23">
                  <c:v>0.95</c:v>
                </c:pt>
                <c:pt idx="24">
                  <c:v>0.96</c:v>
                </c:pt>
                <c:pt idx="25">
                  <c:v>0.946</c:v>
                </c:pt>
                <c:pt idx="26">
                  <c:v>0.962</c:v>
                </c:pt>
                <c:pt idx="27">
                  <c:v>0.888</c:v>
                </c:pt>
                <c:pt idx="28">
                  <c:v>0.845</c:v>
                </c:pt>
                <c:pt idx="29">
                  <c:v>0.765</c:v>
                </c:pt>
                <c:pt idx="30">
                  <c:v>0.798</c:v>
                </c:pt>
                <c:pt idx="31">
                  <c:v>0.777</c:v>
                </c:pt>
                <c:pt idx="32">
                  <c:v>0.748</c:v>
                </c:pt>
                <c:pt idx="33">
                  <c:v>0.771</c:v>
                </c:pt>
                <c:pt idx="34">
                  <c:v>0.719</c:v>
                </c:pt>
                <c:pt idx="35">
                  <c:v>0.808</c:v>
                </c:pt>
                <c:pt idx="36">
                  <c:v>0.889</c:v>
                </c:pt>
                <c:pt idx="37">
                  <c:v>0.866</c:v>
                </c:pt>
                <c:pt idx="38">
                  <c:v>0.843</c:v>
                </c:pt>
                <c:pt idx="39">
                  <c:v>0.816</c:v>
                </c:pt>
                <c:pt idx="40">
                  <c:v>0.808</c:v>
                </c:pt>
                <c:pt idx="41">
                  <c:v>0.907</c:v>
                </c:pt>
                <c:pt idx="42">
                  <c:v>0.849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Seuil R = 1</c:v>
                </c:pt>
              </c:strCache>
            </c:strRef>
          </c:tx>
          <c:spPr>
            <a:ln w="15875">
              <a:solidFill>
                <a:srgbClr val="4A5560"/>
              </a:solidFill>
              <a:prstDash val="dash"/>
            </a:ln>
          </c:spPr>
          <c:marker>
            <c:symbol val="none"/>
          </c:marker>
          <c:cat>
            <c:strRef>
              <c:f>Sheet1!$A$2:$A$44</c:f>
              <c:strCache>
                <c:ptCount val="43"/>
                <c:pt idx="0">
                  <c:v>21/07</c:v>
                </c:pt>
                <c:pt idx="1">
                  <c:v>23/07</c:v>
                </c:pt>
                <c:pt idx="2">
                  <c:v>25/07</c:v>
                </c:pt>
                <c:pt idx="3">
                  <c:v>27/07</c:v>
                </c:pt>
                <c:pt idx="4">
                  <c:v>29/07</c:v>
                </c:pt>
                <c:pt idx="5">
                  <c:v>31/07</c:v>
                </c:pt>
                <c:pt idx="6">
                  <c:v>02/08</c:v>
                </c:pt>
                <c:pt idx="7">
                  <c:v>04/08</c:v>
                </c:pt>
                <c:pt idx="8">
                  <c:v>06/08</c:v>
                </c:pt>
                <c:pt idx="9">
                  <c:v>08/08</c:v>
                </c:pt>
                <c:pt idx="10">
                  <c:v>10/08</c:v>
                </c:pt>
                <c:pt idx="11">
                  <c:v>12/08</c:v>
                </c:pt>
                <c:pt idx="12">
                  <c:v>14/08</c:v>
                </c:pt>
                <c:pt idx="13">
                  <c:v>16/08</c:v>
                </c:pt>
                <c:pt idx="14">
                  <c:v>18/08</c:v>
                </c:pt>
                <c:pt idx="15">
                  <c:v>20/08</c:v>
                </c:pt>
                <c:pt idx="16">
                  <c:v>22/08</c:v>
                </c:pt>
                <c:pt idx="17">
                  <c:v>24/08</c:v>
                </c:pt>
                <c:pt idx="18">
                  <c:v>26/08</c:v>
                </c:pt>
                <c:pt idx="19">
                  <c:v>28/08</c:v>
                </c:pt>
                <c:pt idx="20">
                  <c:v>30/08</c:v>
                </c:pt>
                <c:pt idx="21">
                  <c:v>01/09</c:v>
                </c:pt>
                <c:pt idx="22">
                  <c:v>03/09</c:v>
                </c:pt>
                <c:pt idx="23">
                  <c:v>05/09</c:v>
                </c:pt>
                <c:pt idx="24">
                  <c:v>07/09</c:v>
                </c:pt>
                <c:pt idx="25">
                  <c:v>09/09</c:v>
                </c:pt>
                <c:pt idx="26">
                  <c:v>11/09</c:v>
                </c:pt>
                <c:pt idx="27">
                  <c:v>13/09</c:v>
                </c:pt>
                <c:pt idx="28">
                  <c:v>15/09</c:v>
                </c:pt>
                <c:pt idx="29">
                  <c:v>17/09</c:v>
                </c:pt>
                <c:pt idx="30">
                  <c:v>19/09</c:v>
                </c:pt>
                <c:pt idx="31">
                  <c:v>21/09</c:v>
                </c:pt>
                <c:pt idx="32">
                  <c:v>23/09</c:v>
                </c:pt>
                <c:pt idx="33">
                  <c:v>25/09</c:v>
                </c:pt>
                <c:pt idx="34">
                  <c:v>27/09</c:v>
                </c:pt>
                <c:pt idx="35">
                  <c:v>29/09</c:v>
                </c:pt>
                <c:pt idx="36">
                  <c:v>01/10</c:v>
                </c:pt>
                <c:pt idx="37">
                  <c:v>03/10</c:v>
                </c:pt>
                <c:pt idx="38">
                  <c:v>05/10</c:v>
                </c:pt>
                <c:pt idx="39">
                  <c:v>07/10</c:v>
                </c:pt>
                <c:pt idx="40">
                  <c:v>09/10</c:v>
                </c:pt>
                <c:pt idx="41">
                  <c:v>11/10</c:v>
                </c:pt>
                <c:pt idx="42">
                  <c:v>13/10</c:v>
                </c:pt>
              </c:strCache>
            </c:strRef>
          </c:cat>
          <c:val>
            <c:numRef>
              <c:f>Sheet1!$E$2:$E$44</c:f>
              <c:numCache>
                <c:formatCode>General</c:formatCode>
                <c:ptCount val="43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1.0</c:v>
                </c:pt>
                <c:pt idx="4">
                  <c:v>1.0</c:v>
                </c:pt>
                <c:pt idx="5">
                  <c:v>1.0</c:v>
                </c:pt>
                <c:pt idx="6">
                  <c:v>1.0</c:v>
                </c:pt>
                <c:pt idx="7">
                  <c:v>1.0</c:v>
                </c:pt>
                <c:pt idx="8">
                  <c:v>1.0</c:v>
                </c:pt>
                <c:pt idx="9">
                  <c:v>1.0</c:v>
                </c:pt>
                <c:pt idx="10">
                  <c:v>1.0</c:v>
                </c:pt>
                <c:pt idx="11">
                  <c:v>1.0</c:v>
                </c:pt>
                <c:pt idx="12">
                  <c:v>1.0</c:v>
                </c:pt>
                <c:pt idx="13">
                  <c:v>1.0</c:v>
                </c:pt>
                <c:pt idx="14">
                  <c:v>1.0</c:v>
                </c:pt>
                <c:pt idx="15">
                  <c:v>1.0</c:v>
                </c:pt>
                <c:pt idx="16">
                  <c:v>1.0</c:v>
                </c:pt>
                <c:pt idx="17">
                  <c:v>1.0</c:v>
                </c:pt>
                <c:pt idx="18">
                  <c:v>1.0</c:v>
                </c:pt>
                <c:pt idx="19">
                  <c:v>1.0</c:v>
                </c:pt>
                <c:pt idx="20">
                  <c:v>1.0</c:v>
                </c:pt>
                <c:pt idx="21">
                  <c:v>1.0</c:v>
                </c:pt>
                <c:pt idx="22">
                  <c:v>1.0</c:v>
                </c:pt>
                <c:pt idx="23">
                  <c:v>1.0</c:v>
                </c:pt>
                <c:pt idx="24">
                  <c:v>1.0</c:v>
                </c:pt>
                <c:pt idx="25">
                  <c:v>1.0</c:v>
                </c:pt>
                <c:pt idx="26">
                  <c:v>1.0</c:v>
                </c:pt>
                <c:pt idx="27">
                  <c:v>1.0</c:v>
                </c:pt>
                <c:pt idx="28">
                  <c:v>1.0</c:v>
                </c:pt>
                <c:pt idx="29">
                  <c:v>1.0</c:v>
                </c:pt>
                <c:pt idx="30">
                  <c:v>1.0</c:v>
                </c:pt>
                <c:pt idx="31">
                  <c:v>1.0</c:v>
                </c:pt>
                <c:pt idx="32">
                  <c:v>1.0</c:v>
                </c:pt>
                <c:pt idx="33">
                  <c:v>1.0</c:v>
                </c:pt>
                <c:pt idx="34">
                  <c:v>1.0</c:v>
                </c:pt>
                <c:pt idx="35">
                  <c:v>1.0</c:v>
                </c:pt>
                <c:pt idx="36">
                  <c:v>1.0</c:v>
                </c:pt>
                <c:pt idx="37">
                  <c:v>1.0</c:v>
                </c:pt>
                <c:pt idx="38">
                  <c:v>1.0</c:v>
                </c:pt>
                <c:pt idx="39">
                  <c:v>1.0</c:v>
                </c:pt>
                <c:pt idx="40">
                  <c:v>1.0</c:v>
                </c:pt>
                <c:pt idx="41">
                  <c:v>1.0</c:v>
                </c:pt>
                <c:pt idx="42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A949D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tickLblSkip val="7"/>
        <c:tickMarkSkip val="7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4E2D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100">
          <a:solidFill>
            <a:srgbClr val="4A556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Cas 21 j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13.6</c:v>
                </c:pt>
                <c:pt idx="1">
                  <c:v>20.0</c:v>
                </c:pt>
                <c:pt idx="2">
                  <c:v>18.5</c:v>
                </c:pt>
                <c:pt idx="3">
                  <c:v>11.8</c:v>
                </c:pt>
                <c:pt idx="4">
                  <c:v>18.1</c:v>
                </c:pt>
                <c:pt idx="5">
                  <c:v>14.3</c:v>
                </c:pt>
                <c:pt idx="6">
                  <c:v>19.9</c:v>
                </c:pt>
                <c:pt idx="7">
                  <c:v>14.9</c:v>
                </c:pt>
                <c:pt idx="8">
                  <c:v>20.0</c:v>
                </c:pt>
                <c:pt idx="9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Tendance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0.0</c:v>
                </c:pt>
                <c:pt idx="2">
                  <c:v>12.0</c:v>
                </c:pt>
                <c:pt idx="3">
                  <c:v>12.0</c:v>
                </c:pt>
                <c:pt idx="4">
                  <c:v>0.0</c:v>
                </c:pt>
                <c:pt idx="5">
                  <c:v>12.0</c:v>
                </c:pt>
                <c:pt idx="6">
                  <c:v>6.0</c:v>
                </c:pt>
                <c:pt idx="7">
                  <c:v>12.0</c:v>
                </c:pt>
                <c:pt idx="8">
                  <c:v>12.0</c:v>
                </c:pt>
                <c:pt idx="9">
                  <c:v>12.0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P(Rt&gt;1)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2.1</c:v>
                </c:pt>
                <c:pt idx="1">
                  <c:v>1.8</c:v>
                </c:pt>
                <c:pt idx="2">
                  <c:v>0.0</c:v>
                </c:pt>
                <c:pt idx="3">
                  <c:v>0.3</c:v>
                </c:pt>
                <c:pt idx="4">
                  <c:v>11.6</c:v>
                </c:pt>
                <c:pt idx="5">
                  <c:v>9.8</c:v>
                </c:pt>
                <c:pt idx="6">
                  <c:v>12.0</c:v>
                </c:pt>
                <c:pt idx="7">
                  <c:v>7.5</c:v>
                </c:pt>
                <c:pt idx="8">
                  <c:v>4.6</c:v>
                </c:pt>
                <c:pt idx="9">
                  <c:v>11.2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Décès communautaires</c:v>
                </c:pt>
              </c:strCache>
            </c:strRef>
          </c:tx>
          <c:spPr>
            <a:solidFill>
              <a:srgbClr val="E34948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8.0</c:v>
                </c:pt>
                <c:pt idx="1">
                  <c:v>8.0</c:v>
                </c:pt>
                <c:pt idx="2">
                  <c:v>8.0</c:v>
                </c:pt>
                <c:pt idx="3">
                  <c:v>8.0</c:v>
                </c:pt>
                <c:pt idx="4">
                  <c:v>8.0</c:v>
                </c:pt>
                <c:pt idx="5">
                  <c:v>8.0</c:v>
                </c:pt>
                <c:pt idx="6">
                  <c:v>8.0</c:v>
                </c:pt>
                <c:pt idx="7">
                  <c:v>8.0</c:v>
                </c:pt>
                <c:pt idx="8">
                  <c:v>8.0</c:v>
                </c:pt>
                <c:pt idx="9">
                  <c:v>8.0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Proximité forte incidence</c:v>
                </c:pt>
              </c:strCache>
            </c:strRef>
          </c:tx>
          <c:spPr>
            <a:solidFill>
              <a:srgbClr val="6250D6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0">
                  <c:v>10.0</c:v>
                </c:pt>
                <c:pt idx="1">
                  <c:v>10.0</c:v>
                </c:pt>
                <c:pt idx="2">
                  <c:v>10.0</c:v>
                </c:pt>
                <c:pt idx="3">
                  <c:v>10.0</c:v>
                </c:pt>
                <c:pt idx="4">
                  <c:v>10.0</c:v>
                </c:pt>
                <c:pt idx="5">
                  <c:v>10.0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10.0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Contacts non vus</c:v>
                </c:pt>
              </c:strCache>
            </c:strRef>
          </c:tx>
          <c:spPr>
            <a:solidFill>
              <a:srgbClr val="EDA100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Sheet1!$G$2:$G$11</c:f>
              <c:numCache>
                <c:formatCode>General</c:formatCode>
                <c:ptCount val="10"/>
                <c:pt idx="0">
                  <c:v>0.0</c:v>
                </c:pt>
                <c:pt idx="1">
                  <c:v>7.3</c:v>
                </c:pt>
                <c:pt idx="2">
                  <c:v>5.3</c:v>
                </c:pt>
                <c:pt idx="3">
                  <c:v>8.0</c:v>
                </c:pt>
                <c:pt idx="4">
                  <c:v>5.3</c:v>
                </c:pt>
                <c:pt idx="5">
                  <c:v>0.1</c:v>
                </c:pt>
                <c:pt idx="6">
                  <c:v>0.0</c:v>
                </c:pt>
                <c:pt idx="7">
                  <c:v>0.0</c:v>
                </c:pt>
                <c:pt idx="8">
                  <c:v>8.0</c:v>
                </c:pt>
                <c:pt idx="9">
                  <c:v>8.0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Autres facteurs</c:v>
                </c:pt>
              </c:strCache>
            </c:strRef>
          </c:tx>
          <c:spPr>
            <a:solidFill>
              <a:srgbClr val="B5B3AD"/>
            </a:solidFill>
          </c:spPr>
          <c:cat>
            <c:strRef>
              <c:f>Sheet1!$A$2:$A$11</c:f>
              <c:strCache>
                <c:ptCount val="10"/>
                <c:pt idx="0">
                  <c:v>Bambu</c:v>
                </c:pt>
                <c:pt idx="1">
                  <c:v>Bunia</c:v>
                </c:pt>
                <c:pt idx="2">
                  <c:v>Rwampara</c:v>
                </c:pt>
                <c:pt idx="3">
                  <c:v>Mongbwalu</c:v>
                </c:pt>
                <c:pt idx="4">
                  <c:v>Nizi</c:v>
                </c:pt>
                <c:pt idx="5">
                  <c:v>Mambasa</c:v>
                </c:pt>
                <c:pt idx="6">
                  <c:v>Mandima</c:v>
                </c:pt>
                <c:pt idx="7">
                  <c:v>Mabalako</c:v>
                </c:pt>
                <c:pt idx="8">
                  <c:v>Beni</c:v>
                </c:pt>
                <c:pt idx="9">
                  <c:v>Lubero</c:v>
                </c:pt>
              </c:strCache>
            </c:strRef>
          </c:cat>
          <c:val>
            <c:numRef>
              <c:f>Sheet1!$H$2:$H$11</c:f>
              <c:numCache>
                <c:formatCode>General</c:formatCode>
                <c:ptCount val="10"/>
                <c:pt idx="0">
                  <c:v>14.399999999999999</c:v>
                </c:pt>
                <c:pt idx="1">
                  <c:v>13.500000000000007</c:v>
                </c:pt>
                <c:pt idx="2">
                  <c:v>10.200000000000003</c:v>
                </c:pt>
                <c:pt idx="3">
                  <c:v>15.699999999999996</c:v>
                </c:pt>
                <c:pt idx="4">
                  <c:v>13.700000000000003</c:v>
                </c:pt>
                <c:pt idx="5">
                  <c:v>13.399999999999991</c:v>
                </c:pt>
                <c:pt idx="6">
                  <c:v>12.100000000000001</c:v>
                </c:pt>
                <c:pt idx="7">
                  <c:v>16.199999999999996</c:v>
                </c:pt>
                <c:pt idx="8">
                  <c:v>13.499999999999993</c:v>
                </c:pt>
                <c:pt idx="9">
                  <c:v>21.099999999999994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49D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4E2D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4A556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Valeur observée (%)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Alertes investiguées ≤ 24 h</c:v>
                </c:pt>
                <c:pt idx="1">
                  <c:v>Décès communautaires prélevés</c:v>
                </c:pt>
                <c:pt idx="2">
                  <c:v>Suivi de 21 jours mené à terme</c:v>
                </c:pt>
                <c:pt idx="3">
                  <c:v>Contacts vus (dernière journée)</c:v>
                </c:pt>
                <c:pt idx="4">
                  <c:v>Nouveaux cas avec source identifiée</c:v>
                </c:pt>
                <c:pt idx="5">
                  <c:v>Nouveaux cas connus comme contacts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98.2</c:v>
                </c:pt>
                <c:pt idx="1">
                  <c:v>69.1</c:v>
                </c:pt>
                <c:pt idx="2">
                  <c:v>61.9</c:v>
                </c:pt>
                <c:pt idx="3">
                  <c:v>35.3</c:v>
                </c:pt>
                <c:pt idx="4">
                  <c:v>5.8</c:v>
                </c:pt>
                <c:pt idx="5">
                  <c:v>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Cible (%)</c:v>
                </c:pt>
              </c:strCache>
            </c:strRef>
          </c:tx>
          <c:spPr>
            <a:solidFill>
              <a:srgbClr val="B5B3AD"/>
            </a:solidFill>
          </c:spPr>
          <c:cat>
            <c:strRef>
              <c:f>Sheet1!$A$2:$A$7</c:f>
              <c:strCache>
                <c:ptCount val="6"/>
                <c:pt idx="0">
                  <c:v>Alertes investiguées ≤ 24 h</c:v>
                </c:pt>
                <c:pt idx="1">
                  <c:v>Décès communautaires prélevés</c:v>
                </c:pt>
                <c:pt idx="2">
                  <c:v>Suivi de 21 jours mené à terme</c:v>
                </c:pt>
                <c:pt idx="3">
                  <c:v>Contacts vus (dernière journée)</c:v>
                </c:pt>
                <c:pt idx="4">
                  <c:v>Nouveaux cas avec source identifiée</c:v>
                </c:pt>
                <c:pt idx="5">
                  <c:v>Nouveaux cas connus comme contacts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80.0</c:v>
                </c:pt>
                <c:pt idx="1">
                  <c:v>80.0</c:v>
                </c:pt>
                <c:pt idx="2">
                  <c:v>90.0</c:v>
                </c:pt>
                <c:pt idx="3">
                  <c:v>90.0</c:v>
                </c:pt>
                <c:pt idx="4">
                  <c:v>80.0</c:v>
                </c:pt>
                <c:pt idx="5">
                  <c:v>80.0</c:v>
                </c:pt>
              </c:numCache>
            </c:numRef>
          </c:val>
        </c:ser>
        <c:dLbls>
          <c:numFmt formatCode="0&quot; %&quot;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A949D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b"/>
        <c:majorGridlines>
          <c:spPr>
            <a:ln>
              <a:solidFill>
                <a:srgbClr val="E4E2D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100">
          <a:solidFill>
            <a:srgbClr val="4A5560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Présenter la question opérationnelle : toute la présentation y répond. Les chiffres sont produits automatiquement à partir du SitRep, de la Linelist, du lln et de la base de suivi des contacts.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par la réponse : où (zones), quoi (le maillon faible), comment (actions). Les diapositives suivantes apportent les preuves.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d’où viennent les chiffres. La méthodologie détaillée (formules) est dans le document Word fourni avec l’outil.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Chiffres officiels du SitRep (cumul) en haut ; dynamique des 7 derniers jours (Linelist) en bas.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Semaine de notification ; la semaine en cours est exclue car incomplète. Les décès sont une partie des cas confirmés.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Rt estimé par EpiEstim (fenêtre 7 j) sur l’incidence par date de début corrigée des retards. Bande = IC 95 %. Les derniers jours sont provisoires.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Score 0–100 par zone : cas des 21 jours, tendance, P(Rt&gt;1), décès communautaires, proximité d’une zone à forte incidence, frontière, mines, contacts non vus, résurgence, 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Contribution de chaque facteur au score de risque (points sur 100) pour les 10 zones les plus prioritaires.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Comparaison des indicateurs de riposte aux cibles (modifiables dans config/parametres.json). L’écart le plus grand indique où agir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groupe de zones reçoit un paquet d’interventions proportionné à son score. Les listes nominatives des contacts à retrouver sont dans outputs/confidentiel.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Être transparent sur la qualité des données : ces limites conditionnent l’interprétation.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en répétant la réponse à la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ADCFC"/>
                </a:solidFill>
                <a:latin typeface="Calibri"/>
              </a:rPr>
              <a:t>RIPOSTE À LA MALADIE À VIRUS EBOLA · RDC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Où concentrer la riposte au cours des 14 prochains jours 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063240"/>
            <a:ext cx="73152" cy="132588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301752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ADCFC"/>
                </a:solidFill>
                <a:latin typeface="Calibri"/>
              </a:rPr>
              <a:t>Question opérationnelle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Calibri"/>
              </a:rPr>
              <a:t>Où et comment concentrer les ressources de la riposte au cours des 14 prochains jours pour interrompre les chaînes de transmission résiduelles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Situation au 19 oct. 2026 · SitRep N° 148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Ebola Outbreak Analytics Hub · UMIE–INRB · analyse automatique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RÉPONSE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La réponse en bref : cibler 18 zones prioritaires, retrouver les contacts perdus, remonter aux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204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3520440" cy="109728"/>
          </a:xfrm>
          <a:prstGeom prst="rect">
            <a:avLst/>
          </a:prstGeom>
          <a:solidFill>
            <a:srgbClr val="8F2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8F2D2A"/>
                </a:solidFill>
                <a:latin typeface="Calibri"/>
              </a:rPr>
              <a:t>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5146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F3A56"/>
                </a:solidFill>
                <a:latin typeface="Calibri"/>
              </a:rPr>
              <a:t>2 zones en priorité 1 et 16 en priorité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59" y="3977639"/>
            <a:ext cx="548640" cy="45720"/>
          </a:xfrm>
          <a:prstGeom prst="rect">
            <a:avLst/>
          </a:prstGeom>
          <a:solidFill>
            <a:srgbClr val="8F2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420624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560"/>
                </a:solidFill>
                <a:latin typeface="Calibri"/>
              </a:rPr>
              <a:t>Lubero, Beni, Mabalako, Mandima, Mambasa… concentrent le risque de transmission (score ≥ 50 / 100).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691640"/>
            <a:ext cx="35204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691640"/>
            <a:ext cx="3520440" cy="10972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EB6834"/>
                </a:solidFill>
                <a:latin typeface="Calibri"/>
              </a:rPr>
              <a:t>POURQUOI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5146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F3A56"/>
                </a:solidFill>
                <a:latin typeface="Calibri"/>
              </a:rPr>
              <a:t>0,9 % des nouveaux cas étaient connus comme contacts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1999" y="3977639"/>
            <a:ext cx="548640" cy="45720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420624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560"/>
                </a:solidFill>
                <a:latin typeface="Calibri"/>
              </a:rPr>
              <a:t>La transmission échappe au listage : la plupart des chaînes ne sont pas suivies.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691640"/>
            <a:ext cx="3520440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9" y="1691640"/>
            <a:ext cx="3520440" cy="109728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20116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COMMENT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51460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1F3A56"/>
                </a:solidFill>
                <a:latin typeface="Calibri"/>
              </a:rPr>
              <a:t>Retrouver 871 contacts perdus de vue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3977639"/>
            <a:ext cx="548640" cy="45720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4206240"/>
            <a:ext cx="3017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4A5560"/>
                </a:solidFill>
                <a:latin typeface="Calibri"/>
              </a:rPr>
              <a:t>Investigation rétrograde de chaque cas sans lien, suivi quotidien, prélèvement et EDS de tous les décès.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DONNÉES ET MÉTHODES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Quatre sources croisées et une grille de risque commune à toutes les zones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3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190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6"/>
                </a:solidFill>
                <a:latin typeface="Calibri"/>
              </a:rPr>
              <a:t>SitRep officiel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84831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N° 148 — cumuls nationaux, provinces, zones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2816352"/>
            <a:ext cx="502920" cy="50292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79806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6"/>
                </a:solidFill>
                <a:latin typeface="Calibri"/>
              </a:rPr>
              <a:t>Linelist des cas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63824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9 313 confirmés — temps, lieu, personne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895344"/>
            <a:ext cx="502920" cy="50292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986783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877056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6"/>
                </a:solidFill>
                <a:latin typeface="Calibri"/>
              </a:rPr>
              <a:t>Linelist des alertes (lln)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242816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69 260 alertes — investigation, décès, EDS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974336"/>
            <a:ext cx="502920" cy="502920"/>
          </a:xfrm>
          <a:prstGeom prst="ellipse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065775"/>
            <a:ext cx="502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95604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6"/>
                </a:solidFill>
                <a:latin typeface="Calibri"/>
              </a:rPr>
              <a:t>Suivi des contacts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321807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19 570 contacts — suivi, chaînes de transmission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1691640"/>
            <a:ext cx="553212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187451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F3A56"/>
                </a:solidFill>
                <a:latin typeface="Calibri"/>
              </a:rPr>
              <a:t>Méthodes d’analyse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1">
                <a:solidFill>
                  <a:srgbClr val="16202A"/>
                </a:solidFill>
                <a:latin typeface="Calibri"/>
              </a:rPr>
              <a:t>Tendance : </a:t>
            </a:r>
            <a:r>
              <a:rPr sz="1350" b="0">
                <a:solidFill>
                  <a:srgbClr val="16202A"/>
                </a:solidFill>
                <a:latin typeface="Calibri"/>
              </a:rPr>
              <a:t>cas par semaine, variation sur 7 jours, nowcasting des retards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1">
                <a:solidFill>
                  <a:srgbClr val="16202A"/>
                </a:solidFill>
                <a:latin typeface="Calibri"/>
              </a:rPr>
              <a:t>Transmission : </a:t>
            </a:r>
            <a:r>
              <a:rPr sz="1350" b="0">
                <a:solidFill>
                  <a:srgbClr val="16202A"/>
                </a:solidFill>
                <a:latin typeface="Calibri"/>
              </a:rPr>
              <a:t>Rt par processus de renouvellement (9 méthodes comparées)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1">
                <a:solidFill>
                  <a:srgbClr val="16202A"/>
                </a:solidFill>
                <a:latin typeface="Calibri"/>
              </a:rPr>
              <a:t>Risque par zone : </a:t>
            </a:r>
            <a:r>
              <a:rPr sz="1350" b="0">
                <a:solidFill>
                  <a:srgbClr val="16202A"/>
                </a:solidFill>
                <a:latin typeface="Calibri"/>
              </a:rPr>
              <a:t>score 0–100 (dynamique, gravité, contexte, riposte) ; priorités P1 ≥ 70, P2 50–69, P3 30–49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1">
                <a:solidFill>
                  <a:srgbClr val="16202A"/>
                </a:solidFill>
                <a:latin typeface="Calibri"/>
              </a:rPr>
              <a:t>Riposte : </a:t>
            </a:r>
            <a:r>
              <a:rPr sz="1350" b="0">
                <a:solidFill>
                  <a:srgbClr val="16202A"/>
                </a:solidFill>
                <a:latin typeface="Calibri"/>
              </a:rPr>
              <a:t>indicateurs de suivi des contacts et de surveillance comparés à des cibles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SITUATION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8 914 cas confirmés et 4 315 décès : l’épidémie reste active mais l’incidence est en baisse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2A78D6"/>
                </a:solidFill>
                <a:latin typeface="Calibri"/>
              </a:rPr>
              <a:t>8 914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cas confirmés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23160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3160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34948"/>
                </a:solidFill>
                <a:latin typeface="Calibri"/>
              </a:rPr>
              <a:t>4 315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14600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16202A"/>
                </a:solidFill>
                <a:latin typeface="Calibri"/>
              </a:rPr>
              <a:t>48,4 %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19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létalité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199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1BAF7A"/>
                </a:solidFill>
                <a:latin typeface="Calibri"/>
              </a:rPr>
              <a:t>2 338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39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guéris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19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EB6834"/>
                </a:solidFill>
                <a:latin typeface="Calibri"/>
              </a:rPr>
              <a:t>946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en isolement / CTE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21240" y="173736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21240" y="20574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3000" b="1">
                <a:solidFill>
                  <a:srgbClr val="6250D6"/>
                </a:solidFill>
                <a:latin typeface="Calibri"/>
              </a:rPr>
              <a:t>83,1 %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834640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0">
                <a:solidFill>
                  <a:srgbClr val="4A5560"/>
                </a:solidFill>
                <a:latin typeface="Calibri"/>
              </a:rPr>
              <a:t>contacts suivis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8A949D"/>
                </a:solidFill>
                <a:latin typeface="Calibri"/>
              </a:rPr>
              <a:t>SitRep N° 148 · nouveaux cas en 24 h : 69 · nouveaux décès : 40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343400"/>
            <a:ext cx="1110996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F3A56"/>
                </a:solidFill>
                <a:latin typeface="Calibri"/>
              </a:rPr>
              <a:t>7 derniers jours (13 oct. – 19 oct.)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8348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6"/>
                </a:solidFill>
                <a:latin typeface="Calibri"/>
              </a:rPr>
              <a:t>363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961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0"/>
                </a:solidFill>
                <a:latin typeface="Calibri"/>
              </a:rPr>
              <a:t>cas confirmés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498348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BAF7A"/>
                </a:solidFill>
                <a:latin typeface="Calibri"/>
              </a:rPr>
              <a:t>-21 %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71800" y="55961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0"/>
                </a:solidFill>
                <a:latin typeface="Calibri"/>
              </a:rPr>
              <a:t>vs 7 jours précédents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98348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6"/>
                </a:solidFill>
                <a:latin typeface="Calibri"/>
              </a:rPr>
              <a:t>137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55961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0"/>
                </a:solidFill>
                <a:latin typeface="Calibri"/>
              </a:rPr>
              <a:t>décès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498348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6"/>
                </a:solidFill>
                <a:latin typeface="Calibri"/>
              </a:rPr>
              <a:t>37,7 %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80" y="55961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0"/>
                </a:solidFill>
                <a:latin typeface="Calibri"/>
              </a:rPr>
              <a:t>létalité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498348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F3A56"/>
                </a:solidFill>
                <a:latin typeface="Calibri"/>
              </a:rPr>
              <a:t>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559612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4A5560"/>
                </a:solidFill>
                <a:latin typeface="Calibri"/>
              </a:rPr>
              <a:t>zones touchées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TENDANCE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Les cas hebdomadaires ont baissé de 34 % depuis le pic de S37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786384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0" y="1691640"/>
            <a:ext cx="297180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19202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6"/>
                </a:solidFill>
                <a:latin typeface="Calibri"/>
              </a:rPr>
              <a:t>À retenir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377440"/>
            <a:ext cx="2514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Pic : 619 cas en S37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S42 : 406 cas, 146 décès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7 derniers jours : 363 cas (-21 %)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Les 2 dernières semaines seront révisées à la hausse (retards de notification)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TRANSMISSION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Rt = 0,93 : chaque cas infecte en moyenne moins d’une personne, mais la transmission persiste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786384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0" y="1691640"/>
            <a:ext cx="297180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0" y="19202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6"/>
                </a:solidFill>
                <a:latin typeface="Calibri"/>
              </a:rPr>
              <a:t>À retenir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2377440"/>
            <a:ext cx="2514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Rt consolidé au 6 oct. : 0,93 (IC 95 % 0,85–1,02)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Probabilité que Rt &gt; 1 : 7 %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Estimation provisoire la plus récente (14 oct.) : 0,92 — à surveiller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Rt &lt; 1 au niveau national peut masquer des zones où Rt &gt; 1 (diapositive 7)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OÙ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18 zones concentrent le risque : Lubero, Beni, Mabalako en tête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7</a:t>
            </a:r>
          </a:p>
        </p:txBody>
      </p:sp>
      <p:pic>
        <p:nvPicPr>
          <p:cNvPr id="6" name="Picture 5" descr="03b_score_risq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62718" cy="4572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600200"/>
          <a:ext cx="425196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685800"/>
                <a:gridCol w="1005840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Province</a:t>
                      </a:r>
                    </a:p>
                  </a:txBody>
                  <a:tcPr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Score</a:t>
                      </a:r>
                    </a:p>
                  </a:txBody>
                  <a:tcPr>
                    <a:solidFill>
                      <a:srgbClr val="1F3A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Priorité</a:t>
                      </a:r>
                    </a:p>
                  </a:txBody>
                  <a:tcPr>
                    <a:solidFill>
                      <a:srgbClr val="1F3A5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Lubero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Nord Kivu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1</a:t>
                      </a:r>
                    </a:p>
                  </a:txBody>
                  <a:tcPr marT="27432" marB="27432">
                    <a:solidFill>
                      <a:srgbClr val="8F2D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Beni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Nord Kivu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1</a:t>
                      </a:r>
                    </a:p>
                  </a:txBody>
                  <a:tcPr marT="27432" marB="27432">
                    <a:solidFill>
                      <a:srgbClr val="8F2D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Mabalako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Nord Kivu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Mandima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Mambasa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Nizi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Mongbwalu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Rwampara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Bunia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Bambu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Musienene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Nord Kivu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Mangala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Ituri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6202A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marT="27432" marB="27432">
                    <a:solidFill>
                      <a:srgbClr val="F2F1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Calibri"/>
                        </a:rPr>
                        <a:t>Priorité 2</a:t>
                      </a:r>
                    </a:p>
                  </a:txBody>
                  <a:tcPr marT="27432" marB="27432">
                    <a:solidFill>
                      <a:srgbClr val="D9673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POURQUOI CES ZONES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Les cas récents et la proximité de zones à forte incidence expliquent l’essentiel du score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1110996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COMMENT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Le maillon faible : seuls 0,9 % des nouveaux cas étaient suivis comme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554480"/>
          <a:ext cx="7680960" cy="4709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503920" y="1691640"/>
            <a:ext cx="3154680" cy="4434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0" y="19202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3A56"/>
                </a:solidFill>
                <a:latin typeface="Calibri"/>
              </a:rPr>
              <a:t>Ce que cela signifie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2377440"/>
            <a:ext cx="26974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871 contacts non vus depuis &gt; 3 jours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9 contacts listés par cas index (médiane)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Les nouveaux cas surgissent hors des listes : chaînes non détectées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EB6834"/>
                </a:solidFill>
                <a:latin typeface="Calibri"/>
              </a:rPr>
              <a:t>▪  </a:t>
            </a:r>
            <a:r>
              <a:rPr sz="1300" b="0">
                <a:solidFill>
                  <a:srgbClr val="16202A"/>
                </a:solidFill>
                <a:latin typeface="Calibri"/>
              </a:rPr>
              <a:t>Les alertes sont investiguées vite : le levier est le listage et le suivi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RÉPONSE À LA QUESTION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Réponse : un plan d’action différencié selon la priorité de la zone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204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8F2D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55648"/>
            <a:ext cx="3108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Priorité 1 — riposte renforcée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06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6"/>
                </a:solidFill>
                <a:latin typeface="Calibri"/>
              </a:rPr>
              <a:t>2 zones : </a:t>
            </a:r>
            <a:r>
              <a:rPr sz="1200" b="0">
                <a:solidFill>
                  <a:srgbClr val="4A5560"/>
                </a:solidFill>
                <a:latin typeface="Calibri"/>
              </a:rPr>
              <a:t>Lubero, Beni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033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Équipes d’intervention rapide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Recherche active des cas porte-à-porte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Listage exhaustif et suivi quotidien des contacts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Prélèvement + EDS de tous les décès communautaires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645920"/>
            <a:ext cx="35204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64592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D9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755648"/>
            <a:ext cx="3108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Calibri"/>
              </a:rPr>
              <a:t>Priorité 2 — riposte ciblée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2606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6"/>
                </a:solidFill>
                <a:latin typeface="Calibri"/>
              </a:rPr>
              <a:t>16 zones : </a:t>
            </a:r>
            <a:r>
              <a:rPr sz="1200" b="0">
                <a:solidFill>
                  <a:srgbClr val="4A5560"/>
                </a:solidFill>
                <a:latin typeface="Calibri"/>
              </a:rPr>
              <a:t>Mabalako, Mandima, Mambasa, Nizi, Mongbwalu, Rwampara, Bunia, Bambu, Musienene…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37033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Cibler les aires de santé actives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Investigation rétrograde des cas sans lien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Surveillance renforcée aux limites des zones touchées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645920"/>
            <a:ext cx="352044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46719" y="1645920"/>
            <a:ext cx="3520440" cy="777240"/>
          </a:xfrm>
          <a:prstGeom prst="roundRect">
            <a:avLst>
              <a:gd name="adj" fmla="val 8000"/>
            </a:avLst>
          </a:prstGeom>
          <a:solidFill>
            <a:srgbClr val="F0B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19" y="1755648"/>
            <a:ext cx="31089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50" b="1">
                <a:solidFill>
                  <a:srgbClr val="16202A"/>
                </a:solidFill>
                <a:latin typeface="Calibri"/>
              </a:rPr>
              <a:t>Priorité 3 — surveillance renforcée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19" y="2606040"/>
            <a:ext cx="31089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1F3A56"/>
                </a:solidFill>
                <a:latin typeface="Calibri"/>
              </a:rPr>
              <a:t>22 zones : </a:t>
            </a:r>
            <a:r>
              <a:rPr sz="1200" b="0">
                <a:solidFill>
                  <a:srgbClr val="4A5560"/>
                </a:solidFill>
                <a:latin typeface="Calibri"/>
              </a:rPr>
              <a:t>Lita, Pawa, Nia Nia, Nyankunde, Katwa, Lolwa, Komanda, Tchomia, Isiro…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703320"/>
            <a:ext cx="31089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Surveillance à base communautaire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Préparation (CTE, kits EDS)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EB6834"/>
                </a:solidFill>
                <a:latin typeface="Calibri"/>
              </a:rPr>
              <a:t>▪  </a:t>
            </a:r>
            <a:r>
              <a:rPr sz="1250" b="0">
                <a:solidFill>
                  <a:srgbClr val="16202A"/>
                </a:solidFill>
                <a:latin typeface="Calibri"/>
              </a:rPr>
              <a:t>Sensibilisation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EB6834"/>
                </a:solidFill>
                <a:latin typeface="Calibri"/>
              </a:rPr>
              <a:t>LIMITES ET PROCHAINES ÉTAPES</a:t>
            </a:r>
          </a:p>
        </p:txBody>
      </p:sp>
      <p:sp>
        <p:nvSpPr>
          <p:cNvPr id="3" name="Titre"/>
          <p:cNvSpPr txBox="1"/>
          <p:nvPr/>
        </p:nvSpPr>
        <p:spPr>
          <a:xfrm>
            <a:off x="548640" y="566928"/>
            <a:ext cx="110944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1">
                <a:solidFill>
                  <a:srgbClr val="1F3A56"/>
                </a:solidFill>
                <a:latin typeface="Calibri"/>
              </a:rPr>
              <a:t>Limites : des lacunes de données qui peuvent masquer une partie de la transmission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Question : Où et comment concentrer les ressources de la riposte au cours des 14 prochains jours pour interrompre les chaînes de transmission résiduelles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>
                <a:solidFill>
                  <a:srgbClr val="8A949D"/>
                </a:solidFill>
                <a:latin typeface="Calibr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E34948"/>
                </a:solidFill>
                <a:latin typeface="Calibri"/>
              </a:rPr>
              <a:t>Limites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49834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Organisateur des funérailles renseigné pour 4,1 % des décès seulement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Admissions en CTE peu saisies : 6 732 confirmés sans admission enregistrée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Écart SitRep – Linelist : 8 914 contre 9 313 cas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Pas de population par zone : incidence par habitant non calculable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Les 2 dernières semaines sont incomplètes (délai médian de notification : 5 jours)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45920"/>
            <a:ext cx="5486400" cy="4526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Prochaines étapes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4983480" cy="3749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Compléter la Linelist (funérailles, admissions CTE) chaque jour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Réconcilier SitRep et Linelist chaque semaine par zone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Fournir un fichier de population par zone de santé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EB6834"/>
                </a:solidFill>
                <a:latin typeface="Calibri"/>
              </a:rPr>
              <a:t>▪  </a:t>
            </a:r>
            <a:r>
              <a:rPr sz="1350" b="0">
                <a:solidFill>
                  <a:srgbClr val="16202A"/>
                </a:solidFill>
                <a:latin typeface="Calibri"/>
              </a:rPr>
              <a:t>Réévaluer les priorités à chaque nouveau SitRep (automatique)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CADCFC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7899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Calibri"/>
              </a:rPr>
              <a:t>Concentrer les 14 prochains jours sur 18 zones et sur le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26080"/>
            <a:ext cx="106070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EB6834"/>
                </a:solidFill>
                <a:latin typeface="Calibri"/>
              </a:rPr>
              <a:t>▪  </a:t>
            </a:r>
            <a:r>
              <a:rPr sz="1800" b="0">
                <a:solidFill>
                  <a:srgbClr val="FFFFFF"/>
                </a:solidFill>
                <a:latin typeface="Calibri"/>
              </a:rPr>
              <a:t>Priorité 1 : Lubero, Beni — riposte renforcée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B6834"/>
                </a:solidFill>
                <a:latin typeface="Calibri"/>
              </a:rPr>
              <a:t>▪  </a:t>
            </a:r>
            <a:r>
              <a:rPr sz="1800" b="0">
                <a:solidFill>
                  <a:srgbClr val="FFFFFF"/>
                </a:solidFill>
                <a:latin typeface="Calibri"/>
              </a:rPr>
              <a:t>Priorité 2 : 16 zones — riposte ciblée sur les aires actives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B6834"/>
                </a:solidFill>
                <a:latin typeface="Calibri"/>
              </a:rPr>
              <a:t>▪  </a:t>
            </a:r>
            <a:r>
              <a:rPr sz="1800" b="0">
                <a:solidFill>
                  <a:srgbClr val="FFFFFF"/>
                </a:solidFill>
                <a:latin typeface="Calibri"/>
              </a:rPr>
              <a:t>Retrouver 871 contacts perdus de vue et investiguer chaque cas sans lien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EB6834"/>
                </a:solidFill>
                <a:latin typeface="Calibri"/>
              </a:rPr>
              <a:t>▪  </a:t>
            </a:r>
            <a:r>
              <a:rPr sz="1800" b="0">
                <a:solidFill>
                  <a:srgbClr val="FFFFFF"/>
                </a:solidFill>
                <a:latin typeface="Calibri"/>
              </a:rPr>
              <a:t>Prélever et enterrer de façon digne et sécurisée tous les décès communautaires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807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CADCFC"/>
                </a:solidFill>
                <a:latin typeface="Calibri"/>
              </a:rPr>
              <a:t>Ebola Outbreak Analytics Hub · situation au 19 oct. 2026 · généré automatiquement — à valider avant diffusion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Où concentrer la riposte Ebola au cours des 14 prochains jours ?</dc:title>
  <dc:subject/>
  <dc:creator>Ebola Outbreak Analytics Hub — UMIE–INRB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