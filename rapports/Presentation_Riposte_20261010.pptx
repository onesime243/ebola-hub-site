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Décès</c:v>
                </c:pt>
              </c:strCache>
            </c:strRef>
          </c:tx>
          <c:spPr>
            <a:solidFill>
              <a:srgbClr val="E34948"/>
            </a:solidFill>
          </c:spPr>
          <c:cat>
            <c:strRef>
              <c:f>Sheet1!$A$2:$A$17</c:f>
              <c:strCache>
                <c:ptCount val="16"/>
                <c:pt idx="0">
                  <c:v>S25</c:v>
                </c:pt>
                <c:pt idx="1">
                  <c:v>S26</c:v>
                </c:pt>
                <c:pt idx="2">
                  <c:v>S27</c:v>
                </c:pt>
                <c:pt idx="3">
                  <c:v>S28</c:v>
                </c:pt>
                <c:pt idx="4">
                  <c:v>S29</c:v>
                </c:pt>
                <c:pt idx="5">
                  <c:v>S30</c:v>
                </c:pt>
                <c:pt idx="6">
                  <c:v>S31</c:v>
                </c:pt>
                <c:pt idx="7">
                  <c:v>S32</c:v>
                </c:pt>
                <c:pt idx="8">
                  <c:v>S33</c:v>
                </c:pt>
                <c:pt idx="9">
                  <c:v>S34</c:v>
                </c:pt>
                <c:pt idx="10">
                  <c:v>S35</c:v>
                </c:pt>
                <c:pt idx="11">
                  <c:v>S36</c:v>
                </c:pt>
                <c:pt idx="12">
                  <c:v>S37</c:v>
                </c:pt>
                <c:pt idx="13">
                  <c:v>S38</c:v>
                </c:pt>
                <c:pt idx="14">
                  <c:v>S39</c:v>
                </c:pt>
                <c:pt idx="15">
                  <c:v>S40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104.0</c:v>
                </c:pt>
                <c:pt idx="1">
                  <c:v>123.0</c:v>
                </c:pt>
                <c:pt idx="2">
                  <c:v>136.0</c:v>
                </c:pt>
                <c:pt idx="3">
                  <c:v>147.0</c:v>
                </c:pt>
                <c:pt idx="4">
                  <c:v>133.0</c:v>
                </c:pt>
                <c:pt idx="5">
                  <c:v>207.0</c:v>
                </c:pt>
                <c:pt idx="6">
                  <c:v>201.0</c:v>
                </c:pt>
                <c:pt idx="7">
                  <c:v>201.0</c:v>
                </c:pt>
                <c:pt idx="8">
                  <c:v>243.0</c:v>
                </c:pt>
                <c:pt idx="9">
                  <c:v>201.0</c:v>
                </c:pt>
                <c:pt idx="10">
                  <c:v>227.0</c:v>
                </c:pt>
                <c:pt idx="11">
                  <c:v>235.0</c:v>
                </c:pt>
                <c:pt idx="12">
                  <c:v>286.0</c:v>
                </c:pt>
                <c:pt idx="13">
                  <c:v>155.0</c:v>
                </c:pt>
                <c:pt idx="14">
                  <c:v>150.0</c:v>
                </c:pt>
                <c:pt idx="15">
                  <c:v>136.0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 confirmés non décédés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Sheet1!$A$2:$A$17</c:f>
              <c:strCache>
                <c:ptCount val="16"/>
                <c:pt idx="0">
                  <c:v>S25</c:v>
                </c:pt>
                <c:pt idx="1">
                  <c:v>S26</c:v>
                </c:pt>
                <c:pt idx="2">
                  <c:v>S27</c:v>
                </c:pt>
                <c:pt idx="3">
                  <c:v>S28</c:v>
                </c:pt>
                <c:pt idx="4">
                  <c:v>S29</c:v>
                </c:pt>
                <c:pt idx="5">
                  <c:v>S30</c:v>
                </c:pt>
                <c:pt idx="6">
                  <c:v>S31</c:v>
                </c:pt>
                <c:pt idx="7">
                  <c:v>S32</c:v>
                </c:pt>
                <c:pt idx="8">
                  <c:v>S33</c:v>
                </c:pt>
                <c:pt idx="9">
                  <c:v>S34</c:v>
                </c:pt>
                <c:pt idx="10">
                  <c:v>S35</c:v>
                </c:pt>
                <c:pt idx="11">
                  <c:v>S36</c:v>
                </c:pt>
                <c:pt idx="12">
                  <c:v>S37</c:v>
                </c:pt>
                <c:pt idx="13">
                  <c:v>S38</c:v>
                </c:pt>
                <c:pt idx="14">
                  <c:v>S39</c:v>
                </c:pt>
                <c:pt idx="15">
                  <c:v>S40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249.0</c:v>
                </c:pt>
                <c:pt idx="1">
                  <c:v>266.0</c:v>
                </c:pt>
                <c:pt idx="2">
                  <c:v>238.0</c:v>
                </c:pt>
                <c:pt idx="3">
                  <c:v>254.0</c:v>
                </c:pt>
                <c:pt idx="4">
                  <c:v>280.0</c:v>
                </c:pt>
                <c:pt idx="5">
                  <c:v>330.0</c:v>
                </c:pt>
                <c:pt idx="6">
                  <c:v>291.0</c:v>
                </c:pt>
                <c:pt idx="7">
                  <c:v>310.0</c:v>
                </c:pt>
                <c:pt idx="8">
                  <c:v>378.0</c:v>
                </c:pt>
                <c:pt idx="9">
                  <c:v>301.0</c:v>
                </c:pt>
                <c:pt idx="10">
                  <c:v>355.0</c:v>
                </c:pt>
                <c:pt idx="11">
                  <c:v>310.0</c:v>
                </c:pt>
                <c:pt idx="12">
                  <c:v>342.0</c:v>
                </c:pt>
                <c:pt idx="13">
                  <c:v>332.0</c:v>
                </c:pt>
                <c:pt idx="14">
                  <c:v>278.0</c:v>
                </c:pt>
                <c:pt idx="15">
                  <c:v>250.0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949D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2D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4A556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Borne supérieure (IC 95 %)</c:v>
                </c:pt>
              </c:strCache>
            </c:strRef>
          </c:tx>
          <c:spPr>
            <a:ln w="15875">
              <a:solidFill>
                <a:srgbClr val="CADCFC"/>
              </a:solidFill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12/07</c:v>
                </c:pt>
                <c:pt idx="1">
                  <c:v>14/07</c:v>
                </c:pt>
                <c:pt idx="2">
                  <c:v>16/07</c:v>
                </c:pt>
                <c:pt idx="3">
                  <c:v>18/07</c:v>
                </c:pt>
                <c:pt idx="4">
                  <c:v>20/07</c:v>
                </c:pt>
                <c:pt idx="5">
                  <c:v>22/07</c:v>
                </c:pt>
                <c:pt idx="6">
                  <c:v>24/07</c:v>
                </c:pt>
                <c:pt idx="7">
                  <c:v>26/07</c:v>
                </c:pt>
                <c:pt idx="8">
                  <c:v>28/07</c:v>
                </c:pt>
                <c:pt idx="9">
                  <c:v>30/07</c:v>
                </c:pt>
                <c:pt idx="10">
                  <c:v>01/08</c:v>
                </c:pt>
                <c:pt idx="11">
                  <c:v>03/08</c:v>
                </c:pt>
                <c:pt idx="12">
                  <c:v>05/08</c:v>
                </c:pt>
                <c:pt idx="13">
                  <c:v>07/08</c:v>
                </c:pt>
                <c:pt idx="14">
                  <c:v>09/08</c:v>
                </c:pt>
                <c:pt idx="15">
                  <c:v>11/08</c:v>
                </c:pt>
                <c:pt idx="16">
                  <c:v>13/08</c:v>
                </c:pt>
                <c:pt idx="17">
                  <c:v>15/08</c:v>
                </c:pt>
                <c:pt idx="18">
                  <c:v>17/08</c:v>
                </c:pt>
                <c:pt idx="19">
                  <c:v>19/08</c:v>
                </c:pt>
                <c:pt idx="20">
                  <c:v>21/08</c:v>
                </c:pt>
                <c:pt idx="21">
                  <c:v>23/08</c:v>
                </c:pt>
                <c:pt idx="22">
                  <c:v>25/08</c:v>
                </c:pt>
                <c:pt idx="23">
                  <c:v>27/08</c:v>
                </c:pt>
                <c:pt idx="24">
                  <c:v>29/08</c:v>
                </c:pt>
                <c:pt idx="25">
                  <c:v>31/08</c:v>
                </c:pt>
                <c:pt idx="26">
                  <c:v>02/09</c:v>
                </c:pt>
                <c:pt idx="27">
                  <c:v>04/09</c:v>
                </c:pt>
                <c:pt idx="28">
                  <c:v>06/09</c:v>
                </c:pt>
                <c:pt idx="29">
                  <c:v>08/09</c:v>
                </c:pt>
                <c:pt idx="30">
                  <c:v>10/09</c:v>
                </c:pt>
                <c:pt idx="31">
                  <c:v>12/09</c:v>
                </c:pt>
                <c:pt idx="32">
                  <c:v>14/09</c:v>
                </c:pt>
                <c:pt idx="33">
                  <c:v>16/09</c:v>
                </c:pt>
                <c:pt idx="34">
                  <c:v>18/09</c:v>
                </c:pt>
                <c:pt idx="35">
                  <c:v>20/09</c:v>
                </c:pt>
                <c:pt idx="36">
                  <c:v>22/09</c:v>
                </c:pt>
                <c:pt idx="37">
                  <c:v>24/09</c:v>
                </c:pt>
                <c:pt idx="38">
                  <c:v>26/09</c:v>
                </c:pt>
                <c:pt idx="39">
                  <c:v>28/09</c:v>
                </c:pt>
                <c:pt idx="40">
                  <c:v>30/09</c:v>
                </c:pt>
                <c:pt idx="41">
                  <c:v>02/10</c:v>
                </c:pt>
                <c:pt idx="42">
                  <c:v>04/10</c:v>
                </c:pt>
              </c:strCache>
            </c: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1.062</c:v>
                </c:pt>
                <c:pt idx="1">
                  <c:v>1.149</c:v>
                </c:pt>
                <c:pt idx="2">
                  <c:v>1.173</c:v>
                </c:pt>
                <c:pt idx="3">
                  <c:v>1.165</c:v>
                </c:pt>
                <c:pt idx="4">
                  <c:v>1.307</c:v>
                </c:pt>
                <c:pt idx="5">
                  <c:v>1.328</c:v>
                </c:pt>
                <c:pt idx="6">
                  <c:v>1.338</c:v>
                </c:pt>
                <c:pt idx="7">
                  <c:v>1.293</c:v>
                </c:pt>
                <c:pt idx="8">
                  <c:v>1.183</c:v>
                </c:pt>
                <c:pt idx="9">
                  <c:v>1.142</c:v>
                </c:pt>
                <c:pt idx="10">
                  <c:v>1.253</c:v>
                </c:pt>
                <c:pt idx="11">
                  <c:v>1.226</c:v>
                </c:pt>
                <c:pt idx="12">
                  <c:v>1.177</c:v>
                </c:pt>
                <c:pt idx="13">
                  <c:v>1.164</c:v>
                </c:pt>
                <c:pt idx="14">
                  <c:v>1.123</c:v>
                </c:pt>
                <c:pt idx="15">
                  <c:v>1.228</c:v>
                </c:pt>
                <c:pt idx="16">
                  <c:v>1.245</c:v>
                </c:pt>
                <c:pt idx="17">
                  <c:v>1.228</c:v>
                </c:pt>
                <c:pt idx="18">
                  <c:v>1.094</c:v>
                </c:pt>
                <c:pt idx="19">
                  <c:v>1.021</c:v>
                </c:pt>
                <c:pt idx="20">
                  <c:v>1.094</c:v>
                </c:pt>
                <c:pt idx="21">
                  <c:v>1.042</c:v>
                </c:pt>
                <c:pt idx="22">
                  <c:v>1.158</c:v>
                </c:pt>
                <c:pt idx="23">
                  <c:v>1.111</c:v>
                </c:pt>
                <c:pt idx="24">
                  <c:v>1.102</c:v>
                </c:pt>
                <c:pt idx="25">
                  <c:v>1.113</c:v>
                </c:pt>
                <c:pt idx="26">
                  <c:v>1.094</c:v>
                </c:pt>
                <c:pt idx="27">
                  <c:v>1.107</c:v>
                </c:pt>
                <c:pt idx="28">
                  <c:v>1.148</c:v>
                </c:pt>
                <c:pt idx="29">
                  <c:v>1.092</c:v>
                </c:pt>
                <c:pt idx="30">
                  <c:v>1.139</c:v>
                </c:pt>
                <c:pt idx="31">
                  <c:v>1.08</c:v>
                </c:pt>
                <c:pt idx="32">
                  <c:v>1.071</c:v>
                </c:pt>
                <c:pt idx="33">
                  <c:v>1.005</c:v>
                </c:pt>
                <c:pt idx="34">
                  <c:v>0.908</c:v>
                </c:pt>
                <c:pt idx="35">
                  <c:v>0.963</c:v>
                </c:pt>
                <c:pt idx="36">
                  <c:v>0.871</c:v>
                </c:pt>
                <c:pt idx="37">
                  <c:v>0.854</c:v>
                </c:pt>
                <c:pt idx="38">
                  <c:v>0.855</c:v>
                </c:pt>
                <c:pt idx="39">
                  <c:v>0.865</c:v>
                </c:pt>
                <c:pt idx="40">
                  <c:v>1.006</c:v>
                </c:pt>
                <c:pt idx="41">
                  <c:v>1.034</c:v>
                </c:pt>
                <c:pt idx="42">
                  <c:v>1.02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 (médiane)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12/07</c:v>
                </c:pt>
                <c:pt idx="1">
                  <c:v>14/07</c:v>
                </c:pt>
                <c:pt idx="2">
                  <c:v>16/07</c:v>
                </c:pt>
                <c:pt idx="3">
                  <c:v>18/07</c:v>
                </c:pt>
                <c:pt idx="4">
                  <c:v>20/07</c:v>
                </c:pt>
                <c:pt idx="5">
                  <c:v>22/07</c:v>
                </c:pt>
                <c:pt idx="6">
                  <c:v>24/07</c:v>
                </c:pt>
                <c:pt idx="7">
                  <c:v>26/07</c:v>
                </c:pt>
                <c:pt idx="8">
                  <c:v>28/07</c:v>
                </c:pt>
                <c:pt idx="9">
                  <c:v>30/07</c:v>
                </c:pt>
                <c:pt idx="10">
                  <c:v>01/08</c:v>
                </c:pt>
                <c:pt idx="11">
                  <c:v>03/08</c:v>
                </c:pt>
                <c:pt idx="12">
                  <c:v>05/08</c:v>
                </c:pt>
                <c:pt idx="13">
                  <c:v>07/08</c:v>
                </c:pt>
                <c:pt idx="14">
                  <c:v>09/08</c:v>
                </c:pt>
                <c:pt idx="15">
                  <c:v>11/08</c:v>
                </c:pt>
                <c:pt idx="16">
                  <c:v>13/08</c:v>
                </c:pt>
                <c:pt idx="17">
                  <c:v>15/08</c:v>
                </c:pt>
                <c:pt idx="18">
                  <c:v>17/08</c:v>
                </c:pt>
                <c:pt idx="19">
                  <c:v>19/08</c:v>
                </c:pt>
                <c:pt idx="20">
                  <c:v>21/08</c:v>
                </c:pt>
                <c:pt idx="21">
                  <c:v>23/08</c:v>
                </c:pt>
                <c:pt idx="22">
                  <c:v>25/08</c:v>
                </c:pt>
                <c:pt idx="23">
                  <c:v>27/08</c:v>
                </c:pt>
                <c:pt idx="24">
                  <c:v>29/08</c:v>
                </c:pt>
                <c:pt idx="25">
                  <c:v>31/08</c:v>
                </c:pt>
                <c:pt idx="26">
                  <c:v>02/09</c:v>
                </c:pt>
                <c:pt idx="27">
                  <c:v>04/09</c:v>
                </c:pt>
                <c:pt idx="28">
                  <c:v>06/09</c:v>
                </c:pt>
                <c:pt idx="29">
                  <c:v>08/09</c:v>
                </c:pt>
                <c:pt idx="30">
                  <c:v>10/09</c:v>
                </c:pt>
                <c:pt idx="31">
                  <c:v>12/09</c:v>
                </c:pt>
                <c:pt idx="32">
                  <c:v>14/09</c:v>
                </c:pt>
                <c:pt idx="33">
                  <c:v>16/09</c:v>
                </c:pt>
                <c:pt idx="34">
                  <c:v>18/09</c:v>
                </c:pt>
                <c:pt idx="35">
                  <c:v>20/09</c:v>
                </c:pt>
                <c:pt idx="36">
                  <c:v>22/09</c:v>
                </c:pt>
                <c:pt idx="37">
                  <c:v>24/09</c:v>
                </c:pt>
                <c:pt idx="38">
                  <c:v>26/09</c:v>
                </c:pt>
                <c:pt idx="39">
                  <c:v>28/09</c:v>
                </c:pt>
                <c:pt idx="40">
                  <c:v>30/09</c:v>
                </c:pt>
                <c:pt idx="41">
                  <c:v>02/10</c:v>
                </c:pt>
                <c:pt idx="42">
                  <c:v>04/10</c:v>
                </c:pt>
              </c:strCache>
            </c:strRef>
          </c:cat>
          <c:val>
            <c:numRef>
              <c:f>Sheet1!$C$2:$C$44</c:f>
              <c:numCache>
                <c:formatCode>General</c:formatCode>
                <c:ptCount val="43"/>
                <c:pt idx="0">
                  <c:v>0.96</c:v>
                </c:pt>
                <c:pt idx="1">
                  <c:v>1.049</c:v>
                </c:pt>
                <c:pt idx="2">
                  <c:v>1.071</c:v>
                </c:pt>
                <c:pt idx="3">
                  <c:v>1.061</c:v>
                </c:pt>
                <c:pt idx="4">
                  <c:v>1.213</c:v>
                </c:pt>
                <c:pt idx="5">
                  <c:v>1.215</c:v>
                </c:pt>
                <c:pt idx="6">
                  <c:v>1.227</c:v>
                </c:pt>
                <c:pt idx="7">
                  <c:v>1.191</c:v>
                </c:pt>
                <c:pt idx="8">
                  <c:v>1.079</c:v>
                </c:pt>
                <c:pt idx="9">
                  <c:v>1.044</c:v>
                </c:pt>
                <c:pt idx="10">
                  <c:v>1.148</c:v>
                </c:pt>
                <c:pt idx="11">
                  <c:v>1.133</c:v>
                </c:pt>
                <c:pt idx="12">
                  <c:v>1.08</c:v>
                </c:pt>
                <c:pt idx="13">
                  <c:v>1.072</c:v>
                </c:pt>
                <c:pt idx="14">
                  <c:v>1.032</c:v>
                </c:pt>
                <c:pt idx="15">
                  <c:v>1.137</c:v>
                </c:pt>
                <c:pt idx="16">
                  <c:v>1.152</c:v>
                </c:pt>
                <c:pt idx="17">
                  <c:v>1.135</c:v>
                </c:pt>
                <c:pt idx="18">
                  <c:v>1.003</c:v>
                </c:pt>
                <c:pt idx="19">
                  <c:v>0.939</c:v>
                </c:pt>
                <c:pt idx="20">
                  <c:v>1.012</c:v>
                </c:pt>
                <c:pt idx="21">
                  <c:v>0.961</c:v>
                </c:pt>
                <c:pt idx="22">
                  <c:v>1.064</c:v>
                </c:pt>
                <c:pt idx="23">
                  <c:v>1.023</c:v>
                </c:pt>
                <c:pt idx="24">
                  <c:v>1.012</c:v>
                </c:pt>
                <c:pt idx="25">
                  <c:v>1.024</c:v>
                </c:pt>
                <c:pt idx="26">
                  <c:v>1.01</c:v>
                </c:pt>
                <c:pt idx="27">
                  <c:v>1.019</c:v>
                </c:pt>
                <c:pt idx="28">
                  <c:v>1.064</c:v>
                </c:pt>
                <c:pt idx="29">
                  <c:v>1.004</c:v>
                </c:pt>
                <c:pt idx="30">
                  <c:v>1.056</c:v>
                </c:pt>
                <c:pt idx="31">
                  <c:v>1.003</c:v>
                </c:pt>
                <c:pt idx="32">
                  <c:v>0.983</c:v>
                </c:pt>
                <c:pt idx="33">
                  <c:v>0.924</c:v>
                </c:pt>
                <c:pt idx="34">
                  <c:v>0.83</c:v>
                </c:pt>
                <c:pt idx="35">
                  <c:v>0.886</c:v>
                </c:pt>
                <c:pt idx="36">
                  <c:v>0.795</c:v>
                </c:pt>
                <c:pt idx="37">
                  <c:v>0.776</c:v>
                </c:pt>
                <c:pt idx="38">
                  <c:v>0.779</c:v>
                </c:pt>
                <c:pt idx="39">
                  <c:v>0.79</c:v>
                </c:pt>
                <c:pt idx="40">
                  <c:v>0.918</c:v>
                </c:pt>
                <c:pt idx="41">
                  <c:v>0.938</c:v>
                </c:pt>
                <c:pt idx="42">
                  <c:v>0.922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Borne inférieure (IC 95 %)</c:v>
                </c:pt>
              </c:strCache>
            </c:strRef>
          </c:tx>
          <c:spPr>
            <a:ln w="15875">
              <a:solidFill>
                <a:srgbClr val="CADCFC"/>
              </a:solidFill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12/07</c:v>
                </c:pt>
                <c:pt idx="1">
                  <c:v>14/07</c:v>
                </c:pt>
                <c:pt idx="2">
                  <c:v>16/07</c:v>
                </c:pt>
                <c:pt idx="3">
                  <c:v>18/07</c:v>
                </c:pt>
                <c:pt idx="4">
                  <c:v>20/07</c:v>
                </c:pt>
                <c:pt idx="5">
                  <c:v>22/07</c:v>
                </c:pt>
                <c:pt idx="6">
                  <c:v>24/07</c:v>
                </c:pt>
                <c:pt idx="7">
                  <c:v>26/07</c:v>
                </c:pt>
                <c:pt idx="8">
                  <c:v>28/07</c:v>
                </c:pt>
                <c:pt idx="9">
                  <c:v>30/07</c:v>
                </c:pt>
                <c:pt idx="10">
                  <c:v>01/08</c:v>
                </c:pt>
                <c:pt idx="11">
                  <c:v>03/08</c:v>
                </c:pt>
                <c:pt idx="12">
                  <c:v>05/08</c:v>
                </c:pt>
                <c:pt idx="13">
                  <c:v>07/08</c:v>
                </c:pt>
                <c:pt idx="14">
                  <c:v>09/08</c:v>
                </c:pt>
                <c:pt idx="15">
                  <c:v>11/08</c:v>
                </c:pt>
                <c:pt idx="16">
                  <c:v>13/08</c:v>
                </c:pt>
                <c:pt idx="17">
                  <c:v>15/08</c:v>
                </c:pt>
                <c:pt idx="18">
                  <c:v>17/08</c:v>
                </c:pt>
                <c:pt idx="19">
                  <c:v>19/08</c:v>
                </c:pt>
                <c:pt idx="20">
                  <c:v>21/08</c:v>
                </c:pt>
                <c:pt idx="21">
                  <c:v>23/08</c:v>
                </c:pt>
                <c:pt idx="22">
                  <c:v>25/08</c:v>
                </c:pt>
                <c:pt idx="23">
                  <c:v>27/08</c:v>
                </c:pt>
                <c:pt idx="24">
                  <c:v>29/08</c:v>
                </c:pt>
                <c:pt idx="25">
                  <c:v>31/08</c:v>
                </c:pt>
                <c:pt idx="26">
                  <c:v>02/09</c:v>
                </c:pt>
                <c:pt idx="27">
                  <c:v>04/09</c:v>
                </c:pt>
                <c:pt idx="28">
                  <c:v>06/09</c:v>
                </c:pt>
                <c:pt idx="29">
                  <c:v>08/09</c:v>
                </c:pt>
                <c:pt idx="30">
                  <c:v>10/09</c:v>
                </c:pt>
                <c:pt idx="31">
                  <c:v>12/09</c:v>
                </c:pt>
                <c:pt idx="32">
                  <c:v>14/09</c:v>
                </c:pt>
                <c:pt idx="33">
                  <c:v>16/09</c:v>
                </c:pt>
                <c:pt idx="34">
                  <c:v>18/09</c:v>
                </c:pt>
                <c:pt idx="35">
                  <c:v>20/09</c:v>
                </c:pt>
                <c:pt idx="36">
                  <c:v>22/09</c:v>
                </c:pt>
                <c:pt idx="37">
                  <c:v>24/09</c:v>
                </c:pt>
                <c:pt idx="38">
                  <c:v>26/09</c:v>
                </c:pt>
                <c:pt idx="39">
                  <c:v>28/09</c:v>
                </c:pt>
                <c:pt idx="40">
                  <c:v>30/09</c:v>
                </c:pt>
                <c:pt idx="41">
                  <c:v>02/10</c:v>
                </c:pt>
                <c:pt idx="42">
                  <c:v>04/10</c:v>
                </c:pt>
              </c:strCache>
            </c:strRef>
          </c:cat>
          <c:val>
            <c:numRef>
              <c:f>Sheet1!$D$2:$D$44</c:f>
              <c:numCache>
                <c:formatCode>General</c:formatCode>
                <c:ptCount val="43"/>
                <c:pt idx="0">
                  <c:v>0.87</c:v>
                </c:pt>
                <c:pt idx="1">
                  <c:v>0.947</c:v>
                </c:pt>
                <c:pt idx="2">
                  <c:v>0.976</c:v>
                </c:pt>
                <c:pt idx="3">
                  <c:v>0.974</c:v>
                </c:pt>
                <c:pt idx="4">
                  <c:v>1.11</c:v>
                </c:pt>
                <c:pt idx="5">
                  <c:v>1.119</c:v>
                </c:pt>
                <c:pt idx="6">
                  <c:v>1.125</c:v>
                </c:pt>
                <c:pt idx="7">
                  <c:v>1.093</c:v>
                </c:pt>
                <c:pt idx="8">
                  <c:v>0.981</c:v>
                </c:pt>
                <c:pt idx="9">
                  <c:v>0.954</c:v>
                </c:pt>
                <c:pt idx="10">
                  <c:v>1.052</c:v>
                </c:pt>
                <c:pt idx="11">
                  <c:v>1.034</c:v>
                </c:pt>
                <c:pt idx="12">
                  <c:v>0.999</c:v>
                </c:pt>
                <c:pt idx="13">
                  <c:v>0.987</c:v>
                </c:pt>
                <c:pt idx="14">
                  <c:v>0.943</c:v>
                </c:pt>
                <c:pt idx="15">
                  <c:v>1.052</c:v>
                </c:pt>
                <c:pt idx="16">
                  <c:v>1.061</c:v>
                </c:pt>
                <c:pt idx="17">
                  <c:v>1.039</c:v>
                </c:pt>
                <c:pt idx="18">
                  <c:v>0.918</c:v>
                </c:pt>
                <c:pt idx="19">
                  <c:v>0.86</c:v>
                </c:pt>
                <c:pt idx="20">
                  <c:v>0.934</c:v>
                </c:pt>
                <c:pt idx="21">
                  <c:v>0.879</c:v>
                </c:pt>
                <c:pt idx="22">
                  <c:v>0.984</c:v>
                </c:pt>
                <c:pt idx="23">
                  <c:v>0.943</c:v>
                </c:pt>
                <c:pt idx="24">
                  <c:v>0.934</c:v>
                </c:pt>
                <c:pt idx="25">
                  <c:v>0.937</c:v>
                </c:pt>
                <c:pt idx="26">
                  <c:v>0.931</c:v>
                </c:pt>
                <c:pt idx="27">
                  <c:v>0.94</c:v>
                </c:pt>
                <c:pt idx="28">
                  <c:v>0.979</c:v>
                </c:pt>
                <c:pt idx="29">
                  <c:v>0.92</c:v>
                </c:pt>
                <c:pt idx="30">
                  <c:v>0.975</c:v>
                </c:pt>
                <c:pt idx="31">
                  <c:v>0.926</c:v>
                </c:pt>
                <c:pt idx="32">
                  <c:v>0.901</c:v>
                </c:pt>
                <c:pt idx="33">
                  <c:v>0.848</c:v>
                </c:pt>
                <c:pt idx="34">
                  <c:v>0.756</c:v>
                </c:pt>
                <c:pt idx="35">
                  <c:v>0.807</c:v>
                </c:pt>
                <c:pt idx="36">
                  <c:v>0.721</c:v>
                </c:pt>
                <c:pt idx="37">
                  <c:v>0.699</c:v>
                </c:pt>
                <c:pt idx="38">
                  <c:v>0.7</c:v>
                </c:pt>
                <c:pt idx="39">
                  <c:v>0.717</c:v>
                </c:pt>
                <c:pt idx="40">
                  <c:v>0.839</c:v>
                </c:pt>
                <c:pt idx="41">
                  <c:v>0.854</c:v>
                </c:pt>
                <c:pt idx="42">
                  <c:v>0.834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Seuil R = 1</c:v>
                </c:pt>
              </c:strCache>
            </c:strRef>
          </c:tx>
          <c:spPr>
            <a:ln w="15875">
              <a:solidFill>
                <a:srgbClr val="4A5560"/>
              </a:solidFill>
              <a:prstDash val="dash"/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12/07</c:v>
                </c:pt>
                <c:pt idx="1">
                  <c:v>14/07</c:v>
                </c:pt>
                <c:pt idx="2">
                  <c:v>16/07</c:v>
                </c:pt>
                <c:pt idx="3">
                  <c:v>18/07</c:v>
                </c:pt>
                <c:pt idx="4">
                  <c:v>20/07</c:v>
                </c:pt>
                <c:pt idx="5">
                  <c:v>22/07</c:v>
                </c:pt>
                <c:pt idx="6">
                  <c:v>24/07</c:v>
                </c:pt>
                <c:pt idx="7">
                  <c:v>26/07</c:v>
                </c:pt>
                <c:pt idx="8">
                  <c:v>28/07</c:v>
                </c:pt>
                <c:pt idx="9">
                  <c:v>30/07</c:v>
                </c:pt>
                <c:pt idx="10">
                  <c:v>01/08</c:v>
                </c:pt>
                <c:pt idx="11">
                  <c:v>03/08</c:v>
                </c:pt>
                <c:pt idx="12">
                  <c:v>05/08</c:v>
                </c:pt>
                <c:pt idx="13">
                  <c:v>07/08</c:v>
                </c:pt>
                <c:pt idx="14">
                  <c:v>09/08</c:v>
                </c:pt>
                <c:pt idx="15">
                  <c:v>11/08</c:v>
                </c:pt>
                <c:pt idx="16">
                  <c:v>13/08</c:v>
                </c:pt>
                <c:pt idx="17">
                  <c:v>15/08</c:v>
                </c:pt>
                <c:pt idx="18">
                  <c:v>17/08</c:v>
                </c:pt>
                <c:pt idx="19">
                  <c:v>19/08</c:v>
                </c:pt>
                <c:pt idx="20">
                  <c:v>21/08</c:v>
                </c:pt>
                <c:pt idx="21">
                  <c:v>23/08</c:v>
                </c:pt>
                <c:pt idx="22">
                  <c:v>25/08</c:v>
                </c:pt>
                <c:pt idx="23">
                  <c:v>27/08</c:v>
                </c:pt>
                <c:pt idx="24">
                  <c:v>29/08</c:v>
                </c:pt>
                <c:pt idx="25">
                  <c:v>31/08</c:v>
                </c:pt>
                <c:pt idx="26">
                  <c:v>02/09</c:v>
                </c:pt>
                <c:pt idx="27">
                  <c:v>04/09</c:v>
                </c:pt>
                <c:pt idx="28">
                  <c:v>06/09</c:v>
                </c:pt>
                <c:pt idx="29">
                  <c:v>08/09</c:v>
                </c:pt>
                <c:pt idx="30">
                  <c:v>10/09</c:v>
                </c:pt>
                <c:pt idx="31">
                  <c:v>12/09</c:v>
                </c:pt>
                <c:pt idx="32">
                  <c:v>14/09</c:v>
                </c:pt>
                <c:pt idx="33">
                  <c:v>16/09</c:v>
                </c:pt>
                <c:pt idx="34">
                  <c:v>18/09</c:v>
                </c:pt>
                <c:pt idx="35">
                  <c:v>20/09</c:v>
                </c:pt>
                <c:pt idx="36">
                  <c:v>22/09</c:v>
                </c:pt>
                <c:pt idx="37">
                  <c:v>24/09</c:v>
                </c:pt>
                <c:pt idx="38">
                  <c:v>26/09</c:v>
                </c:pt>
                <c:pt idx="39">
                  <c:v>28/09</c:v>
                </c:pt>
                <c:pt idx="40">
                  <c:v>30/09</c:v>
                </c:pt>
                <c:pt idx="41">
                  <c:v>02/10</c:v>
                </c:pt>
                <c:pt idx="42">
                  <c:v>04/10</c:v>
                </c:pt>
              </c:strCache>
            </c:strRef>
          </c:cat>
          <c:val>
            <c:numRef>
              <c:f>Sheet1!$E$2:$E$44</c:f>
              <c:numCache>
                <c:formatCode>General</c:formatCode>
                <c:ptCount val="4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  <c:pt idx="20">
                  <c:v>1.0</c:v>
                </c:pt>
                <c:pt idx="21">
                  <c:v>1.0</c:v>
                </c:pt>
                <c:pt idx="22">
                  <c:v>1.0</c:v>
                </c:pt>
                <c:pt idx="23">
                  <c:v>1.0</c:v>
                </c:pt>
                <c:pt idx="24">
                  <c:v>1.0</c:v>
                </c:pt>
                <c:pt idx="25">
                  <c:v>1.0</c:v>
                </c:pt>
                <c:pt idx="26">
                  <c:v>1.0</c:v>
                </c:pt>
                <c:pt idx="27">
                  <c:v>1.0</c:v>
                </c:pt>
                <c:pt idx="28">
                  <c:v>1.0</c:v>
                </c:pt>
                <c:pt idx="29">
                  <c:v>1.0</c:v>
                </c:pt>
                <c:pt idx="30">
                  <c:v>1.0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949D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tickLblSkip val="7"/>
        <c:tickMarkSkip val="7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4E2D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4A556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Cas 21 j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Sheet1!$A$2:$A$11</c:f>
              <c:strCache>
                <c:ptCount val="10"/>
                <c:pt idx="0">
                  <c:v>Nia Nia</c:v>
                </c:pt>
                <c:pt idx="1">
                  <c:v>Rwampara</c:v>
                </c:pt>
                <c:pt idx="2">
                  <c:v>Nizi</c:v>
                </c:pt>
                <c:pt idx="3">
                  <c:v>Vuhovi</c:v>
                </c:pt>
                <c:pt idx="4">
                  <c:v>Mandima</c:v>
                </c:pt>
                <c:pt idx="5">
                  <c:v>Beni</c:v>
                </c:pt>
                <c:pt idx="6">
                  <c:v>Musienene</c:v>
                </c:pt>
                <c:pt idx="7">
                  <c:v>Mabalako</c:v>
                </c:pt>
                <c:pt idx="8">
                  <c:v>Mambasa</c:v>
                </c:pt>
                <c:pt idx="9">
                  <c:v>Wamba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15.7</c:v>
                </c:pt>
                <c:pt idx="1">
                  <c:v>18.7</c:v>
                </c:pt>
                <c:pt idx="2">
                  <c:v>17.4</c:v>
                </c:pt>
                <c:pt idx="3">
                  <c:v>10.1</c:v>
                </c:pt>
                <c:pt idx="4">
                  <c:v>17.4</c:v>
                </c:pt>
                <c:pt idx="5">
                  <c:v>20.0</c:v>
                </c:pt>
                <c:pt idx="6">
                  <c:v>13.2</c:v>
                </c:pt>
                <c:pt idx="7">
                  <c:v>12.6</c:v>
                </c:pt>
                <c:pt idx="8">
                  <c:v>11.8</c:v>
                </c:pt>
                <c:pt idx="9">
                  <c:v>14.4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Tendance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Sheet1!$A$2:$A$11</c:f>
              <c:strCache>
                <c:ptCount val="10"/>
                <c:pt idx="0">
                  <c:v>Nia Nia</c:v>
                </c:pt>
                <c:pt idx="1">
                  <c:v>Rwampara</c:v>
                </c:pt>
                <c:pt idx="2">
                  <c:v>Nizi</c:v>
                </c:pt>
                <c:pt idx="3">
                  <c:v>Vuhovi</c:v>
                </c:pt>
                <c:pt idx="4">
                  <c:v>Mandima</c:v>
                </c:pt>
                <c:pt idx="5">
                  <c:v>Beni</c:v>
                </c:pt>
                <c:pt idx="6">
                  <c:v>Musienene</c:v>
                </c:pt>
                <c:pt idx="7">
                  <c:v>Mabalako</c:v>
                </c:pt>
                <c:pt idx="8">
                  <c:v>Mambasa</c:v>
                </c:pt>
                <c:pt idx="9">
                  <c:v>Wamba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12.0</c:v>
                </c:pt>
                <c:pt idx="4">
                  <c:v>12.0</c:v>
                </c:pt>
                <c:pt idx="5">
                  <c:v>0.0</c:v>
                </c:pt>
                <c:pt idx="6">
                  <c:v>12.0</c:v>
                </c:pt>
                <c:pt idx="7">
                  <c:v>12.0</c:v>
                </c:pt>
                <c:pt idx="8">
                  <c:v>12.0</c:v>
                </c:pt>
                <c:pt idx="9">
                  <c:v>12.0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P(Rt&gt;1)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Sheet1!$A$2:$A$11</c:f>
              <c:strCache>
                <c:ptCount val="10"/>
                <c:pt idx="0">
                  <c:v>Nia Nia</c:v>
                </c:pt>
                <c:pt idx="1">
                  <c:v>Rwampara</c:v>
                </c:pt>
                <c:pt idx="2">
                  <c:v>Nizi</c:v>
                </c:pt>
                <c:pt idx="3">
                  <c:v>Vuhovi</c:v>
                </c:pt>
                <c:pt idx="4">
                  <c:v>Mandima</c:v>
                </c:pt>
                <c:pt idx="5">
                  <c:v>Beni</c:v>
                </c:pt>
                <c:pt idx="6">
                  <c:v>Musienene</c:v>
                </c:pt>
                <c:pt idx="7">
                  <c:v>Mabalako</c:v>
                </c:pt>
                <c:pt idx="8">
                  <c:v>Mambasa</c:v>
                </c:pt>
                <c:pt idx="9">
                  <c:v>Wamba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4.3</c:v>
                </c:pt>
                <c:pt idx="1">
                  <c:v>6.2</c:v>
                </c:pt>
                <c:pt idx="2">
                  <c:v>1.9</c:v>
                </c:pt>
                <c:pt idx="3">
                  <c:v>5.1</c:v>
                </c:pt>
                <c:pt idx="4">
                  <c:v>2.0</c:v>
                </c:pt>
                <c:pt idx="5">
                  <c:v>6.7</c:v>
                </c:pt>
                <c:pt idx="6">
                  <c:v>7.9</c:v>
                </c:pt>
                <c:pt idx="7">
                  <c:v>12.0</c:v>
                </c:pt>
                <c:pt idx="8">
                  <c:v>11.6</c:v>
                </c:pt>
                <c:pt idx="9">
                  <c:v>8.2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Décès communautaires</c:v>
                </c:pt>
              </c:strCache>
            </c:strRef>
          </c:tx>
          <c:spPr>
            <a:solidFill>
              <a:srgbClr val="E34948"/>
            </a:solidFill>
          </c:spPr>
          <c:cat>
            <c:strRef>
              <c:f>Sheet1!$A$2:$A$11</c:f>
              <c:strCache>
                <c:ptCount val="10"/>
                <c:pt idx="0">
                  <c:v>Nia Nia</c:v>
                </c:pt>
                <c:pt idx="1">
                  <c:v>Rwampara</c:v>
                </c:pt>
                <c:pt idx="2">
                  <c:v>Nizi</c:v>
                </c:pt>
                <c:pt idx="3">
                  <c:v>Vuhovi</c:v>
                </c:pt>
                <c:pt idx="4">
                  <c:v>Mandima</c:v>
                </c:pt>
                <c:pt idx="5">
                  <c:v>Beni</c:v>
                </c:pt>
                <c:pt idx="6">
                  <c:v>Musienene</c:v>
                </c:pt>
                <c:pt idx="7">
                  <c:v>Mabalako</c:v>
                </c:pt>
                <c:pt idx="8">
                  <c:v>Mambasa</c:v>
                </c:pt>
                <c:pt idx="9">
                  <c:v>Wamba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8.0</c:v>
                </c:pt>
                <c:pt idx="1">
                  <c:v>8.0</c:v>
                </c:pt>
                <c:pt idx="2">
                  <c:v>8.0</c:v>
                </c:pt>
                <c:pt idx="3">
                  <c:v>8.0</c:v>
                </c:pt>
                <c:pt idx="4">
                  <c:v>8.0</c:v>
                </c:pt>
                <c:pt idx="5">
                  <c:v>8.0</c:v>
                </c:pt>
                <c:pt idx="6">
                  <c:v>8.0</c:v>
                </c:pt>
                <c:pt idx="7">
                  <c:v>8.0</c:v>
                </c:pt>
                <c:pt idx="8">
                  <c:v>8.0</c:v>
                </c:pt>
                <c:pt idx="9">
                  <c:v>8.0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Proximité forte incidence</c:v>
                </c:pt>
              </c:strCache>
            </c:strRef>
          </c:tx>
          <c:spPr>
            <a:solidFill>
              <a:srgbClr val="6250D6"/>
            </a:solidFill>
          </c:spPr>
          <c:cat>
            <c:strRef>
              <c:f>Sheet1!$A$2:$A$11</c:f>
              <c:strCache>
                <c:ptCount val="10"/>
                <c:pt idx="0">
                  <c:v>Nia Nia</c:v>
                </c:pt>
                <c:pt idx="1">
                  <c:v>Rwampara</c:v>
                </c:pt>
                <c:pt idx="2">
                  <c:v>Nizi</c:v>
                </c:pt>
                <c:pt idx="3">
                  <c:v>Vuhovi</c:v>
                </c:pt>
                <c:pt idx="4">
                  <c:v>Mandima</c:v>
                </c:pt>
                <c:pt idx="5">
                  <c:v>Beni</c:v>
                </c:pt>
                <c:pt idx="6">
                  <c:v>Musienene</c:v>
                </c:pt>
                <c:pt idx="7">
                  <c:v>Mabalako</c:v>
                </c:pt>
                <c:pt idx="8">
                  <c:v>Mambasa</c:v>
                </c:pt>
                <c:pt idx="9">
                  <c:v>Wamba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10.0</c:v>
                </c:pt>
                <c:pt idx="1">
                  <c:v>10.0</c:v>
                </c:pt>
                <c:pt idx="2">
                  <c:v>10.0</c:v>
                </c:pt>
                <c:pt idx="3">
                  <c:v>10.0</c:v>
                </c:pt>
                <c:pt idx="4">
                  <c:v>10.0</c:v>
                </c:pt>
                <c:pt idx="5">
                  <c:v>10.0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10.0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Contacts non vus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Sheet1!$A$2:$A$11</c:f>
              <c:strCache>
                <c:ptCount val="10"/>
                <c:pt idx="0">
                  <c:v>Nia Nia</c:v>
                </c:pt>
                <c:pt idx="1">
                  <c:v>Rwampara</c:v>
                </c:pt>
                <c:pt idx="2">
                  <c:v>Nizi</c:v>
                </c:pt>
                <c:pt idx="3">
                  <c:v>Vuhovi</c:v>
                </c:pt>
                <c:pt idx="4">
                  <c:v>Mandima</c:v>
                </c:pt>
                <c:pt idx="5">
                  <c:v>Beni</c:v>
                </c:pt>
                <c:pt idx="6">
                  <c:v>Musienene</c:v>
                </c:pt>
                <c:pt idx="7">
                  <c:v>Mabalako</c:v>
                </c:pt>
                <c:pt idx="8">
                  <c:v>Mambasa</c:v>
                </c:pt>
                <c:pt idx="9">
                  <c:v>Wamba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5.0</c:v>
                </c:pt>
                <c:pt idx="1">
                  <c:v>5.2</c:v>
                </c:pt>
                <c:pt idx="2">
                  <c:v>8.0</c:v>
                </c:pt>
                <c:pt idx="3">
                  <c:v>0.0</c:v>
                </c:pt>
                <c:pt idx="4">
                  <c:v>0.0</c:v>
                </c:pt>
                <c:pt idx="5">
                  <c:v>7.1</c:v>
                </c:pt>
                <c:pt idx="6">
                  <c:v>0.0</c:v>
                </c:pt>
                <c:pt idx="7">
                  <c:v>0.0</c:v>
                </c:pt>
                <c:pt idx="8">
                  <c:v>8.0</c:v>
                </c:pt>
                <c:pt idx="9">
                  <c:v>8.0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Autres facteurs</c:v>
                </c:pt>
              </c:strCache>
            </c:strRef>
          </c:tx>
          <c:spPr>
            <a:solidFill>
              <a:srgbClr val="B5B3AD"/>
            </a:solidFill>
          </c:spPr>
          <c:cat>
            <c:strRef>
              <c:f>Sheet1!$A$2:$A$11</c:f>
              <c:strCache>
                <c:ptCount val="10"/>
                <c:pt idx="0">
                  <c:v>Nia Nia</c:v>
                </c:pt>
                <c:pt idx="1">
                  <c:v>Rwampara</c:v>
                </c:pt>
                <c:pt idx="2">
                  <c:v>Nizi</c:v>
                </c:pt>
                <c:pt idx="3">
                  <c:v>Vuhovi</c:v>
                </c:pt>
                <c:pt idx="4">
                  <c:v>Mandima</c:v>
                </c:pt>
                <c:pt idx="5">
                  <c:v>Beni</c:v>
                </c:pt>
                <c:pt idx="6">
                  <c:v>Musienene</c:v>
                </c:pt>
                <c:pt idx="7">
                  <c:v>Mabalako</c:v>
                </c:pt>
                <c:pt idx="8">
                  <c:v>Mambasa</c:v>
                </c:pt>
                <c:pt idx="9">
                  <c:v>Wamba</c:v>
                </c:pt>
              </c:strCache>
            </c: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13.5</c:v>
                </c:pt>
                <c:pt idx="1">
                  <c:v>8.399999999999999</c:v>
                </c:pt>
                <c:pt idx="2">
                  <c:v>12.300000000000004</c:v>
                </c:pt>
                <c:pt idx="3">
                  <c:v>13.5</c:v>
                </c:pt>
                <c:pt idx="4">
                  <c:v>12.899999999999999</c:v>
                </c:pt>
                <c:pt idx="5">
                  <c:v>12.199999999999996</c:v>
                </c:pt>
                <c:pt idx="6">
                  <c:v>15.699999999999996</c:v>
                </c:pt>
                <c:pt idx="7">
                  <c:v>14.499999999999993</c:v>
                </c:pt>
                <c:pt idx="8">
                  <c:v>16.699999999999996</c:v>
                </c:pt>
                <c:pt idx="9">
                  <c:v>17.700000000000003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A949D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4E2D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4A556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Valeur observée (%)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Sheet1!$A$2:$A$7</c:f>
              <c:strCache>
                <c:ptCount val="6"/>
                <c:pt idx="0">
                  <c:v>Alertes investiguées ≤ 24 h</c:v>
                </c:pt>
                <c:pt idx="1">
                  <c:v>Décès communautaires prélevés</c:v>
                </c:pt>
                <c:pt idx="2">
                  <c:v>Suivi de 21 jours mené à terme</c:v>
                </c:pt>
                <c:pt idx="3">
                  <c:v>Contacts vus (dernière journée)</c:v>
                </c:pt>
                <c:pt idx="4">
                  <c:v>Nouveaux cas avec source identifiée</c:v>
                </c:pt>
                <c:pt idx="5">
                  <c:v>Nouveaux cas connus comme contacts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98.2</c:v>
                </c:pt>
                <c:pt idx="1">
                  <c:v>69.1</c:v>
                </c:pt>
                <c:pt idx="2">
                  <c:v>46.7</c:v>
                </c:pt>
                <c:pt idx="3">
                  <c:v>17.3</c:v>
                </c:pt>
                <c:pt idx="4">
                  <c:v>7.2</c:v>
                </c:pt>
                <c:pt idx="5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Cible (%)</c:v>
                </c:pt>
              </c:strCache>
            </c:strRef>
          </c:tx>
          <c:spPr>
            <a:solidFill>
              <a:srgbClr val="B5B3AD"/>
            </a:solidFill>
          </c:spPr>
          <c:cat>
            <c:strRef>
              <c:f>Sheet1!$A$2:$A$7</c:f>
              <c:strCache>
                <c:ptCount val="6"/>
                <c:pt idx="0">
                  <c:v>Alertes investiguées ≤ 24 h</c:v>
                </c:pt>
                <c:pt idx="1">
                  <c:v>Décès communautaires prélevés</c:v>
                </c:pt>
                <c:pt idx="2">
                  <c:v>Suivi de 21 jours mené à terme</c:v>
                </c:pt>
                <c:pt idx="3">
                  <c:v>Contacts vus (dernière journée)</c:v>
                </c:pt>
                <c:pt idx="4">
                  <c:v>Nouveaux cas avec source identifiée</c:v>
                </c:pt>
                <c:pt idx="5">
                  <c:v>Nouveaux cas connus comme contacts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80.0</c:v>
                </c:pt>
                <c:pt idx="1">
                  <c:v>80.0</c:v>
                </c:pt>
                <c:pt idx="2">
                  <c:v>90.0</c:v>
                </c:pt>
                <c:pt idx="3">
                  <c:v>90.0</c:v>
                </c:pt>
                <c:pt idx="4">
                  <c:v>80.0</c:v>
                </c:pt>
                <c:pt idx="5">
                  <c:v>80.0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A949D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b"/>
        <c:majorGridlines>
          <c:spPr>
            <a:ln>
              <a:solidFill>
                <a:srgbClr val="E4E2D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4A556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la question opérationnelle : toute la présentation y répond. Les chiffres sont produits automatiquement à partir du SitRep, de la Linelist, du lln et de la base de suivi des contacts.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la réponse : où (zones), quoi (le maillon faible), comment (actions). Les diapositives suivantes apportent les preuves.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d’où viennent les chiffres. La méthodologie détaillée (formules) est dans le document Word fourni avec l’outil.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Chiffres officiels du SitRep (cumul) en haut ; dynamique des 7 derniers jours (Linelist) en 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Semaine de notification ; la semaine en cours est exclue car incomplète. Les décès sont une partie des cas confirmés.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estimé par EpiEstim (fenêtre 7 j) sur l’incidence par date de début corrigée des retards. Bande = IC 95 %. Les derniers jours sont provisoires.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 0–100 par zone : cas des 21 jours, tendance, P(Rt&gt;1), décès communautaires, proximité d’une zone à forte incidence, frontière, mines, contacts non vus, résurgence, 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de chaque facteur au score de risque (points sur 100) pour les 10 zones les plus prioritaires.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Comparaison des indicateurs de riposte aux cibles (modifiables dans config/parametres.json). L’écart le plus grand indique où agir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groupe de zones reçoit un paquet d’interventions proportionné à son score. Les listes nominatives des contacts à retrouver sont dans outputs/confidentiel.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Être transparent sur la qualité des données : ces limites conditionnent l’interprétation.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en répétant la réponse à la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ADCFC"/>
                </a:solidFill>
                <a:latin typeface="Calibri"/>
              </a:rPr>
              <a:t>RIPOSTE À LA MALADIE À VIRUS EBOLA · RDC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Où concentrer la riposte au cours des 14 prochains jours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63240"/>
            <a:ext cx="73152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ADCFC"/>
                </a:solidFill>
                <a:latin typeface="Calibri"/>
              </a:rPr>
              <a:t>Question opérationnelle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Où et comment concentrer les ressources de la riposte au cours des 14 prochains jours pour interrompre les chaînes de transmission résiduelles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Situation au 10 oct. 2026 · SitRep N° 148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Ebola Outbreak Analytics Hub · UMIE–INRB · analyse automatique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RÉPONSE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La réponse en bref : cibler 17 zones prioritaires, retrouver les contacts perdus, remonter aux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204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20440" cy="109728"/>
          </a:xfrm>
          <a:prstGeom prst="rect">
            <a:avLst/>
          </a:prstGeom>
          <a:solidFill>
            <a:srgbClr val="8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F2D2A"/>
                </a:solidFill>
                <a:latin typeface="Calibri"/>
              </a:rPr>
              <a:t>OÙ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6"/>
                </a:solidFill>
                <a:latin typeface="Calibri"/>
              </a:rPr>
              <a:t>2 zones en priorité 1 et 15 en priorité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3977639"/>
            <a:ext cx="548640" cy="45720"/>
          </a:xfrm>
          <a:prstGeom prst="rect">
            <a:avLst/>
          </a:prstGeom>
          <a:solidFill>
            <a:srgbClr val="8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2062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560"/>
                </a:solidFill>
                <a:latin typeface="Calibri"/>
              </a:rPr>
              <a:t>Wamba, Mambasa, Mabalako, Musienene, Beni… concentrent le risque de transmission (score ≥ 50 / 100).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691640"/>
            <a:ext cx="35204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691640"/>
            <a:ext cx="3520440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2011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Calibri"/>
              </a:rPr>
              <a:t>POURQUOI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51460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6"/>
                </a:solidFill>
                <a:latin typeface="Calibri"/>
              </a:rPr>
              <a:t>1,0 % des nouveaux cas étaient connus comme contacts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1999" y="3977639"/>
            <a:ext cx="54864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42062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560"/>
                </a:solidFill>
                <a:latin typeface="Calibri"/>
              </a:rPr>
              <a:t>La transmission échappe au listage : la plupart des chaînes ne sont pas suivies.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691640"/>
            <a:ext cx="35204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691640"/>
            <a:ext cx="3520440" cy="1097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AF7A"/>
                </a:solidFill>
                <a:latin typeface="Calibri"/>
              </a:rPr>
              <a:t>COMMENT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6"/>
                </a:solidFill>
                <a:latin typeface="Calibri"/>
              </a:rPr>
              <a:t>Retrouver 780 contacts perdus de vue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977639"/>
            <a:ext cx="548640" cy="457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062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560"/>
                </a:solidFill>
                <a:latin typeface="Calibri"/>
              </a:rPr>
              <a:t>Investigation rétrograde de chaque cas sans lien, suivi quotidien, prélèvement et EDS de tous les décès.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DONNÉES ET MÉTHODES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Quatre sources croisées et une grille de risque commune à toutes les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6"/>
                </a:solidFill>
                <a:latin typeface="Calibri"/>
              </a:rPr>
              <a:t>SitRep officiel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84831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N° 148 — cumuls nationaux, provinces, zones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16352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9806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6"/>
                </a:solidFill>
                <a:latin typeface="Calibri"/>
              </a:rPr>
              <a:t>Linelist des 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6382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8 780 confirmés — temps, lieu, personne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3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8770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6"/>
                </a:solidFill>
                <a:latin typeface="Calibri"/>
              </a:rPr>
              <a:t>Linelist des alertes (lln)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24281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61 638 alertes — investigation, décès, EDS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974336"/>
            <a:ext cx="502920" cy="502920"/>
          </a:xfrm>
          <a:prstGeom prst="ellipse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65775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560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6"/>
                </a:solidFill>
                <a:latin typeface="Calibri"/>
              </a:rPr>
              <a:t>Suivi des contacts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321807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4 804 contacts — suivi, chaînes de transmission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691640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6"/>
                </a:solidFill>
                <a:latin typeface="Calibri"/>
              </a:rPr>
              <a:t>Méthodes d’analyse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1">
                <a:solidFill>
                  <a:srgbClr val="16202A"/>
                </a:solidFill>
                <a:latin typeface="Calibri"/>
              </a:rPr>
              <a:t>Tendance : </a:t>
            </a:r>
            <a:r>
              <a:rPr sz="1350" b="0">
                <a:solidFill>
                  <a:srgbClr val="16202A"/>
                </a:solidFill>
                <a:latin typeface="Calibri"/>
              </a:rPr>
              <a:t>cas par semaine, variation sur 7 jours, nowcasting des retards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1">
                <a:solidFill>
                  <a:srgbClr val="16202A"/>
                </a:solidFill>
                <a:latin typeface="Calibri"/>
              </a:rPr>
              <a:t>Transmission : </a:t>
            </a:r>
            <a:r>
              <a:rPr sz="1350" b="0">
                <a:solidFill>
                  <a:srgbClr val="16202A"/>
                </a:solidFill>
                <a:latin typeface="Calibri"/>
              </a:rPr>
              <a:t>Rt par processus de renouvellement (9 méthodes comparées)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1">
                <a:solidFill>
                  <a:srgbClr val="16202A"/>
                </a:solidFill>
                <a:latin typeface="Calibri"/>
              </a:rPr>
              <a:t>Risque par zone : </a:t>
            </a:r>
            <a:r>
              <a:rPr sz="1350" b="0">
                <a:solidFill>
                  <a:srgbClr val="16202A"/>
                </a:solidFill>
                <a:latin typeface="Calibri"/>
              </a:rPr>
              <a:t>score 0–100 (dynamique, gravité, contexte, riposte) ; priorités P1 ≥ 70, P2 50–69, P3 30–49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1">
                <a:solidFill>
                  <a:srgbClr val="16202A"/>
                </a:solidFill>
                <a:latin typeface="Calibri"/>
              </a:rPr>
              <a:t>Riposte : </a:t>
            </a:r>
            <a:r>
              <a:rPr sz="1350" b="0">
                <a:solidFill>
                  <a:srgbClr val="16202A"/>
                </a:solidFill>
                <a:latin typeface="Calibri"/>
              </a:rPr>
              <a:t>indicateurs de suivi des contacts et de surveillance comparés à des cibles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SITUATION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8 914 cas confirmés et 4 315 décès : l’épidémie reste active mais l’incidence est en baisse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737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libri"/>
              </a:rPr>
              <a:t>8 914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cas confirmés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737360"/>
            <a:ext cx="1737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0574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34948"/>
                </a:solidFill>
                <a:latin typeface="Calibri"/>
              </a:rPr>
              <a:t>4 315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83464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décès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737360"/>
            <a:ext cx="1737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0574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6202A"/>
                </a:solidFill>
                <a:latin typeface="Calibri"/>
              </a:rPr>
              <a:t>48,4 %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83464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létalité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1737360"/>
            <a:ext cx="1737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20574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AF7A"/>
                </a:solidFill>
                <a:latin typeface="Calibri"/>
              </a:rPr>
              <a:t>2 338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39" y="283464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guéris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737360"/>
            <a:ext cx="1737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20574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B6834"/>
                </a:solidFill>
                <a:latin typeface="Calibri"/>
              </a:rPr>
              <a:t>946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83464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en isolement / CTE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737360"/>
            <a:ext cx="1737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0574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6250D6"/>
                </a:solidFill>
                <a:latin typeface="Calibri"/>
              </a:rPr>
              <a:t>83,1 %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83464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A5560"/>
                </a:solidFill>
                <a:latin typeface="Calibri"/>
              </a:rPr>
              <a:t>contacts suivis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49D"/>
                </a:solidFill>
                <a:latin typeface="Calibri"/>
              </a:rPr>
              <a:t>SitRep N° 148 · nouveaux cas en 24 h : 69 · nouveaux décès : 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43400"/>
            <a:ext cx="11109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6"/>
                </a:solidFill>
                <a:latin typeface="Calibri"/>
              </a:rPr>
              <a:t>7 derniers jours (4 oct. – 10 oct.)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6"/>
                </a:solidFill>
                <a:latin typeface="Calibri"/>
              </a:rPr>
              <a:t>344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961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560"/>
                </a:solidFill>
                <a:latin typeface="Calibri"/>
              </a:rPr>
              <a:t>cas confirmés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983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AF7A"/>
                </a:solidFill>
                <a:latin typeface="Calibri"/>
              </a:rPr>
              <a:t>-12 %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5961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560"/>
                </a:solidFill>
                <a:latin typeface="Calibri"/>
              </a:rPr>
              <a:t>vs 7 jours précédents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983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6"/>
                </a:solidFill>
                <a:latin typeface="Calibri"/>
              </a:rPr>
              <a:t>119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5961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560"/>
                </a:solidFill>
                <a:latin typeface="Calibri"/>
              </a:rPr>
              <a:t>décès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983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6"/>
                </a:solidFill>
                <a:latin typeface="Calibri"/>
              </a:rPr>
              <a:t>34,6 %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5961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560"/>
                </a:solidFill>
                <a:latin typeface="Calibri"/>
              </a:rPr>
              <a:t>létalité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983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6"/>
                </a:solidFill>
                <a:latin typeface="Calibri"/>
              </a:rPr>
              <a:t>69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5961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560"/>
                </a:solidFill>
                <a:latin typeface="Calibri"/>
              </a:rPr>
              <a:t>zones touchées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TENDANCE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Les cas hebdomadaires ont baissé de 39 % depuis le pic de S37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78638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1691640"/>
            <a:ext cx="29718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920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6"/>
                </a:solidFill>
                <a:latin typeface="Calibri"/>
              </a:rPr>
              <a:t>À retenir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377440"/>
            <a:ext cx="2514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Pic : 628 cas en S37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S40 : 386 cas, 136 décès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7 derniers jours : 344 cas (-12 %)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Les 2 dernières semaines seront révisées à la hausse (retards de notification)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TRANSMISSION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Rt = 0,78 : chaque cas infecte en moyenne moins d’une personne, mais la transmission persiste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78638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1691640"/>
            <a:ext cx="29718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920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6"/>
                </a:solidFill>
                <a:latin typeface="Calibri"/>
              </a:rPr>
              <a:t>À retenir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377440"/>
            <a:ext cx="2514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Rt consolidé au 26 sept. : 0,78 (IC 95 % 0,70–0,85)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Probabilité que Rt &gt; 1 : 0 %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Estimation provisoire la plus récente (5 oct.) : 0,89 — à surveiller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Rt &lt; 1 au niveau national peut masquer des zones où Rt &gt; 1 (diapositive 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OÙ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17 zones concentrent le risque : Wamba, Mambasa, Mabalako en tête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03b_score_ris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62718" cy="4572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600200"/>
          <a:ext cx="42519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43000"/>
                <a:gridCol w="685800"/>
                <a:gridCol w="100584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Province</a:t>
                      </a:r>
                    </a:p>
                  </a:txBody>
                  <a:tcPr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>
                    <a:solidFill>
                      <a:srgbClr val="1F3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Wamba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Haut Uele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1</a:t>
                      </a:r>
                    </a:p>
                  </a:txBody>
                  <a:tcPr marT="27432" marB="27432">
                    <a:solidFill>
                      <a:srgbClr val="8F2D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Mambasa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Ituri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1</a:t>
                      </a:r>
                    </a:p>
                  </a:txBody>
                  <a:tcPr marT="27432" marB="27432">
                    <a:solidFill>
                      <a:srgbClr val="8F2D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Mabalako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Nord Kivu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Musienene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Nord Kivu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Beni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Nord Kivu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Mandima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Ituri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Vuhovi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Nord Kivu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Nizi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Ituri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Rwampara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Ituri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Nia Nia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Ituri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Bambu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Ituri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Gety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Ituri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02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T="27432" marB="27432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Calibri"/>
                        </a:rPr>
                        <a:t>Priorité 2</a:t>
                      </a:r>
                    </a:p>
                  </a:txBody>
                  <a:tcPr marT="27432" marB="27432">
                    <a:solidFill>
                      <a:srgbClr val="D967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POURQUOI CES ZONES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Les cas récents et la proximité de zones à forte incidence expliquent l’essentiel du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10996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COMMENT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Le maillon faible : seuls 1,0 % des nouveaux cas étaient suivis comme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768096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691640"/>
            <a:ext cx="31546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920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6"/>
                </a:solidFill>
                <a:latin typeface="Calibri"/>
              </a:rPr>
              <a:t>Ce que cela signifie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377440"/>
            <a:ext cx="2697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780 contacts non vus depuis &gt; 3 jours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9 contacts listés par cas index (médiane)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Les nouveaux cas surgissent hors des listes : chaînes non détectées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▪  </a:t>
            </a:r>
            <a:r>
              <a:rPr sz="1300" b="0">
                <a:solidFill>
                  <a:srgbClr val="16202A"/>
                </a:solidFill>
                <a:latin typeface="Calibri"/>
              </a:rPr>
              <a:t>Les alertes sont investiguées vite : le levier est le listage et le suivi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RÉPONSE À LA QUESTION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Réponse : un plan d’action différencié selon la priorité de la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8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Priorité 1 — riposte renforcée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3A56"/>
                </a:solidFill>
                <a:latin typeface="Calibri"/>
              </a:rPr>
              <a:t>2 zones : </a:t>
            </a:r>
            <a:r>
              <a:rPr sz="1200" b="0">
                <a:solidFill>
                  <a:srgbClr val="4A5560"/>
                </a:solidFill>
                <a:latin typeface="Calibri"/>
              </a:rPr>
              <a:t>Wamba, Mambasa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Équipes d’intervention rapide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Recherche active des cas porte-à-porte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Listage exhaustif et suivi quotidien des contacts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Prélèvement + EDS de tous les décès communautaires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64592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D9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5564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Priorité 2 — riposte ciblée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6060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3A56"/>
                </a:solidFill>
                <a:latin typeface="Calibri"/>
              </a:rPr>
              <a:t>15 zones : </a:t>
            </a:r>
            <a:r>
              <a:rPr sz="1200" b="0">
                <a:solidFill>
                  <a:srgbClr val="4A5560"/>
                </a:solidFill>
                <a:latin typeface="Calibri"/>
              </a:rPr>
              <a:t>Mabalako, Musienene, Beni, Mandima, Vuhovi, Nizi, Rwampara, Nia Nia, Bambu…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70332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Cibler les aires de santé actives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Investigation rétrograde des cas sans lien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Surveillance renforcée aux limites des zones touchées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19" y="164592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0B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75564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202A"/>
                </a:solidFill>
                <a:latin typeface="Calibri"/>
              </a:rPr>
              <a:t>Priorité 3 — surveillance renforcée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060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3A56"/>
                </a:solidFill>
                <a:latin typeface="Calibri"/>
              </a:rPr>
              <a:t>17 zones : </a:t>
            </a:r>
            <a:r>
              <a:rPr sz="1200" b="0">
                <a:solidFill>
                  <a:srgbClr val="4A5560"/>
                </a:solidFill>
                <a:latin typeface="Calibri"/>
              </a:rPr>
              <a:t>Oicha, Fataki, Butembo, Mangala, Katwa, Lolwa, Mongbwalu, Nyankunde, Pawa…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70332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Surveillance à base communautaire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Préparation (CTE, kits EDS)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B6834"/>
                </a:solidFill>
                <a:latin typeface="Calibri"/>
              </a:rPr>
              <a:t>▪  </a:t>
            </a:r>
            <a:r>
              <a:rPr sz="1250" b="0">
                <a:solidFill>
                  <a:srgbClr val="16202A"/>
                </a:solidFill>
                <a:latin typeface="Calibri"/>
              </a:rPr>
              <a:t>Sensibilisation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Calibri"/>
              </a:rPr>
              <a:t>LIMITES ET PROCHAINES ÉTAPES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A56"/>
                </a:solidFill>
                <a:latin typeface="Calibri"/>
              </a:rPr>
              <a:t>Limites : des lacunes de données qui peuvent masquer une partie de la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Question : Où et comment concentrer les ressources de la riposte au cours des 14 prochains jours pour interrompre les chaînes de transmission résiduelles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49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4948"/>
                </a:solidFill>
                <a:latin typeface="Calibri"/>
              </a:rPr>
              <a:t>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83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Organisateur des funérailles renseigné pour 4,5 % des décès seulement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Admissions en CTE peu saisies : 6 392 confirmés sans admission enregistrée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Écart SitRep – Linelist : 8 914 contre 8 780 cas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Pas de population par zone : incidence par habitant non calculable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Les 2 dernières semaines sont incomplètes (délai médian de notification : 5 jours)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Prochaines étapes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983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Compléter la Linelist (funérailles, admissions CTE) chaque jour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Réconcilier SitRep et Linelist chaque semaine par zone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Fournir un fichier de population par zone de santé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EB6834"/>
                </a:solidFill>
                <a:latin typeface="Calibri"/>
              </a:rPr>
              <a:t>▪  </a:t>
            </a:r>
            <a:r>
              <a:rPr sz="1350" b="0">
                <a:solidFill>
                  <a:srgbClr val="16202A"/>
                </a:solidFill>
                <a:latin typeface="Calibri"/>
              </a:rPr>
              <a:t>Réévaluer les priorités à chaque nouveau SitRep (automatique)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ADCFC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Concentrer les 14 prochains jours sur 17 zones et sur le suivi des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07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B6834"/>
                </a:solidFill>
                <a:latin typeface="Calibri"/>
              </a:rPr>
              <a:t>▪  </a:t>
            </a:r>
            <a:r>
              <a:rPr sz="1800" b="0">
                <a:solidFill>
                  <a:srgbClr val="FFFFFF"/>
                </a:solidFill>
                <a:latin typeface="Calibri"/>
              </a:rPr>
              <a:t>Priorité 1 : Wamba, Mambasa — riposte renforcée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B6834"/>
                </a:solidFill>
                <a:latin typeface="Calibri"/>
              </a:rPr>
              <a:t>▪  </a:t>
            </a:r>
            <a:r>
              <a:rPr sz="1800" b="0">
                <a:solidFill>
                  <a:srgbClr val="FFFFFF"/>
                </a:solidFill>
                <a:latin typeface="Calibri"/>
              </a:rPr>
              <a:t>Priorité 2 : 15 zones — riposte ciblée sur les aires actives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B6834"/>
                </a:solidFill>
                <a:latin typeface="Calibri"/>
              </a:rPr>
              <a:t>▪  </a:t>
            </a:r>
            <a:r>
              <a:rPr sz="1800" b="0">
                <a:solidFill>
                  <a:srgbClr val="FFFFFF"/>
                </a:solidFill>
                <a:latin typeface="Calibri"/>
              </a:rPr>
              <a:t>Retrouver 780 contacts perdus de vue et investiguer chaque cas sans lien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B6834"/>
                </a:solidFill>
                <a:latin typeface="Calibri"/>
              </a:rPr>
              <a:t>▪  </a:t>
            </a:r>
            <a:r>
              <a:rPr sz="1800" b="0">
                <a:solidFill>
                  <a:srgbClr val="FFFFFF"/>
                </a:solidFill>
                <a:latin typeface="Calibri"/>
              </a:rPr>
              <a:t>Prélever et enterrer de façon digne et sécurisée tous les décès communautaires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Ebola Outbreak Analytics Hub · situation au 10 oct. 2026 · généré automatiquement — à valider avant diffusion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Où concentrer la riposte Ebola au cours des 14 prochains jours ?</dc:title>
  <dc:subject/>
  <dc:creator>Ebola Outbreak Analytics Hub — UMIE–INRB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