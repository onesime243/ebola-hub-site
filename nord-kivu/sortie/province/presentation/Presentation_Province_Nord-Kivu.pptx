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hebdomadaire des cas confirmés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Vivants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Sheet1!$A$2:$A$25</c:f>
              <c:strCache>
                <c:ptCount val="24"/>
                <c:pt idx="0">
                  <c:v>SE20</c:v>
                </c:pt>
                <c:pt idx="1">
                  <c:v>SE21</c:v>
                </c:pt>
                <c:pt idx="2">
                  <c:v>SE22</c:v>
                </c:pt>
                <c:pt idx="3">
                  <c:v>SE23</c:v>
                </c:pt>
                <c:pt idx="4">
                  <c:v>SE24</c:v>
                </c:pt>
                <c:pt idx="5">
                  <c:v>SE25</c:v>
                </c:pt>
                <c:pt idx="6">
                  <c:v>SE26</c:v>
                </c:pt>
                <c:pt idx="7">
                  <c:v>SE27</c:v>
                </c:pt>
                <c:pt idx="8">
                  <c:v>SE28</c:v>
                </c:pt>
                <c:pt idx="9">
                  <c:v>SE29</c:v>
                </c:pt>
                <c:pt idx="10">
                  <c:v>SE30</c:v>
                </c:pt>
                <c:pt idx="11">
                  <c:v>SE31</c:v>
                </c:pt>
                <c:pt idx="12">
                  <c:v>SE32</c:v>
                </c:pt>
                <c:pt idx="13">
                  <c:v>SE33</c:v>
                </c:pt>
                <c:pt idx="14">
                  <c:v>SE34</c:v>
                </c:pt>
                <c:pt idx="15">
                  <c:v>SE35</c:v>
                </c:pt>
                <c:pt idx="16">
                  <c:v>SE36</c:v>
                </c:pt>
                <c:pt idx="17">
                  <c:v>SE37</c:v>
                </c:pt>
                <c:pt idx="18">
                  <c:v>SE38</c:v>
                </c:pt>
                <c:pt idx="19">
                  <c:v>SE39</c:v>
                </c:pt>
                <c:pt idx="20">
                  <c:v>SE40</c:v>
                </c:pt>
                <c:pt idx="21">
                  <c:v>SE41</c:v>
                </c:pt>
                <c:pt idx="22">
                  <c:v>SE42</c:v>
                </c:pt>
                <c:pt idx="23">
                  <c:v>SE43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1.0</c:v>
                </c:pt>
                <c:pt idx="1">
                  <c:v>3.0</c:v>
                </c:pt>
                <c:pt idx="2">
                  <c:v>2.0</c:v>
                </c:pt>
                <c:pt idx="3">
                  <c:v>4.0</c:v>
                </c:pt>
                <c:pt idx="4">
                  <c:v>10.0</c:v>
                </c:pt>
                <c:pt idx="5">
                  <c:v>11.0</c:v>
                </c:pt>
                <c:pt idx="6">
                  <c:v>6.0</c:v>
                </c:pt>
                <c:pt idx="7">
                  <c:v>11.0</c:v>
                </c:pt>
                <c:pt idx="8">
                  <c:v>10.0</c:v>
                </c:pt>
                <c:pt idx="9">
                  <c:v>5.0</c:v>
                </c:pt>
                <c:pt idx="10">
                  <c:v>18.0</c:v>
                </c:pt>
                <c:pt idx="11">
                  <c:v>23.0</c:v>
                </c:pt>
                <c:pt idx="12">
                  <c:v>21.0</c:v>
                </c:pt>
                <c:pt idx="13">
                  <c:v>28.0</c:v>
                </c:pt>
                <c:pt idx="14">
                  <c:v>20.0</c:v>
                </c:pt>
                <c:pt idx="15">
                  <c:v>22.0</c:v>
                </c:pt>
                <c:pt idx="16">
                  <c:v>58.0</c:v>
                </c:pt>
                <c:pt idx="17">
                  <c:v>93.0</c:v>
                </c:pt>
                <c:pt idx="18">
                  <c:v>68.0</c:v>
                </c:pt>
                <c:pt idx="19">
                  <c:v>48.0</c:v>
                </c:pt>
                <c:pt idx="20">
                  <c:v>78.0</c:v>
                </c:pt>
                <c:pt idx="21">
                  <c:v>123.0</c:v>
                </c:pt>
                <c:pt idx="22">
                  <c:v>147.0</c:v>
                </c:pt>
                <c:pt idx="23">
                  <c:v>150.0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Sheet1!$A$2:$A$25</c:f>
              <c:strCache>
                <c:ptCount val="24"/>
                <c:pt idx="0">
                  <c:v>SE20</c:v>
                </c:pt>
                <c:pt idx="1">
                  <c:v>SE21</c:v>
                </c:pt>
                <c:pt idx="2">
                  <c:v>SE22</c:v>
                </c:pt>
                <c:pt idx="3">
                  <c:v>SE23</c:v>
                </c:pt>
                <c:pt idx="4">
                  <c:v>SE24</c:v>
                </c:pt>
                <c:pt idx="5">
                  <c:v>SE25</c:v>
                </c:pt>
                <c:pt idx="6">
                  <c:v>SE26</c:v>
                </c:pt>
                <c:pt idx="7">
                  <c:v>SE27</c:v>
                </c:pt>
                <c:pt idx="8">
                  <c:v>SE28</c:v>
                </c:pt>
                <c:pt idx="9">
                  <c:v>SE29</c:v>
                </c:pt>
                <c:pt idx="10">
                  <c:v>SE30</c:v>
                </c:pt>
                <c:pt idx="11">
                  <c:v>SE31</c:v>
                </c:pt>
                <c:pt idx="12">
                  <c:v>SE32</c:v>
                </c:pt>
                <c:pt idx="13">
                  <c:v>SE33</c:v>
                </c:pt>
                <c:pt idx="14">
                  <c:v>SE34</c:v>
                </c:pt>
                <c:pt idx="15">
                  <c:v>SE35</c:v>
                </c:pt>
                <c:pt idx="16">
                  <c:v>SE36</c:v>
                </c:pt>
                <c:pt idx="17">
                  <c:v>SE37</c:v>
                </c:pt>
                <c:pt idx="18">
                  <c:v>SE38</c:v>
                </c:pt>
                <c:pt idx="19">
                  <c:v>SE39</c:v>
                </c:pt>
                <c:pt idx="20">
                  <c:v>SE40</c:v>
                </c:pt>
                <c:pt idx="21">
                  <c:v>SE41</c:v>
                </c:pt>
                <c:pt idx="22">
                  <c:v>SE42</c:v>
                </c:pt>
                <c:pt idx="23">
                  <c:v>SE43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0.0</c:v>
                </c:pt>
                <c:pt idx="1">
                  <c:v>7.0</c:v>
                </c:pt>
                <c:pt idx="2">
                  <c:v>6.0</c:v>
                </c:pt>
                <c:pt idx="3">
                  <c:v>9.0</c:v>
                </c:pt>
                <c:pt idx="4">
                  <c:v>22.0</c:v>
                </c:pt>
                <c:pt idx="5">
                  <c:v>16.0</c:v>
                </c:pt>
                <c:pt idx="6">
                  <c:v>9.0</c:v>
                </c:pt>
                <c:pt idx="7">
                  <c:v>25.0</c:v>
                </c:pt>
                <c:pt idx="8">
                  <c:v>23.0</c:v>
                </c:pt>
                <c:pt idx="9">
                  <c:v>52.0</c:v>
                </c:pt>
                <c:pt idx="10">
                  <c:v>58.0</c:v>
                </c:pt>
                <c:pt idx="11">
                  <c:v>74.0</c:v>
                </c:pt>
                <c:pt idx="12">
                  <c:v>59.0</c:v>
                </c:pt>
                <c:pt idx="13">
                  <c:v>80.0</c:v>
                </c:pt>
                <c:pt idx="14">
                  <c:v>92.0</c:v>
                </c:pt>
                <c:pt idx="15">
                  <c:v>83.0</c:v>
                </c:pt>
                <c:pt idx="16">
                  <c:v>131.0</c:v>
                </c:pt>
                <c:pt idx="17">
                  <c:v>151.0</c:v>
                </c:pt>
                <c:pt idx="18">
                  <c:v>103.0</c:v>
                </c:pt>
                <c:pt idx="19">
                  <c:v>69.0</c:v>
                </c:pt>
                <c:pt idx="20">
                  <c:v>111.0</c:v>
                </c:pt>
                <c:pt idx="21">
                  <c:v>86.0</c:v>
                </c:pt>
                <c:pt idx="22">
                  <c:v>95.0</c:v>
                </c:pt>
                <c:pt idx="23">
                  <c:v>102.0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Répartition des 63 nouveaux cas par zone de santé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Vivants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Sheet1!$A$2:$A$9</c:f>
              <c:strCache>
                <c:ptCount val="8"/>
                <c:pt idx="0">
                  <c:v>Beni</c:v>
                </c:pt>
                <c:pt idx="1">
                  <c:v>Oicha</c:v>
                </c:pt>
                <c:pt idx="2">
                  <c:v>Butembo</c:v>
                </c:pt>
                <c:pt idx="3">
                  <c:v>Lubero</c:v>
                </c:pt>
                <c:pt idx="4">
                  <c:v>Katwa</c:v>
                </c:pt>
                <c:pt idx="5">
                  <c:v>Mabalako</c:v>
                </c:pt>
                <c:pt idx="6">
                  <c:v>Mutwanga</c:v>
                </c:pt>
                <c:pt idx="7">
                  <c:v>Musienene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20.0</c:v>
                </c:pt>
                <c:pt idx="1">
                  <c:v>7.0</c:v>
                </c:pt>
                <c:pt idx="2">
                  <c:v>2.0</c:v>
                </c:pt>
                <c:pt idx="3">
                  <c:v>4.0</c:v>
                </c:pt>
                <c:pt idx="4">
                  <c:v>0.0</c:v>
                </c:pt>
                <c:pt idx="5">
                  <c:v>2.0</c:v>
                </c:pt>
                <c:pt idx="6">
                  <c:v>1.0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Sheet1!$A$2:$A$9</c:f>
              <c:strCache>
                <c:ptCount val="8"/>
                <c:pt idx="0">
                  <c:v>Beni</c:v>
                </c:pt>
                <c:pt idx="1">
                  <c:v>Oicha</c:v>
                </c:pt>
                <c:pt idx="2">
                  <c:v>Butembo</c:v>
                </c:pt>
                <c:pt idx="3">
                  <c:v>Lubero</c:v>
                </c:pt>
                <c:pt idx="4">
                  <c:v>Katwa</c:v>
                </c:pt>
                <c:pt idx="5">
                  <c:v>Mabalako</c:v>
                </c:pt>
                <c:pt idx="6">
                  <c:v>Mutwanga</c:v>
                </c:pt>
                <c:pt idx="7">
                  <c:v>Musienene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20.0</c:v>
                </c:pt>
                <c:pt idx="1">
                  <c:v>1.0</c:v>
                </c:pt>
                <c:pt idx="2">
                  <c:v>2.0</c:v>
                </c:pt>
                <c:pt idx="3">
                  <c:v>0.0</c:v>
                </c:pt>
                <c:pt idx="4">
                  <c:v>2.0</c:v>
                </c:pt>
                <c:pt idx="5">
                  <c:v>0.0</c:v>
                </c:pt>
                <c:pt idx="6">
                  <c:v>1.0</c:v>
                </c:pt>
                <c:pt idx="7">
                  <c:v>1.0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Nombre de jours sans nouveau cas confirmé par zone de santé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Jours sans cas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27AE60"/>
              </a:solidFill>
            </c:spPr>
          </c:dPt>
          <c:dPt>
            <c:idx val="1"/>
            <c:spPr>
              <a:solidFill>
                <a:srgbClr val="E67E22"/>
              </a:solidFill>
            </c:spPr>
          </c:dPt>
          <c:dPt>
            <c:idx val="2"/>
            <c:spPr>
              <a:solidFill>
                <a:srgbClr val="E67E22"/>
              </a:solidFill>
            </c:spPr>
          </c:dPt>
          <c:dPt>
            <c:idx val="3"/>
            <c:spPr>
              <a:solidFill>
                <a:srgbClr val="E67E22"/>
              </a:solidFill>
            </c:spPr>
          </c:dPt>
          <c:dPt>
            <c:idx val="4"/>
            <c:spPr>
              <a:solidFill>
                <a:srgbClr val="E67E22"/>
              </a:solidFill>
            </c:spPr>
          </c:dPt>
          <c:dPt>
            <c:idx val="5"/>
            <c:spPr>
              <a:solidFill>
                <a:srgbClr val="E67E22"/>
              </a:solidFill>
            </c:spPr>
          </c:dPt>
          <c:dPt>
            <c:idx val="6"/>
            <c:spPr>
              <a:solidFill>
                <a:srgbClr val="E67E22"/>
              </a:solidFill>
            </c:spPr>
          </c:dPt>
          <c:dPt>
            <c:idx val="7"/>
            <c:spPr>
              <a:solidFill>
                <a:srgbClr val="E67E22"/>
              </a:solidFill>
            </c:spPr>
          </c:dPt>
          <c:dPt>
            <c:idx val="8"/>
            <c:spPr>
              <a:solidFill>
                <a:srgbClr val="E67E22"/>
              </a:solidFill>
            </c:spPr>
          </c:dPt>
          <c:dPt>
            <c:idx val="9"/>
            <c:spPr>
              <a:solidFill>
                <a:srgbClr val="C0392B"/>
              </a:solidFill>
            </c:spPr>
          </c:dPt>
          <c:dPt>
            <c:idx val="10"/>
            <c:spPr>
              <a:solidFill>
                <a:srgbClr val="C0392B"/>
              </a:solidFill>
            </c:spPr>
          </c:dPt>
          <c:dPt>
            <c:idx val="11"/>
            <c:spPr>
              <a:solidFill>
                <a:srgbClr val="C0392B"/>
              </a:solidFill>
            </c:spPr>
          </c:dPt>
          <c:dPt>
            <c:idx val="12"/>
            <c:spPr>
              <a:solidFill>
                <a:srgbClr val="C0392B"/>
              </a:solidFill>
            </c:spPr>
          </c:dPt>
          <c:dPt>
            <c:idx val="13"/>
            <c:spPr>
              <a:solidFill>
                <a:srgbClr val="C0392B"/>
              </a:solidFill>
            </c:spPr>
          </c:dPt>
          <c:dPt>
            <c:idx val="14"/>
            <c:spPr>
              <a:solidFill>
                <a:srgbClr val="C0392B"/>
              </a:solidFill>
            </c:spPr>
          </c:dPt>
          <c:dPt>
            <c:idx val="15"/>
            <c:spPr>
              <a:solidFill>
                <a:srgbClr val="C0392B"/>
              </a:solidFill>
            </c:spPr>
          </c:dPt>
          <c:dPt>
            <c:idx val="16"/>
            <c:spPr>
              <a:solidFill>
                <a:srgbClr val="C0392B"/>
              </a:solidFill>
            </c:spPr>
          </c:dPt>
          <c:cat>
            <c:strRef>
              <c:f>Sheet1!$A$2:$A$18</c:f>
              <c:strCache>
                <c:ptCount val="17"/>
                <c:pt idx="0">
                  <c:v>Goma</c:v>
                </c:pt>
                <c:pt idx="1">
                  <c:v>Alimbongo</c:v>
                </c:pt>
                <c:pt idx="2">
                  <c:v>Kayna</c:v>
                </c:pt>
                <c:pt idx="3">
                  <c:v>Biena</c:v>
                </c:pt>
                <c:pt idx="4">
                  <c:v>Masereka</c:v>
                </c:pt>
                <c:pt idx="5">
                  <c:v>Manguredjipa</c:v>
                </c:pt>
                <c:pt idx="6">
                  <c:v>Kyondo</c:v>
                </c:pt>
                <c:pt idx="7">
                  <c:v>Kalunguta</c:v>
                </c:pt>
                <c:pt idx="8">
                  <c:v>Vuhovi</c:v>
                </c:pt>
                <c:pt idx="9">
                  <c:v>Katwa</c:v>
                </c:pt>
                <c:pt idx="10">
                  <c:v>Beni</c:v>
                </c:pt>
                <c:pt idx="11">
                  <c:v>Lubero</c:v>
                </c:pt>
                <c:pt idx="12">
                  <c:v>Mabalako</c:v>
                </c:pt>
                <c:pt idx="13">
                  <c:v>Butembo</c:v>
                </c:pt>
                <c:pt idx="14">
                  <c:v>Musienene</c:v>
                </c:pt>
                <c:pt idx="15">
                  <c:v>Mutwanga</c:v>
                </c:pt>
                <c:pt idx="16">
                  <c:v>Oicha</c:v>
                </c:pt>
              </c:strCache>
            </c: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162.0</c:v>
                </c:pt>
                <c:pt idx="1">
                  <c:v>12.0</c:v>
                </c:pt>
                <c:pt idx="2">
                  <c:v>12.0</c:v>
                </c:pt>
                <c:pt idx="3">
                  <c:v>7.0</c:v>
                </c:pt>
                <c:pt idx="4">
                  <c:v>7.0</c:v>
                </c:pt>
                <c:pt idx="5">
                  <c:v>7.0</c:v>
                </c:pt>
                <c:pt idx="6">
                  <c:v>1.0</c:v>
                </c:pt>
                <c:pt idx="7">
                  <c:v>1.0</c:v>
                </c:pt>
                <c:pt idx="8">
                  <c:v>1.0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du jour, 1 577 alertes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16A085"/>
              </a:solidFill>
            </c:spPr>
          </c:dPt>
          <c:dPt>
            <c:idx val="2"/>
            <c:spPr>
              <a:solidFill>
                <a:srgbClr val="E67E22"/>
              </a:solidFill>
            </c:spPr>
          </c:dPt>
          <c:dPt>
            <c:idx val="3"/>
            <c:spPr>
              <a:solidFill>
                <a:srgbClr val="8E44AD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ESS / FOSA / recherche passive</c:v>
                </c:pt>
                <c:pt idx="1">
                  <c:v>Communauté / SBC</c:v>
                </c:pt>
                <c:pt idx="2">
                  <c:v>Recherche active (RA)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480.0</c:v>
                </c:pt>
                <c:pt idx="1">
                  <c:v>571.0</c:v>
                </c:pt>
                <c:pt idx="2">
                  <c:v>520.0</c:v>
                </c:pt>
                <c:pt idx="3">
                  <c:v>6.0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Alertes du jour et alertes validées par zone de santé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Sheet1!$A$2:$A$16</c:f>
              <c:strCache>
                <c:ptCount val="15"/>
                <c:pt idx="0">
                  <c:v>Beni</c:v>
                </c:pt>
                <c:pt idx="1">
                  <c:v>Oicha</c:v>
                </c:pt>
                <c:pt idx="2">
                  <c:v>Musienene</c:v>
                </c:pt>
                <c:pt idx="3">
                  <c:v>Butembo</c:v>
                </c:pt>
                <c:pt idx="4">
                  <c:v>Kalunguta</c:v>
                </c:pt>
                <c:pt idx="5">
                  <c:v>Kyondo</c:v>
                </c:pt>
                <c:pt idx="6">
                  <c:v>Vuhovi</c:v>
                </c:pt>
                <c:pt idx="7">
                  <c:v>Mabalako</c:v>
                </c:pt>
                <c:pt idx="8">
                  <c:v>Lubero</c:v>
                </c:pt>
                <c:pt idx="9">
                  <c:v>Masereka</c:v>
                </c:pt>
                <c:pt idx="10">
                  <c:v>Mutwanga</c:v>
                </c:pt>
                <c:pt idx="11">
                  <c:v>Rwanguba</c:v>
                </c:pt>
                <c:pt idx="12">
                  <c:v>Karisimbi</c:v>
                </c:pt>
                <c:pt idx="13">
                  <c:v>Nyiragongo</c:v>
                </c:pt>
                <c:pt idx="14">
                  <c:v>Rutshuru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374.0</c:v>
                </c:pt>
                <c:pt idx="1">
                  <c:v>188.0</c:v>
                </c:pt>
                <c:pt idx="2">
                  <c:v>163.0</c:v>
                </c:pt>
                <c:pt idx="3">
                  <c:v>156.0</c:v>
                </c:pt>
                <c:pt idx="4">
                  <c:v>121.0</c:v>
                </c:pt>
                <c:pt idx="5">
                  <c:v>108.0</c:v>
                </c:pt>
                <c:pt idx="6">
                  <c:v>89.0</c:v>
                </c:pt>
                <c:pt idx="7">
                  <c:v>58.0</c:v>
                </c:pt>
                <c:pt idx="8">
                  <c:v>56.0</c:v>
                </c:pt>
                <c:pt idx="9">
                  <c:v>51.0</c:v>
                </c:pt>
                <c:pt idx="10">
                  <c:v>35.0</c:v>
                </c:pt>
                <c:pt idx="11">
                  <c:v>33.0</c:v>
                </c:pt>
                <c:pt idx="12">
                  <c:v>32.0</c:v>
                </c:pt>
                <c:pt idx="13">
                  <c:v>31.0</c:v>
                </c:pt>
                <c:pt idx="14">
                  <c:v>28.0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Validées</c:v>
                </c:pt>
              </c:strCache>
            </c:strRef>
          </c:tx>
          <c:spPr>
            <a:solidFill>
              <a:srgbClr val="E67E22"/>
            </a:solidFill>
          </c:spPr>
          <c:cat>
            <c:strRef>
              <c:f>Sheet1!$A$2:$A$16</c:f>
              <c:strCache>
                <c:ptCount val="15"/>
                <c:pt idx="0">
                  <c:v>Beni</c:v>
                </c:pt>
                <c:pt idx="1">
                  <c:v>Oicha</c:v>
                </c:pt>
                <c:pt idx="2">
                  <c:v>Musienene</c:v>
                </c:pt>
                <c:pt idx="3">
                  <c:v>Butembo</c:v>
                </c:pt>
                <c:pt idx="4">
                  <c:v>Kalunguta</c:v>
                </c:pt>
                <c:pt idx="5">
                  <c:v>Kyondo</c:v>
                </c:pt>
                <c:pt idx="6">
                  <c:v>Vuhovi</c:v>
                </c:pt>
                <c:pt idx="7">
                  <c:v>Mabalako</c:v>
                </c:pt>
                <c:pt idx="8">
                  <c:v>Lubero</c:v>
                </c:pt>
                <c:pt idx="9">
                  <c:v>Masereka</c:v>
                </c:pt>
                <c:pt idx="10">
                  <c:v>Mutwanga</c:v>
                </c:pt>
                <c:pt idx="11">
                  <c:v>Rwanguba</c:v>
                </c:pt>
                <c:pt idx="12">
                  <c:v>Karisimbi</c:v>
                </c:pt>
                <c:pt idx="13">
                  <c:v>Nyiragongo</c:v>
                </c:pt>
                <c:pt idx="14">
                  <c:v>Rutshuru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48.0</c:v>
                </c:pt>
                <c:pt idx="1">
                  <c:v>43.0</c:v>
                </c:pt>
                <c:pt idx="2">
                  <c:v>5.0</c:v>
                </c:pt>
                <c:pt idx="3">
                  <c:v>19.0</c:v>
                </c:pt>
                <c:pt idx="4">
                  <c:v>10.0</c:v>
                </c:pt>
                <c:pt idx="5">
                  <c:v>9.0</c:v>
                </c:pt>
                <c:pt idx="6">
                  <c:v>6.0</c:v>
                </c:pt>
                <c:pt idx="7">
                  <c:v>18.0</c:v>
                </c:pt>
                <c:pt idx="8">
                  <c:v>6.0</c:v>
                </c:pt>
                <c:pt idx="9">
                  <c:v>10.0</c:v>
                </c:pt>
                <c:pt idx="10">
                  <c:v>9.0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sur les 3 derniers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23/10</c:v>
                </c:pt>
              </c:strCache>
            </c:strRef>
          </c:tx>
          <c:spPr>
            <a:solidFill>
              <a:srgbClr val="AEB6BF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355.0</c:v>
                </c:pt>
                <c:pt idx="1">
                  <c:v>803.0</c:v>
                </c:pt>
                <c:pt idx="2">
                  <c:v>941.0</c:v>
                </c:pt>
                <c:pt idx="3">
                  <c:v>2.0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24/10</c:v>
                </c:pt>
              </c:strCache>
            </c:strRef>
          </c:tx>
          <c:spPr>
            <a:solidFill>
              <a:srgbClr val="5D8AA8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627.0</c:v>
                </c:pt>
                <c:pt idx="1">
                  <c:v>379.0</c:v>
                </c:pt>
                <c:pt idx="2">
                  <c:v>433.0</c:v>
                </c:pt>
                <c:pt idx="3">
                  <c:v>110.0</c:v>
                </c:pt>
                <c:pt idx="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25/10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480.0</c:v>
                </c:pt>
                <c:pt idx="1">
                  <c:v>571.0</c:v>
                </c:pt>
                <c:pt idx="2">
                  <c:v>520.0</c:v>
                </c:pt>
                <c:pt idx="3">
                  <c:v>6.0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Raisons de non-suivi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Non vus</c:v>
                </c:pt>
              </c:strCache>
            </c:strRef>
          </c:tx>
          <c:spPr>
            <a:solidFill>
              <a:srgbClr val="C0392B"/>
            </a:solidFill>
          </c:spPr>
          <c:dPt>
            <c:idx val="0"/>
            <c:spPr>
              <a:solidFill>
                <a:srgbClr val="C0392B"/>
              </a:solidFill>
            </c:spPr>
          </c:dPt>
          <c:dPt>
            <c:idx val="1"/>
            <c:spPr>
              <a:solidFill>
                <a:srgbClr val="E67E22"/>
              </a:solidFill>
            </c:spPr>
          </c:dPt>
          <c:dPt>
            <c:idx val="2"/>
            <c:spPr>
              <a:solidFill>
                <a:srgbClr val="922B21"/>
              </a:solidFill>
            </c:spPr>
          </c:dPt>
          <c:dPt>
            <c:idx val="3"/>
            <c:spPr>
              <a:solidFill>
                <a:srgbClr val="8C96A0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Jamais vus</c:v>
                </c:pt>
                <c:pt idx="1">
                  <c:v>Non vus &lt; 48 h (simple absence)</c:v>
                </c:pt>
                <c:pt idx="2">
                  <c:v>Perdus de vue (≥ 72 h)</c:v>
                </c:pt>
                <c:pt idx="3">
                  <c:v>Refus / réticences</c:v>
                </c:pt>
                <c:pt idx="4">
                  <c:v>Déplacés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1873.0</c:v>
                </c:pt>
                <c:pt idx="1">
                  <c:v>873.0</c:v>
                </c:pt>
                <c:pt idx="2">
                  <c:v>345.0</c:v>
                </c:pt>
                <c:pt idx="3">
                  <c:v>15.0</c:v>
                </c:pt>
                <c:pt idx="4">
                  <c:v>21.0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Taux de suivi des contacts (21 derniers jours)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suivi</c:v>
                </c:pt>
              </c:strCache>
            </c:strRef>
          </c:tx>
          <c:spPr>
            <a:ln w="28575">
              <a:solidFill>
                <a:srgbClr val="16A085"/>
              </a:solidFill>
            </a:ln>
          </c:spPr>
          <c:cat>
            <c:strRef>
              <c:f>Sheet1!$A$2:$A$22</c:f>
              <c:strCache>
                <c:ptCount val="21"/>
                <c:pt idx="0">
                  <c:v>05/10</c:v>
                </c:pt>
                <c:pt idx="1">
                  <c:v>06/10</c:v>
                </c:pt>
                <c:pt idx="2">
                  <c:v>07/10</c:v>
                </c:pt>
                <c:pt idx="3">
                  <c:v>08/10</c:v>
                </c:pt>
                <c:pt idx="4">
                  <c:v>09/10</c:v>
                </c:pt>
                <c:pt idx="5">
                  <c:v>10/10</c:v>
                </c:pt>
                <c:pt idx="6">
                  <c:v>11/10</c:v>
                </c:pt>
                <c:pt idx="7">
                  <c:v>12/10</c:v>
                </c:pt>
                <c:pt idx="8">
                  <c:v>13/10</c:v>
                </c:pt>
                <c:pt idx="9">
                  <c:v>14/10</c:v>
                </c:pt>
                <c:pt idx="10">
                  <c:v>15/10</c:v>
                </c:pt>
                <c:pt idx="11">
                  <c:v>16/10</c:v>
                </c:pt>
                <c:pt idx="12">
                  <c:v>17/10</c:v>
                </c:pt>
                <c:pt idx="13">
                  <c:v>18/10</c:v>
                </c:pt>
                <c:pt idx="14">
                  <c:v>19/10</c:v>
                </c:pt>
                <c:pt idx="15">
                  <c:v>20/10</c:v>
                </c:pt>
                <c:pt idx="16">
                  <c:v>21/10</c:v>
                </c:pt>
                <c:pt idx="17">
                  <c:v>22/10</c:v>
                </c:pt>
                <c:pt idx="18">
                  <c:v>23/10</c:v>
                </c:pt>
                <c:pt idx="19">
                  <c:v>24/10</c:v>
                </c:pt>
                <c:pt idx="20">
                  <c:v>25/10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79.3</c:v>
                </c:pt>
                <c:pt idx="1">
                  <c:v>80.2</c:v>
                </c:pt>
                <c:pt idx="2">
                  <c:v>81.1</c:v>
                </c:pt>
                <c:pt idx="3">
                  <c:v>82.4</c:v>
                </c:pt>
                <c:pt idx="4">
                  <c:v>84.1</c:v>
                </c:pt>
                <c:pt idx="5">
                  <c:v>79.8</c:v>
                </c:pt>
                <c:pt idx="6">
                  <c:v>77.8</c:v>
                </c:pt>
                <c:pt idx="7">
                  <c:v>81.2</c:v>
                </c:pt>
                <c:pt idx="8">
                  <c:v>79.2</c:v>
                </c:pt>
                <c:pt idx="9">
                  <c:v>80.3</c:v>
                </c:pt>
                <c:pt idx="10">
                  <c:v>83.8</c:v>
                </c:pt>
                <c:pt idx="11">
                  <c:v>85.7</c:v>
                </c:pt>
                <c:pt idx="12">
                  <c:v>82.2</c:v>
                </c:pt>
                <c:pt idx="13">
                  <c:v>79.8</c:v>
                </c:pt>
                <c:pt idx="14">
                  <c:v>79.7</c:v>
                </c:pt>
                <c:pt idx="15">
                  <c:v>80.2</c:v>
                </c:pt>
                <c:pt idx="16">
                  <c:v>83.0</c:v>
                </c:pt>
                <c:pt idx="17">
                  <c:v>83.3</c:v>
                </c:pt>
                <c:pt idx="18">
                  <c:v>84.2</c:v>
                </c:pt>
                <c:pt idx="19">
                  <c:v>84.1</c:v>
                </c:pt>
                <c:pt idx="20">
                  <c:v>80.4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Taux de suivi des contacts par zone de santé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Taux de suivi</c:v>
                </c:pt>
              </c:strCache>
            </c:strRef>
          </c:tx>
          <c:spPr>
            <a:solidFill>
              <a:srgbClr val="16A085"/>
            </a:solidFill>
          </c:spPr>
          <c:dPt>
            <c:idx val="0"/>
            <c:spPr>
              <a:solidFill>
                <a:srgbClr val="27AE60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27AE60"/>
              </a:solidFill>
            </c:spPr>
          </c:dPt>
          <c:dPt>
            <c:idx val="3"/>
            <c:spPr>
              <a:solidFill>
                <a:srgbClr val="27AE60"/>
              </a:solidFill>
            </c:spPr>
          </c:dPt>
          <c:dPt>
            <c:idx val="4"/>
            <c:spPr>
              <a:solidFill>
                <a:srgbClr val="27AE60"/>
              </a:solidFill>
            </c:spPr>
          </c:dPt>
          <c:dPt>
            <c:idx val="5"/>
            <c:spPr>
              <a:solidFill>
                <a:srgbClr val="27AE60"/>
              </a:solidFill>
            </c:spPr>
          </c:dPt>
          <c:dPt>
            <c:idx val="6"/>
            <c:spPr>
              <a:solidFill>
                <a:srgbClr val="27AE60"/>
              </a:solidFill>
            </c:spPr>
          </c:dPt>
          <c:dPt>
            <c:idx val="7"/>
            <c:spPr>
              <a:solidFill>
                <a:srgbClr val="27AE60"/>
              </a:solidFill>
            </c:spPr>
          </c:dPt>
          <c:dPt>
            <c:idx val="8"/>
            <c:spPr>
              <a:solidFill>
                <a:srgbClr val="E67E22"/>
              </a:solidFill>
            </c:spPr>
          </c:dPt>
          <c:dPt>
            <c:idx val="9"/>
            <c:spPr>
              <a:solidFill>
                <a:srgbClr val="E67E22"/>
              </a:solidFill>
            </c:spPr>
          </c:dPt>
          <c:dPt>
            <c:idx val="10"/>
            <c:spPr>
              <a:solidFill>
                <a:srgbClr val="E67E22"/>
              </a:solidFill>
            </c:spPr>
          </c:dPt>
          <c:dPt>
            <c:idx val="11"/>
            <c:spPr>
              <a:solidFill>
                <a:srgbClr val="C0392B"/>
              </a:solidFill>
            </c:spPr>
          </c:dPt>
          <c:dPt>
            <c:idx val="12"/>
            <c:spPr>
              <a:solidFill>
                <a:srgbClr val="C0392B"/>
              </a:solidFill>
            </c:spPr>
          </c:dPt>
          <c:dPt>
            <c:idx val="13"/>
            <c:spPr>
              <a:solidFill>
                <a:srgbClr val="C0392B"/>
              </a:solidFill>
            </c:spPr>
          </c:dPt>
          <c:cat>
            <c:strRef>
              <c:f>Sheet1!$A$2:$A$15</c:f>
              <c:strCache>
                <c:ptCount val="14"/>
                <c:pt idx="0">
                  <c:v>Manguredjipa</c:v>
                </c:pt>
                <c:pt idx="1">
                  <c:v>Masereka</c:v>
                </c:pt>
                <c:pt idx="2">
                  <c:v>Kyondo</c:v>
                </c:pt>
                <c:pt idx="3">
                  <c:v>Mutwanga</c:v>
                </c:pt>
                <c:pt idx="4">
                  <c:v>Biena</c:v>
                </c:pt>
                <c:pt idx="5">
                  <c:v>Lubero</c:v>
                </c:pt>
                <c:pt idx="6">
                  <c:v>Mabalako</c:v>
                </c:pt>
                <c:pt idx="7">
                  <c:v>Oicha</c:v>
                </c:pt>
                <c:pt idx="8">
                  <c:v>Butembo</c:v>
                </c:pt>
                <c:pt idx="9">
                  <c:v>Alimbongo</c:v>
                </c:pt>
                <c:pt idx="10">
                  <c:v>Musienene</c:v>
                </c:pt>
                <c:pt idx="11">
                  <c:v>Kalunguta</c:v>
                </c:pt>
                <c:pt idx="12">
                  <c:v>Beni</c:v>
                </c:pt>
                <c:pt idx="13">
                  <c:v>Vuhovi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100.0</c:v>
                </c:pt>
                <c:pt idx="1">
                  <c:v>100.0</c:v>
                </c:pt>
                <c:pt idx="2">
                  <c:v>95.5</c:v>
                </c:pt>
                <c:pt idx="3">
                  <c:v>94.6</c:v>
                </c:pt>
                <c:pt idx="4">
                  <c:v>94.4</c:v>
                </c:pt>
                <c:pt idx="5">
                  <c:v>93.7</c:v>
                </c:pt>
                <c:pt idx="6">
                  <c:v>93.6</c:v>
                </c:pt>
                <c:pt idx="7">
                  <c:v>93.2</c:v>
                </c:pt>
                <c:pt idx="8">
                  <c:v>88.1</c:v>
                </c:pt>
                <c:pt idx="9">
                  <c:v>86.9</c:v>
                </c:pt>
                <c:pt idx="10">
                  <c:v>86.5</c:v>
                </c:pt>
                <c:pt idx="11">
                  <c:v>71.8</c:v>
                </c:pt>
                <c:pt idx="12">
                  <c:v>69.6</c:v>
                </c:pt>
                <c:pt idx="13">
                  <c:v>69.5</c:v>
                </c:pt>
              </c:numCache>
            </c:numRef>
          </c:val>
        </c:ser>
        <c:dLbls>
          <c:numFmt formatCode="0&quot; %&quot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Contacts à suivre et vus par zone de santé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À suivre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Sheet1!$A$2:$A$15</c:f>
              <c:strCache>
                <c:ptCount val="14"/>
                <c:pt idx="0">
                  <c:v>Beni</c:v>
                </c:pt>
                <c:pt idx="1">
                  <c:v>Mabalako</c:v>
                </c:pt>
                <c:pt idx="2">
                  <c:v>Mutwanga</c:v>
                </c:pt>
                <c:pt idx="3">
                  <c:v>Oicha</c:v>
                </c:pt>
                <c:pt idx="4">
                  <c:v>Kalunguta</c:v>
                </c:pt>
                <c:pt idx="5">
                  <c:v>Butembo</c:v>
                </c:pt>
                <c:pt idx="6">
                  <c:v>Musienene</c:v>
                </c:pt>
                <c:pt idx="7">
                  <c:v>Vuhovi</c:v>
                </c:pt>
                <c:pt idx="8">
                  <c:v>Lubero</c:v>
                </c:pt>
                <c:pt idx="9">
                  <c:v>Masereka</c:v>
                </c:pt>
                <c:pt idx="10">
                  <c:v>Alimbongo</c:v>
                </c:pt>
                <c:pt idx="11">
                  <c:v>Kyondo</c:v>
                </c:pt>
                <c:pt idx="12">
                  <c:v>Biena</c:v>
                </c:pt>
                <c:pt idx="13">
                  <c:v>Manguredjipa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7193.0</c:v>
                </c:pt>
                <c:pt idx="1">
                  <c:v>1905.0</c:v>
                </c:pt>
                <c:pt idx="2">
                  <c:v>1583.0</c:v>
                </c:pt>
                <c:pt idx="3">
                  <c:v>1177.0</c:v>
                </c:pt>
                <c:pt idx="4">
                  <c:v>924.0</c:v>
                </c:pt>
                <c:pt idx="5">
                  <c:v>869.0</c:v>
                </c:pt>
                <c:pt idx="6">
                  <c:v>710.0</c:v>
                </c:pt>
                <c:pt idx="7">
                  <c:v>691.0</c:v>
                </c:pt>
                <c:pt idx="8">
                  <c:v>428.0</c:v>
                </c:pt>
                <c:pt idx="9">
                  <c:v>296.0</c:v>
                </c:pt>
                <c:pt idx="10">
                  <c:v>244.0</c:v>
                </c:pt>
                <c:pt idx="11">
                  <c:v>179.0</c:v>
                </c:pt>
                <c:pt idx="12">
                  <c:v>143.0</c:v>
                </c:pt>
                <c:pt idx="13">
                  <c:v>71.0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Vus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Sheet1!$A$2:$A$15</c:f>
              <c:strCache>
                <c:ptCount val="14"/>
                <c:pt idx="0">
                  <c:v>Beni</c:v>
                </c:pt>
                <c:pt idx="1">
                  <c:v>Mabalako</c:v>
                </c:pt>
                <c:pt idx="2">
                  <c:v>Mutwanga</c:v>
                </c:pt>
                <c:pt idx="3">
                  <c:v>Oicha</c:v>
                </c:pt>
                <c:pt idx="4">
                  <c:v>Kalunguta</c:v>
                </c:pt>
                <c:pt idx="5">
                  <c:v>Butembo</c:v>
                </c:pt>
                <c:pt idx="6">
                  <c:v>Musienene</c:v>
                </c:pt>
                <c:pt idx="7">
                  <c:v>Vuhovi</c:v>
                </c:pt>
                <c:pt idx="8">
                  <c:v>Lubero</c:v>
                </c:pt>
                <c:pt idx="9">
                  <c:v>Masereka</c:v>
                </c:pt>
                <c:pt idx="10">
                  <c:v>Alimbongo</c:v>
                </c:pt>
                <c:pt idx="11">
                  <c:v>Kyondo</c:v>
                </c:pt>
                <c:pt idx="12">
                  <c:v>Biena</c:v>
                </c:pt>
                <c:pt idx="13">
                  <c:v>Manguredjipa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5006.0</c:v>
                </c:pt>
                <c:pt idx="1">
                  <c:v>1784.0</c:v>
                </c:pt>
                <c:pt idx="2">
                  <c:v>1498.0</c:v>
                </c:pt>
                <c:pt idx="3">
                  <c:v>1097.0</c:v>
                </c:pt>
                <c:pt idx="4">
                  <c:v>663.0</c:v>
                </c:pt>
                <c:pt idx="5">
                  <c:v>766.0</c:v>
                </c:pt>
                <c:pt idx="6">
                  <c:v>614.0</c:v>
                </c:pt>
                <c:pt idx="7">
                  <c:v>480.0</c:v>
                </c:pt>
                <c:pt idx="8">
                  <c:v>401.0</c:v>
                </c:pt>
                <c:pt idx="9">
                  <c:v>296.0</c:v>
                </c:pt>
                <c:pt idx="10">
                  <c:v>212.0</c:v>
                </c:pt>
                <c:pt idx="11">
                  <c:v>171.0</c:v>
                </c:pt>
                <c:pt idx="12">
                  <c:v>135.0</c:v>
                </c:pt>
                <c:pt idx="13">
                  <c:v>71.0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Résultats par zone de santé (7 jours)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Positifs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Sheet1!$A$2:$A$15</c:f>
              <c:strCache>
                <c:ptCount val="14"/>
                <c:pt idx="0">
                  <c:v>Butembo</c:v>
                </c:pt>
                <c:pt idx="1">
                  <c:v>Beni</c:v>
                </c:pt>
                <c:pt idx="2">
                  <c:v>Musienene</c:v>
                </c:pt>
                <c:pt idx="3">
                  <c:v>Katwa</c:v>
                </c:pt>
                <c:pt idx="4">
                  <c:v>Kyondo</c:v>
                </c:pt>
                <c:pt idx="5">
                  <c:v>Kalunguta</c:v>
                </c:pt>
                <c:pt idx="6">
                  <c:v>Vuhovi</c:v>
                </c:pt>
                <c:pt idx="7">
                  <c:v>Manguredjipa</c:v>
                </c:pt>
                <c:pt idx="8">
                  <c:v>Oicha</c:v>
                </c:pt>
                <c:pt idx="9">
                  <c:v>Masereka</c:v>
                </c:pt>
                <c:pt idx="10">
                  <c:v>Lubero</c:v>
                </c:pt>
                <c:pt idx="11">
                  <c:v>Biena</c:v>
                </c:pt>
                <c:pt idx="12">
                  <c:v>Mutwanga</c:v>
                </c:pt>
                <c:pt idx="13">
                  <c:v>Mabalako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17.0</c:v>
                </c:pt>
                <c:pt idx="1">
                  <c:v>17.0</c:v>
                </c:pt>
                <c:pt idx="2">
                  <c:v>0.0</c:v>
                </c:pt>
                <c:pt idx="3">
                  <c:v>12.0</c:v>
                </c:pt>
                <c:pt idx="4">
                  <c:v>1.0</c:v>
                </c:pt>
                <c:pt idx="5">
                  <c:v>6.0</c:v>
                </c:pt>
                <c:pt idx="6">
                  <c:v>7.0</c:v>
                </c:pt>
                <c:pt idx="7">
                  <c:v>2.0</c:v>
                </c:pt>
                <c:pt idx="8">
                  <c:v>5.0</c:v>
                </c:pt>
                <c:pt idx="9">
                  <c:v>3.0</c:v>
                </c:pt>
                <c:pt idx="10">
                  <c:v>3.0</c:v>
                </c:pt>
                <c:pt idx="11">
                  <c:v>0.0</c:v>
                </c:pt>
                <c:pt idx="12">
                  <c:v>1.0</c:v>
                </c:pt>
                <c:pt idx="1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Négatifs</c:v>
                </c:pt>
              </c:strCache>
            </c:strRef>
          </c:tx>
          <c:spPr>
            <a:solidFill>
              <a:srgbClr val="8C96A0"/>
            </a:solidFill>
          </c:spPr>
          <c:cat>
            <c:strRef>
              <c:f>Sheet1!$A$2:$A$15</c:f>
              <c:strCache>
                <c:ptCount val="14"/>
                <c:pt idx="0">
                  <c:v>Butembo</c:v>
                </c:pt>
                <c:pt idx="1">
                  <c:v>Beni</c:v>
                </c:pt>
                <c:pt idx="2">
                  <c:v>Musienene</c:v>
                </c:pt>
                <c:pt idx="3">
                  <c:v>Katwa</c:v>
                </c:pt>
                <c:pt idx="4">
                  <c:v>Kyondo</c:v>
                </c:pt>
                <c:pt idx="5">
                  <c:v>Kalunguta</c:v>
                </c:pt>
                <c:pt idx="6">
                  <c:v>Vuhovi</c:v>
                </c:pt>
                <c:pt idx="7">
                  <c:v>Manguredjipa</c:v>
                </c:pt>
                <c:pt idx="8">
                  <c:v>Oicha</c:v>
                </c:pt>
                <c:pt idx="9">
                  <c:v>Masereka</c:v>
                </c:pt>
                <c:pt idx="10">
                  <c:v>Lubero</c:v>
                </c:pt>
                <c:pt idx="11">
                  <c:v>Biena</c:v>
                </c:pt>
                <c:pt idx="12">
                  <c:v>Mutwanga</c:v>
                </c:pt>
                <c:pt idx="13">
                  <c:v>Mabalako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91.0</c:v>
                </c:pt>
                <c:pt idx="1">
                  <c:v>76.0</c:v>
                </c:pt>
                <c:pt idx="2">
                  <c:v>84.0</c:v>
                </c:pt>
                <c:pt idx="3">
                  <c:v>59.0</c:v>
                </c:pt>
                <c:pt idx="4">
                  <c:v>56.0</c:v>
                </c:pt>
                <c:pt idx="5">
                  <c:v>46.0</c:v>
                </c:pt>
                <c:pt idx="6">
                  <c:v>45.0</c:v>
                </c:pt>
                <c:pt idx="7">
                  <c:v>38.0</c:v>
                </c:pt>
                <c:pt idx="8">
                  <c:v>33.0</c:v>
                </c:pt>
                <c:pt idx="9">
                  <c:v>33.0</c:v>
                </c:pt>
                <c:pt idx="10">
                  <c:v>25.0</c:v>
                </c:pt>
                <c:pt idx="11">
                  <c:v>25.0</c:v>
                </c:pt>
                <c:pt idx="12">
                  <c:v>17.0</c:v>
                </c:pt>
                <c:pt idx="13">
                  <c:v>6.0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Positivité hebdomadaire (12 semaines)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Positivité</c:v>
                </c:pt>
              </c:strCache>
            </c:strRef>
          </c:tx>
          <c:spPr>
            <a:ln w="28575">
              <a:solidFill>
                <a:srgbClr val="C0392B"/>
              </a:solidFill>
            </a:ln>
          </c:spPr>
          <c:cat>
            <c:strRef>
              <c:f>Sheet1!$A$2:$A$13</c:f>
              <c:strCache>
                <c:ptCount val="12"/>
                <c:pt idx="0">
                  <c:v>SE28</c:v>
                </c:pt>
                <c:pt idx="1">
                  <c:v>SE29</c:v>
                </c:pt>
                <c:pt idx="2">
                  <c:v>SE30</c:v>
                </c:pt>
                <c:pt idx="3">
                  <c:v>SE31</c:v>
                </c:pt>
                <c:pt idx="4">
                  <c:v>SE32</c:v>
                </c:pt>
                <c:pt idx="5">
                  <c:v>SE33</c:v>
                </c:pt>
                <c:pt idx="6">
                  <c:v>SE34</c:v>
                </c:pt>
                <c:pt idx="7">
                  <c:v>SE35</c:v>
                </c:pt>
                <c:pt idx="8">
                  <c:v>SE36</c:v>
                </c:pt>
                <c:pt idx="9">
                  <c:v>SE37</c:v>
                </c:pt>
                <c:pt idx="10">
                  <c:v>SE38</c:v>
                </c:pt>
                <c:pt idx="11">
                  <c:v>SE39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6.9</c:v>
                </c:pt>
                <c:pt idx="1">
                  <c:v>8.3</c:v>
                </c:pt>
                <c:pt idx="2">
                  <c:v>10.1</c:v>
                </c:pt>
                <c:pt idx="3">
                  <c:v>12.7</c:v>
                </c:pt>
                <c:pt idx="4">
                  <c:v>10.2</c:v>
                </c:pt>
                <c:pt idx="5">
                  <c:v>14.1</c:v>
                </c:pt>
                <c:pt idx="6">
                  <c:v>13.0</c:v>
                </c:pt>
                <c:pt idx="7">
                  <c:v>13.2</c:v>
                </c:pt>
                <c:pt idx="8">
                  <c:v>19.9</c:v>
                </c:pt>
                <c:pt idx="9">
                  <c:v>21.9</c:v>
                </c:pt>
                <c:pt idx="10">
                  <c:v>14.0</c:v>
                </c:pt>
                <c:pt idx="11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Alertes de décès, EDS réalisés et corps swabés par zone (7 jours)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 de 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Sheet1!$A$2:$A$16</c:f>
              <c:strCache>
                <c:ptCount val="15"/>
                <c:pt idx="0">
                  <c:v>Beni</c:v>
                </c:pt>
                <c:pt idx="1">
                  <c:v>Oicha</c:v>
                </c:pt>
                <c:pt idx="2">
                  <c:v>Butembo</c:v>
                </c:pt>
                <c:pt idx="3">
                  <c:v>Musienene</c:v>
                </c:pt>
                <c:pt idx="4">
                  <c:v>Kayna</c:v>
                </c:pt>
                <c:pt idx="5">
                  <c:v>Kalunguta</c:v>
                </c:pt>
                <c:pt idx="6">
                  <c:v>Mabalako</c:v>
                </c:pt>
                <c:pt idx="7">
                  <c:v>Mutwanga</c:v>
                </c:pt>
                <c:pt idx="8">
                  <c:v>Kyondo</c:v>
                </c:pt>
                <c:pt idx="9">
                  <c:v>Katwa</c:v>
                </c:pt>
                <c:pt idx="10">
                  <c:v>Vuhovi</c:v>
                </c:pt>
                <c:pt idx="11">
                  <c:v>Lubero</c:v>
                </c:pt>
                <c:pt idx="12">
                  <c:v>Biena</c:v>
                </c:pt>
                <c:pt idx="13">
                  <c:v>Masereka</c:v>
                </c:pt>
                <c:pt idx="14">
                  <c:v>Rwanguba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75.0</c:v>
                </c:pt>
                <c:pt idx="1">
                  <c:v>35.0</c:v>
                </c:pt>
                <c:pt idx="2">
                  <c:v>27.0</c:v>
                </c:pt>
                <c:pt idx="3">
                  <c:v>34.0</c:v>
                </c:pt>
                <c:pt idx="4">
                  <c:v>29.0</c:v>
                </c:pt>
                <c:pt idx="5">
                  <c:v>26.0</c:v>
                </c:pt>
                <c:pt idx="6">
                  <c:v>27.0</c:v>
                </c:pt>
                <c:pt idx="7">
                  <c:v>24.0</c:v>
                </c:pt>
                <c:pt idx="8">
                  <c:v>21.0</c:v>
                </c:pt>
                <c:pt idx="9">
                  <c:v>21.0</c:v>
                </c:pt>
                <c:pt idx="10">
                  <c:v>11.0</c:v>
                </c:pt>
                <c:pt idx="11">
                  <c:v>10.0</c:v>
                </c:pt>
                <c:pt idx="12">
                  <c:v>7.0</c:v>
                </c:pt>
                <c:pt idx="13">
                  <c:v>5.0</c:v>
                </c:pt>
                <c:pt idx="14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EDS réalisés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Sheet1!$A$2:$A$16</c:f>
              <c:strCache>
                <c:ptCount val="15"/>
                <c:pt idx="0">
                  <c:v>Beni</c:v>
                </c:pt>
                <c:pt idx="1">
                  <c:v>Oicha</c:v>
                </c:pt>
                <c:pt idx="2">
                  <c:v>Butembo</c:v>
                </c:pt>
                <c:pt idx="3">
                  <c:v>Musienene</c:v>
                </c:pt>
                <c:pt idx="4">
                  <c:v>Kayna</c:v>
                </c:pt>
                <c:pt idx="5">
                  <c:v>Kalunguta</c:v>
                </c:pt>
                <c:pt idx="6">
                  <c:v>Mabalako</c:v>
                </c:pt>
                <c:pt idx="7">
                  <c:v>Mutwanga</c:v>
                </c:pt>
                <c:pt idx="8">
                  <c:v>Kyondo</c:v>
                </c:pt>
                <c:pt idx="9">
                  <c:v>Katwa</c:v>
                </c:pt>
                <c:pt idx="10">
                  <c:v>Vuhovi</c:v>
                </c:pt>
                <c:pt idx="11">
                  <c:v>Lubero</c:v>
                </c:pt>
                <c:pt idx="12">
                  <c:v>Biena</c:v>
                </c:pt>
                <c:pt idx="13">
                  <c:v>Masereka</c:v>
                </c:pt>
                <c:pt idx="14">
                  <c:v>Rwanguba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101.0</c:v>
                </c:pt>
                <c:pt idx="1">
                  <c:v>55.0</c:v>
                </c:pt>
                <c:pt idx="2">
                  <c:v>34.0</c:v>
                </c:pt>
                <c:pt idx="3">
                  <c:v>30.0</c:v>
                </c:pt>
                <c:pt idx="4">
                  <c:v>29.0</c:v>
                </c:pt>
                <c:pt idx="5">
                  <c:v>26.0</c:v>
                </c:pt>
                <c:pt idx="6">
                  <c:v>25.0</c:v>
                </c:pt>
                <c:pt idx="7">
                  <c:v>25.0</c:v>
                </c:pt>
                <c:pt idx="8">
                  <c:v>21.0</c:v>
                </c:pt>
                <c:pt idx="9">
                  <c:v>20.0</c:v>
                </c:pt>
                <c:pt idx="10">
                  <c:v>12.0</c:v>
                </c:pt>
                <c:pt idx="11">
                  <c:v>10.0</c:v>
                </c:pt>
                <c:pt idx="12">
                  <c:v>7.0</c:v>
                </c:pt>
                <c:pt idx="13">
                  <c:v>5.0</c:v>
                </c:pt>
                <c:pt idx="14">
                  <c:v>5.0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Corps swabés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Sheet1!$A$2:$A$16</c:f>
              <c:strCache>
                <c:ptCount val="15"/>
                <c:pt idx="0">
                  <c:v>Beni</c:v>
                </c:pt>
                <c:pt idx="1">
                  <c:v>Oicha</c:v>
                </c:pt>
                <c:pt idx="2">
                  <c:v>Butembo</c:v>
                </c:pt>
                <c:pt idx="3">
                  <c:v>Musienene</c:v>
                </c:pt>
                <c:pt idx="4">
                  <c:v>Kayna</c:v>
                </c:pt>
                <c:pt idx="5">
                  <c:v>Kalunguta</c:v>
                </c:pt>
                <c:pt idx="6">
                  <c:v>Mabalako</c:v>
                </c:pt>
                <c:pt idx="7">
                  <c:v>Mutwanga</c:v>
                </c:pt>
                <c:pt idx="8">
                  <c:v>Kyondo</c:v>
                </c:pt>
                <c:pt idx="9">
                  <c:v>Katwa</c:v>
                </c:pt>
                <c:pt idx="10">
                  <c:v>Vuhovi</c:v>
                </c:pt>
                <c:pt idx="11">
                  <c:v>Lubero</c:v>
                </c:pt>
                <c:pt idx="12">
                  <c:v>Biena</c:v>
                </c:pt>
                <c:pt idx="13">
                  <c:v>Masereka</c:v>
                </c:pt>
                <c:pt idx="14">
                  <c:v>Rwanguba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101.0</c:v>
                </c:pt>
                <c:pt idx="1">
                  <c:v>55.0</c:v>
                </c:pt>
                <c:pt idx="2">
                  <c:v>34.0</c:v>
                </c:pt>
                <c:pt idx="3">
                  <c:v>30.0</c:v>
                </c:pt>
                <c:pt idx="4">
                  <c:v>29.0</c:v>
                </c:pt>
                <c:pt idx="5">
                  <c:v>26.0</c:v>
                </c:pt>
                <c:pt idx="6">
                  <c:v>25.0</c:v>
                </c:pt>
                <c:pt idx="7">
                  <c:v>25.0</c:v>
                </c:pt>
                <c:pt idx="8">
                  <c:v>21.0</c:v>
                </c:pt>
                <c:pt idx="9">
                  <c:v>20.0</c:v>
                </c:pt>
                <c:pt idx="10">
                  <c:v>12.0</c:v>
                </c:pt>
                <c:pt idx="11">
                  <c:v>10.0</c:v>
                </c:pt>
                <c:pt idx="12">
                  <c:v>7.0</c:v>
                </c:pt>
                <c:pt idx="13">
                  <c:v>5.0</c:v>
                </c:pt>
                <c:pt idx="14">
                  <c:v>5.0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7E22"/>
                </a:solidFill>
                <a:latin typeface="Calibri"/>
              </a:rPr>
              <a:t>RIPOSTE À LA MALADIE À VIRUS EBOLA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SITUATION DE LA MVE</a:t>
            </a:r>
          </a:p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AU NORD-KIVU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46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B2631"/>
                </a:solidFill>
                <a:latin typeface="Calibri"/>
              </a:rPr>
              <a:t>Division provinciale de la santé du Nord-Kivu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977639"/>
            <a:ext cx="29260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5D6D7E"/>
                </a:solidFill>
                <a:latin typeface="Calibri"/>
              </a:rPr>
              <a:t>Situation au 25 octobre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989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 la MVE au 25 octobre 2026, Province du Nord-Kivu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CONFIRMÉS (CUMUL)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2 423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depuis le 16 mai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 (CUMUL)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1 463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létalité : 60 %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ZS TOUCHÉES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17/34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50 %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EN 7 JOURS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252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242 les 7 jours précédents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ENFANTS &lt; 5 ANS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522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21,5 % des cas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11548872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20040" y="5943600"/>
            <a:ext cx="11548872" cy="43891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1905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961888"/>
            <a:ext cx="112745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  <a:latin typeface="Calibri"/>
              </a:rPr>
              <a:t>Pic à la SE43 (252 cas) ; létalité hebdomadaire de la dernière semaine complète : 39 %.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épidémiologique du jour,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NOUVEAUX CAS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36 vivants · 27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VIVANTS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21 · M : 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10 · M : 17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ZS AYANT NOTIFIÉ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ce jour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 ZS TOUCHÉE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aucune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11548872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Nombre de jours sans nouveau cas confirmé par zone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7863840" cy="5120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12480" y="1325880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0 JOUR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600200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8 ZS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039112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avec cas confirmé ce jour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2487168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1 À 21 JOURS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61487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8 ZS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200400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transmission récente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3648456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B79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22 À 41 JOURS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922776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B7950B"/>
                </a:solidFill>
                <a:latin typeface="Calibri"/>
              </a:rPr>
              <a:t>0 ZS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361688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vigilance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4809744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≥ 42 JOURS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5084064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1 ZS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5522976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Goma : 162 jours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Répartition des cas confirmés de MVE par zone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Carte_province_categorie_20261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720" y="1234440"/>
            <a:ext cx="7304253" cy="51663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des alertes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NOUVELLES ALERTES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1 305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59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66188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À TRAITER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6188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E75B6"/>
                </a:solidFill>
                <a:latin typeface="Calibri"/>
              </a:rPr>
              <a:t>1 577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6188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nouvelles + 272 en report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2336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INVESTIGUÉES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2336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1 477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2336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93,7 % des alertes à traiter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8483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VALIDÉES (SUSPECTS)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8483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199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8483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13,5 % des investiguées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4632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ACHEMINÉES CT/CTE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04632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103/199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04632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51,8 %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078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PRÉLEVÉES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078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170/199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078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85,4 % des validées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320040" y="2423160"/>
          <a:ext cx="53949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5852160" y="2423160"/>
          <a:ext cx="60167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Tableau comparatif des alertes sur 3 jours, Province du Nord-Kivu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188720"/>
          <a:ext cx="11548872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9774"/>
                <a:gridCol w="2309774"/>
                <a:gridCol w="2309774"/>
                <a:gridCol w="2309774"/>
                <a:gridCol w="2309776"/>
              </a:tblGrid>
              <a:tr h="2240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Indicateur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23/10/2026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24/10/2026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25/10/2026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Évolution (dernier jour / veille)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vivantes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1 085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1 082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1 246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+164 (+15 %)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de décès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44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59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+18 (+44 %)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Report de la veille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972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426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272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−154 (−36 %)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Total des alertes à traiter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2 101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1 549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1 577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+28 (+2 %)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investiguées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1 507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1 291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1 477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+186 (+14 %)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% investiguées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72 %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83 %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94 %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+10 pt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validées (suspects)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239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217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199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−18 (−8 %)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Acheminées au CT/CTE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88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126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−23 (−18 %)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Prélevées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155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183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170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−13 (−7 %)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EDS réalisés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67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57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67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+10 (+18 %)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Corps swabés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+10 (+18 %)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ESS / FOSA / recherche passive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355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627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480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−147 (−23 %)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Communauté / SBC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803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379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571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+192 (+51 %)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Recherche active (RA)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941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433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520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+87 (+20 %)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PoE / PoC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110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−104 (−95 %)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Contacts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Réticents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−7 (−21 %)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Sources des alertes par zone de santé, situation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188720"/>
          <a:ext cx="7498079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1154"/>
                <a:gridCol w="1071154"/>
                <a:gridCol w="1071154"/>
                <a:gridCol w="1071154"/>
                <a:gridCol w="1071154"/>
                <a:gridCol w="1071154"/>
                <a:gridCol w="1071155"/>
              </a:tblGrid>
              <a:tr h="228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ZS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Alertes à traiter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ESS / FOSA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Communauté / SBC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Recherche active (RA)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PoE / PoC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Contacts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50" b="0"/>
                        <a:t>Beni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374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231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50" b="0"/>
                        <a:t>Oicha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188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17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160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50" b="0"/>
                        <a:t>Musienene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163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50" b="0"/>
                        <a:t>Butembo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156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48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28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50" b="0"/>
                        <a:t>Kalunguta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121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50" b="0"/>
                        <a:t>Kyondo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108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67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50" b="0"/>
                        <a:t>Vuhovi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50" b="0"/>
                        <a:t>Mabalako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58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50" b="0"/>
                        <a:t>Lubero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50" b="0"/>
                        <a:t>Masereka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50" b="0"/>
                        <a:t>Mutwanga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50" b="0"/>
                        <a:t>Rwanguba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50" b="0"/>
                        <a:t>Karisimbi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50" b="0"/>
                        <a:t>Nyiragongo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50" b="0"/>
                        <a:t>Rutshuru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50" b="0"/>
                        <a:t>Birambizo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50" b="0"/>
                        <a:t>Biena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50" b="0"/>
                        <a:t>Manguredjipa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50" b="0"/>
                        <a:t>Kayna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50" b="0"/>
                        <a:t>Alimbongo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50" b="1"/>
                        <a:t>TOTAL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/>
                        <a:t>1 577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/>
                        <a:t>480 (30 %)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/>
                        <a:t>571 (36 %)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/>
                        <a:t>520 (33 %)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/>
                        <a:t>6 (0 %)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/>
                        <a:t>0 (0 %)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8001000" y="1188720"/>
          <a:ext cx="3867912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3. Suivi des contacts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du suivi des contacts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À SUIVRE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16 413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611 nouveaux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13 194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contacts vus ce jour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TAUX DE SUIVI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80 %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cible ≥ 90 %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NON VUS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3 219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1 873 jamais vus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DEVENUS SUSPECTS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904 sortis au 21e jour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576072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6172200" y="2423160"/>
          <a:ext cx="569671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3. Suivi des contacts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Suivi des contacts par zone de santé, situation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10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5669280" cy="5120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72200" y="1234440"/>
          <a:ext cx="5696712" cy="5120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3. Suivi des contacts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Tableau détaillé du suivi des contacts par ZS, situation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34440"/>
          <a:ext cx="11548872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2406"/>
                <a:gridCol w="962406"/>
                <a:gridCol w="962406"/>
                <a:gridCol w="962406"/>
                <a:gridCol w="962406"/>
                <a:gridCol w="962406"/>
                <a:gridCol w="962406"/>
                <a:gridCol w="962406"/>
                <a:gridCol w="962406"/>
                <a:gridCol w="962406"/>
                <a:gridCol w="962406"/>
                <a:gridCol w="962406"/>
              </a:tblGrid>
              <a:tr h="24688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ZS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À suivre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Vus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Taux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Nouveaux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Sortis 21 j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Devenus suspects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Jamais vus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Absence &lt; 48 h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Perdus de vue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Refus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Déplacés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850" b="0"/>
                        <a:t>Beni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7 193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5 006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70 %</a:t>
                      </a:r>
                    </a:p>
                  </a:txBody>
                  <a:tcPr marT="18288" marB="18288">
                    <a:solidFill>
                      <a:srgbClr val="FADB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428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297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1 766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133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269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850" b="0"/>
                        <a:t>Mabalako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1 905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1 784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94 %</a:t>
                      </a:r>
                    </a:p>
                  </a:txBody>
                  <a:tcPr marT="18288" marB="18288"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850" b="0"/>
                        <a:t>Mutwanga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1 583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1 498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95 %</a:t>
                      </a:r>
                    </a:p>
                  </a:txBody>
                  <a:tcPr marT="18288" marB="18288"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850" b="0"/>
                        <a:t>Oicha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1 177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1 097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93 %</a:t>
                      </a:r>
                    </a:p>
                  </a:txBody>
                  <a:tcPr marT="18288" marB="18288"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69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28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850" b="0"/>
                        <a:t>Kalunguta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924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663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72 %</a:t>
                      </a:r>
                    </a:p>
                  </a:txBody>
                  <a:tcPr marT="18288" marB="18288">
                    <a:solidFill>
                      <a:srgbClr val="FADB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218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850" b="0"/>
                        <a:t>Butembo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869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766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88 %</a:t>
                      </a:r>
                    </a:p>
                  </a:txBody>
                  <a:tcPr marT="18288" marB="18288"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850" b="0"/>
                        <a:t>Musienene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710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614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86 %</a:t>
                      </a:r>
                    </a:p>
                  </a:txBody>
                  <a:tcPr marT="18288" marB="18288"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850" b="0"/>
                        <a:t>Vuhovi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691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480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69 %</a:t>
                      </a:r>
                    </a:p>
                  </a:txBody>
                  <a:tcPr marT="18288" marB="18288">
                    <a:solidFill>
                      <a:srgbClr val="FADB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313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211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850" b="0"/>
                        <a:t>Lubero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428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401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94 %</a:t>
                      </a:r>
                    </a:p>
                  </a:txBody>
                  <a:tcPr marT="18288" marB="18288"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850" b="0"/>
                        <a:t>Masereka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296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296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850" b="0"/>
                        <a:t>Alimbongo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244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212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87 %</a:t>
                      </a:r>
                    </a:p>
                  </a:txBody>
                  <a:tcPr marT="18288" marB="18288"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850" b="0"/>
                        <a:t>Kyondo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179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171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96 %</a:t>
                      </a:r>
                    </a:p>
                  </a:txBody>
                  <a:tcPr marT="18288" marB="18288"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850" b="0"/>
                        <a:t>Biena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143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135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94 %</a:t>
                      </a:r>
                    </a:p>
                  </a:txBody>
                  <a:tcPr marT="18288" marB="18288"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850" b="0"/>
                        <a:t>Manguredjipa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850" b="1"/>
                        <a:t>TOTAL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/>
                        <a:t>16 413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/>
                        <a:t>13 194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/>
                        <a:t>80 %</a:t>
                      </a:r>
                    </a:p>
                  </a:txBody>
                  <a:tcPr marT="18288" marB="18288"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/>
                        <a:t>611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/>
                        <a:t>904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/>
                        <a:t>30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/>
                        <a:t>1 873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/>
                        <a:t>873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/>
                        <a:t>345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/>
                        <a:t>15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/>
                        <a:t>21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5. Laboratoire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Laboratoire, situation au 25 octobre 2026 (derniers résultats saisis : 24 septembre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ÉCHANTILLONS ANALYSÉS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708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 au 24/09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9262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POSITIFS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9262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74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9262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10,5 %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8484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POST-MORTEM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8484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23/180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8484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12,8 %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77706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RE-PRÉLÈVEMENTS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7706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7706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sur la période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320040" y="2423160"/>
          <a:ext cx="67665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7223760" y="2423160"/>
          <a:ext cx="46451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9. Enterrements dignes et sécurisés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Décès communautaires, EDS et prélèvements, situation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DE DÉCÈS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365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8712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EDS RÉALISÉS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8712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413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8712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7384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CORPS SWABÉS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7384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413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7384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113,2 % des décès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20040" y="2423160"/>
          <a:ext cx="11548872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