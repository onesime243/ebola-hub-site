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Évolution hebdomadaire des cas confirmés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Vivants</c:v>
                </c:pt>
              </c:strCache>
            </c:strRef>
          </c:tx>
          <c:spPr>
            <a:solidFill>
              <a:srgbClr val="2E75B6"/>
            </a:solidFill>
          </c:spPr>
          <c:cat>
            <c:strRef>
              <c:f>Sheet1!$A$2:$A$10</c:f>
              <c:strCache>
                <c:ptCount val="9"/>
                <c:pt idx="0">
                  <c:v>SE35</c:v>
                </c:pt>
                <c:pt idx="1">
                  <c:v>SE36</c:v>
                </c:pt>
                <c:pt idx="2">
                  <c:v>SE37</c:v>
                </c:pt>
                <c:pt idx="3">
                  <c:v>SE38</c:v>
                </c:pt>
                <c:pt idx="4">
                  <c:v>SE39</c:v>
                </c:pt>
                <c:pt idx="5">
                  <c:v>SE40</c:v>
                </c:pt>
                <c:pt idx="6">
                  <c:v>SE41</c:v>
                </c:pt>
                <c:pt idx="7">
                  <c:v>SE42</c:v>
                </c:pt>
                <c:pt idx="8">
                  <c:v>SE43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1.0</c:v>
                </c:pt>
                <c:pt idx="1">
                  <c:v>0.0</c:v>
                </c:pt>
                <c:pt idx="2">
                  <c:v>4.0</c:v>
                </c:pt>
                <c:pt idx="3">
                  <c:v>2.0</c:v>
                </c:pt>
                <c:pt idx="4">
                  <c:v>2.0</c:v>
                </c:pt>
                <c:pt idx="5">
                  <c:v>0.0</c:v>
                </c:pt>
                <c:pt idx="6">
                  <c:v>2.0</c:v>
                </c:pt>
                <c:pt idx="7">
                  <c:v>1.0</c:v>
                </c:pt>
                <c:pt idx="8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Décès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Sheet1!$A$2:$A$10</c:f>
              <c:strCache>
                <c:ptCount val="9"/>
                <c:pt idx="0">
                  <c:v>SE35</c:v>
                </c:pt>
                <c:pt idx="1">
                  <c:v>SE36</c:v>
                </c:pt>
                <c:pt idx="2">
                  <c:v>SE37</c:v>
                </c:pt>
                <c:pt idx="3">
                  <c:v>SE38</c:v>
                </c:pt>
                <c:pt idx="4">
                  <c:v>SE39</c:v>
                </c:pt>
                <c:pt idx="5">
                  <c:v>SE40</c:v>
                </c:pt>
                <c:pt idx="6">
                  <c:v>SE41</c:v>
                </c:pt>
                <c:pt idx="7">
                  <c:v>SE42</c:v>
                </c:pt>
                <c:pt idx="8">
                  <c:v>SE43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0.0</c:v>
                </c:pt>
                <c:pt idx="1">
                  <c:v>2.0</c:v>
                </c:pt>
                <c:pt idx="2">
                  <c:v>1.0</c:v>
                </c:pt>
                <c:pt idx="3">
                  <c:v>1.0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Nombre de jours sans nouveau cas confirmé par aire de santé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Jours sans cas</c:v>
                </c:pt>
              </c:strCache>
            </c:strRef>
          </c:tx>
          <c:spPr>
            <a:solidFill>
              <a:srgbClr val="1F3864"/>
            </a:solidFill>
          </c:spPr>
          <c:dPt>
            <c:idx val="0"/>
            <c:spPr>
              <a:solidFill>
                <a:srgbClr val="27AE60"/>
              </a:solidFill>
            </c:spPr>
          </c:dPt>
          <c:dPt>
            <c:idx val="1"/>
            <c:spPr>
              <a:solidFill>
                <a:srgbClr val="F1C40F"/>
              </a:solidFill>
            </c:spPr>
          </c:dPt>
          <c:dPt>
            <c:idx val="2"/>
            <c:spPr>
              <a:solidFill>
                <a:srgbClr val="E67E22"/>
              </a:solidFill>
            </c:spPr>
          </c:dPt>
          <c:cat>
            <c:strRef>
              <c:f>Sheet1!$A$2:$A$4</c:f>
              <c:strCache>
                <c:ptCount val="3"/>
                <c:pt idx="0">
                  <c:v>Manguredjipa</c:v>
                </c:pt>
                <c:pt idx="1">
                  <c:v>Kambau</c:v>
                </c:pt>
                <c:pt idx="2">
                  <c:v>Malunguma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45.0</c:v>
                </c:pt>
                <c:pt idx="1">
                  <c:v>35.0</c:v>
                </c:pt>
                <c:pt idx="2">
                  <c:v>7.0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Sources des alertes du jour, 8 alertes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Alertes</c:v>
                </c:pt>
              </c:strCache>
            </c:strRef>
          </c:tx>
          <c:spPr>
            <a:solidFill>
              <a:srgbClr val="1F3864"/>
            </a:solidFill>
          </c:spPr>
          <c:dPt>
            <c:idx val="0"/>
            <c:spPr>
              <a:solidFill>
                <a:srgbClr val="1F3864"/>
              </a:solidFill>
            </c:spPr>
          </c:dPt>
          <c:dPt>
            <c:idx val="1"/>
            <c:spPr>
              <a:solidFill>
                <a:srgbClr val="16A085"/>
              </a:solidFill>
            </c:spPr>
          </c:dPt>
          <c:dPt>
            <c:idx val="2"/>
            <c:spPr>
              <a:solidFill>
                <a:srgbClr val="E67E22"/>
              </a:solidFill>
            </c:spPr>
          </c:dPt>
          <c:dPt>
            <c:idx val="3"/>
            <c:spPr>
              <a:solidFill>
                <a:srgbClr val="8E44AD"/>
              </a:solidFill>
            </c:spPr>
          </c:dPt>
          <c:dPt>
            <c:idx val="4"/>
            <c:spPr>
              <a:solidFill>
                <a:srgbClr val="2E75B6"/>
              </a:solidFill>
            </c:spPr>
          </c:dPt>
          <c:cat>
            <c:strRef>
              <c:f>Sheet1!$A$2:$A$6</c:f>
              <c:strCache>
                <c:ptCount val="5"/>
                <c:pt idx="0">
                  <c:v>ESS / FOSA / recherche passive</c:v>
                </c:pt>
                <c:pt idx="1">
                  <c:v>Communauté / SBC</c:v>
                </c:pt>
                <c:pt idx="2">
                  <c:v>Recherche active (RA)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6.0</c:v>
                </c:pt>
                <c:pt idx="1">
                  <c:v>0.0</c:v>
                </c:pt>
                <c:pt idx="2">
                  <c:v>2.0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Évolution des alertes sur 14 jours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Alertes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Sheet1!$A$2:$A$10</c:f>
              <c:strCache>
                <c:ptCount val="9"/>
                <c:pt idx="0">
                  <c:v>14/10</c:v>
                </c:pt>
                <c:pt idx="1">
                  <c:v>15/10</c:v>
                </c:pt>
                <c:pt idx="2">
                  <c:v>16/10</c:v>
                </c:pt>
                <c:pt idx="3">
                  <c:v>18/10</c:v>
                </c:pt>
                <c:pt idx="4">
                  <c:v>19/10</c:v>
                </c:pt>
                <c:pt idx="5">
                  <c:v>20/10</c:v>
                </c:pt>
                <c:pt idx="6">
                  <c:v>22/10</c:v>
                </c:pt>
                <c:pt idx="7">
                  <c:v>24/10</c:v>
                </c:pt>
                <c:pt idx="8">
                  <c:v>25/10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15.0</c:v>
                </c:pt>
                <c:pt idx="1">
                  <c:v>12.0</c:v>
                </c:pt>
                <c:pt idx="2">
                  <c:v>11.0</c:v>
                </c:pt>
                <c:pt idx="3">
                  <c:v>38.0</c:v>
                </c:pt>
                <c:pt idx="4">
                  <c:v>19.0</c:v>
                </c:pt>
                <c:pt idx="5">
                  <c:v>16.0</c:v>
                </c:pt>
                <c:pt idx="6">
                  <c:v>39.0</c:v>
                </c:pt>
                <c:pt idx="7">
                  <c:v>15.0</c:v>
                </c:pt>
                <c:pt idx="8">
                  <c:v>8.0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Investiguées</c:v>
                </c:pt>
              </c:strCache>
            </c:strRef>
          </c:tx>
          <c:spPr>
            <a:solidFill>
              <a:srgbClr val="16A085"/>
            </a:solidFill>
          </c:spPr>
          <c:cat>
            <c:strRef>
              <c:f>Sheet1!$A$2:$A$10</c:f>
              <c:strCache>
                <c:ptCount val="9"/>
                <c:pt idx="0">
                  <c:v>14/10</c:v>
                </c:pt>
                <c:pt idx="1">
                  <c:v>15/10</c:v>
                </c:pt>
                <c:pt idx="2">
                  <c:v>16/10</c:v>
                </c:pt>
                <c:pt idx="3">
                  <c:v>18/10</c:v>
                </c:pt>
                <c:pt idx="4">
                  <c:v>19/10</c:v>
                </c:pt>
                <c:pt idx="5">
                  <c:v>20/10</c:v>
                </c:pt>
                <c:pt idx="6">
                  <c:v>22/10</c:v>
                </c:pt>
                <c:pt idx="7">
                  <c:v>24/10</c:v>
                </c:pt>
                <c:pt idx="8">
                  <c:v>25/10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15.0</c:v>
                </c:pt>
                <c:pt idx="1">
                  <c:v>12.0</c:v>
                </c:pt>
                <c:pt idx="2">
                  <c:v>11.0</c:v>
                </c:pt>
                <c:pt idx="3">
                  <c:v>40.0</c:v>
                </c:pt>
                <c:pt idx="4">
                  <c:v>19.0</c:v>
                </c:pt>
                <c:pt idx="5">
                  <c:v>16.0</c:v>
                </c:pt>
                <c:pt idx="6">
                  <c:v>39.0</c:v>
                </c:pt>
                <c:pt idx="7">
                  <c:v>0.0</c:v>
                </c:pt>
                <c:pt idx="8">
                  <c:v>8.0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Validées</c:v>
                </c:pt>
              </c:strCache>
            </c:strRef>
          </c:tx>
          <c:spPr>
            <a:solidFill>
              <a:srgbClr val="E67E22"/>
            </a:solidFill>
          </c:spPr>
          <c:cat>
            <c:strRef>
              <c:f>Sheet1!$A$2:$A$10</c:f>
              <c:strCache>
                <c:ptCount val="9"/>
                <c:pt idx="0">
                  <c:v>14/10</c:v>
                </c:pt>
                <c:pt idx="1">
                  <c:v>15/10</c:v>
                </c:pt>
                <c:pt idx="2">
                  <c:v>16/10</c:v>
                </c:pt>
                <c:pt idx="3">
                  <c:v>18/10</c:v>
                </c:pt>
                <c:pt idx="4">
                  <c:v>19/10</c:v>
                </c:pt>
                <c:pt idx="5">
                  <c:v>20/10</c:v>
                </c:pt>
                <c:pt idx="6">
                  <c:v>22/10</c:v>
                </c:pt>
                <c:pt idx="7">
                  <c:v>24/10</c:v>
                </c:pt>
                <c:pt idx="8">
                  <c:v>25/10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15.0</c:v>
                </c:pt>
                <c:pt idx="1">
                  <c:v>9.0</c:v>
                </c:pt>
                <c:pt idx="2">
                  <c:v>6.0</c:v>
                </c:pt>
                <c:pt idx="3">
                  <c:v>8.0</c:v>
                </c:pt>
                <c:pt idx="4">
                  <c:v>15.0</c:v>
                </c:pt>
                <c:pt idx="5">
                  <c:v>10.0</c:v>
                </c:pt>
                <c:pt idx="6">
                  <c:v>25.0</c:v>
                </c:pt>
                <c:pt idx="7">
                  <c:v>11.0</c:v>
                </c:pt>
                <c:pt idx="8">
                  <c:v>7.0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Sources des alertes sur les 3 derniers jours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22/10</c:v>
                </c:pt>
              </c:strCache>
            </c:strRef>
          </c:tx>
          <c:spPr>
            <a:solidFill>
              <a:srgbClr val="AEB6BF"/>
            </a:solidFill>
          </c:spPr>
          <c:cat>
            <c:strRef>
              <c:f>Sheet1!$A$2:$A$6</c:f>
              <c:strCache>
                <c:ptCount val="5"/>
                <c:pt idx="0">
                  <c:v>ESS / FOSA</c:v>
                </c:pt>
                <c:pt idx="1">
                  <c:v>Communauté / SBC</c:v>
                </c:pt>
                <c:pt idx="2">
                  <c:v>Recherche active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19.0</c:v>
                </c:pt>
                <c:pt idx="1">
                  <c:v>12.0</c:v>
                </c:pt>
                <c:pt idx="2">
                  <c:v>8.0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24/10</c:v>
                </c:pt>
              </c:strCache>
            </c:strRef>
          </c:tx>
          <c:spPr>
            <a:solidFill>
              <a:srgbClr val="5D8AA8"/>
            </a:solidFill>
          </c:spPr>
          <c:cat>
            <c:strRef>
              <c:f>Sheet1!$A$2:$A$6</c:f>
              <c:strCache>
                <c:ptCount val="5"/>
                <c:pt idx="0">
                  <c:v>ESS / FOSA</c:v>
                </c:pt>
                <c:pt idx="1">
                  <c:v>Communauté / SBC</c:v>
                </c:pt>
                <c:pt idx="2">
                  <c:v>Recherche active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10.0</c:v>
                </c:pt>
                <c:pt idx="1">
                  <c:v>3.0</c:v>
                </c:pt>
                <c:pt idx="2">
                  <c:v>2.0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25/10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Sheet1!$A$2:$A$6</c:f>
              <c:strCache>
                <c:ptCount val="5"/>
                <c:pt idx="0">
                  <c:v>ESS / FOSA</c:v>
                </c:pt>
                <c:pt idx="1">
                  <c:v>Communauté / SBC</c:v>
                </c:pt>
                <c:pt idx="2">
                  <c:v>Recherche active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6.0</c:v>
                </c:pt>
                <c:pt idx="1">
                  <c:v>0.0</c:v>
                </c:pt>
                <c:pt idx="2">
                  <c:v>2.0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Raisons de non-suivi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Non vus</c:v>
                </c:pt>
              </c:strCache>
            </c:strRef>
          </c:tx>
          <c:spPr>
            <a:solidFill>
              <a:srgbClr val="C0392B"/>
            </a:solidFill>
          </c:spPr>
          <c:dPt>
            <c:idx val="0"/>
            <c:spPr>
              <a:solidFill>
                <a:srgbClr val="C0392B"/>
              </a:solidFill>
            </c:spPr>
          </c:dPt>
          <c:dPt>
            <c:idx val="1"/>
            <c:spPr>
              <a:solidFill>
                <a:srgbClr val="E67E22"/>
              </a:solidFill>
            </c:spPr>
          </c:dPt>
          <c:dPt>
            <c:idx val="2"/>
            <c:spPr>
              <a:solidFill>
                <a:srgbClr val="922B21"/>
              </a:solidFill>
            </c:spPr>
          </c:dPt>
          <c:dPt>
            <c:idx val="3"/>
            <c:spPr>
              <a:solidFill>
                <a:srgbClr val="8C96A0"/>
              </a:solidFill>
            </c:spPr>
          </c:dPt>
          <c:dPt>
            <c:idx val="4"/>
            <c:spPr>
              <a:solidFill>
                <a:srgbClr val="2E75B6"/>
              </a:solidFill>
            </c:spPr>
          </c:dPt>
          <c:cat>
            <c:strRef>
              <c:f>Sheet1!$A$2:$A$6</c:f>
              <c:strCache>
                <c:ptCount val="5"/>
                <c:pt idx="0">
                  <c:v>Jamais vus</c:v>
                </c:pt>
                <c:pt idx="1">
                  <c:v>Non vus &lt; 48 h (simple absence)</c:v>
                </c:pt>
                <c:pt idx="2">
                  <c:v>Perdus de vue (≥ 72 h)</c:v>
                </c:pt>
                <c:pt idx="3">
                  <c:v>Refus / réticences</c:v>
                </c:pt>
                <c:pt idx="4">
                  <c:v>Déplacés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Taux de suivi des contacts (21 derniers jours)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Taux de suivi</c:v>
                </c:pt>
              </c:strCache>
            </c:strRef>
          </c:tx>
          <c:spPr>
            <a:ln w="28575">
              <a:solidFill>
                <a:srgbClr val="16A085"/>
              </a:solidFill>
            </a:ln>
          </c:spPr>
          <c:cat>
            <c:strRef>
              <c:f>Sheet1!$A$2:$A$18</c:f>
              <c:strCache>
                <c:ptCount val="17"/>
                <c:pt idx="0">
                  <c:v>05/10</c:v>
                </c:pt>
                <c:pt idx="1">
                  <c:v>06/10</c:v>
                </c:pt>
                <c:pt idx="2">
                  <c:v>07/10</c:v>
                </c:pt>
                <c:pt idx="3">
                  <c:v>08/10</c:v>
                </c:pt>
                <c:pt idx="4">
                  <c:v>09/10</c:v>
                </c:pt>
                <c:pt idx="5">
                  <c:v>10/10</c:v>
                </c:pt>
                <c:pt idx="6">
                  <c:v>13/10</c:v>
                </c:pt>
                <c:pt idx="7">
                  <c:v>14/10</c:v>
                </c:pt>
                <c:pt idx="8">
                  <c:v>15/10</c:v>
                </c:pt>
                <c:pt idx="9">
                  <c:v>16/10</c:v>
                </c:pt>
                <c:pt idx="10">
                  <c:v>18/10</c:v>
                </c:pt>
                <c:pt idx="11">
                  <c:v>19/10</c:v>
                </c:pt>
                <c:pt idx="12">
                  <c:v>20/10</c:v>
                </c:pt>
                <c:pt idx="13">
                  <c:v>21/10</c:v>
                </c:pt>
                <c:pt idx="14">
                  <c:v>22/10</c:v>
                </c:pt>
                <c:pt idx="15">
                  <c:v>23/10</c:v>
                </c:pt>
                <c:pt idx="16">
                  <c:v>25/10</c:v>
                </c:pt>
              </c:strCache>
            </c: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99.5</c:v>
                </c:pt>
                <c:pt idx="1">
                  <c:v>100.0</c:v>
                </c:pt>
                <c:pt idx="2">
                  <c:v>100.0</c:v>
                </c:pt>
                <c:pt idx="3">
                  <c:v>100.0</c:v>
                </c:pt>
                <c:pt idx="4">
                  <c:v>100.0</c:v>
                </c:pt>
                <c:pt idx="5">
                  <c:v>100.0</c:v>
                </c:pt>
                <c:pt idx="6">
                  <c:v>96.5</c:v>
                </c:pt>
                <c:pt idx="7">
                  <c:v>92.5</c:v>
                </c:pt>
                <c:pt idx="8">
                  <c:v>94.3</c:v>
                </c:pt>
                <c:pt idx="9">
                  <c:v>94.3</c:v>
                </c:pt>
                <c:pt idx="10">
                  <c:v>78.6</c:v>
                </c:pt>
                <c:pt idx="11">
                  <c:v>100.0</c:v>
                </c:pt>
                <c:pt idx="12">
                  <c:v>100.0</c:v>
                </c:pt>
                <c:pt idx="13">
                  <c:v>100.0</c:v>
                </c:pt>
                <c:pt idx="14">
                  <c:v>100.0</c:v>
                </c:pt>
                <c:pt idx="15">
                  <c:v>100.0</c:v>
                </c:pt>
                <c:pt idx="16">
                  <c:v>100.0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numFmt formatCode="0&quot; %&quot;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Résultats par jour (14 jours)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Positifs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Sheet1!$A$2:$A$14</c:f>
              <c:strCache>
                <c:ptCount val="13"/>
                <c:pt idx="0">
                  <c:v>09/09</c:v>
                </c:pt>
                <c:pt idx="1">
                  <c:v>10/09</c:v>
                </c:pt>
                <c:pt idx="2">
                  <c:v>11/09</c:v>
                </c:pt>
                <c:pt idx="3">
                  <c:v>12/09</c:v>
                </c:pt>
                <c:pt idx="4">
                  <c:v>13/09</c:v>
                </c:pt>
                <c:pt idx="5">
                  <c:v>15/09</c:v>
                </c:pt>
                <c:pt idx="6">
                  <c:v>16/09</c:v>
                </c:pt>
                <c:pt idx="7">
                  <c:v>17/09</c:v>
                </c:pt>
                <c:pt idx="8">
                  <c:v>18/09</c:v>
                </c:pt>
                <c:pt idx="9">
                  <c:v>19/09</c:v>
                </c:pt>
                <c:pt idx="10">
                  <c:v>20/09</c:v>
                </c:pt>
                <c:pt idx="11">
                  <c:v>21/09</c:v>
                </c:pt>
                <c:pt idx="12">
                  <c:v>22/09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1.0</c:v>
                </c:pt>
                <c:pt idx="1">
                  <c:v>0.0</c:v>
                </c:pt>
                <c:pt idx="2">
                  <c:v>0.0</c:v>
                </c:pt>
                <c:pt idx="3">
                  <c:v>1.0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1.0</c:v>
                </c:pt>
                <c:pt idx="8">
                  <c:v>0.0</c:v>
                </c:pt>
                <c:pt idx="9">
                  <c:v>0.0</c:v>
                </c:pt>
                <c:pt idx="10">
                  <c:v>1.0</c:v>
                </c:pt>
                <c:pt idx="11">
                  <c:v>1.0</c:v>
                </c:pt>
                <c:pt idx="1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Négatifs</c:v>
                </c:pt>
              </c:strCache>
            </c:strRef>
          </c:tx>
          <c:spPr>
            <a:solidFill>
              <a:srgbClr val="8C96A0"/>
            </a:solidFill>
          </c:spPr>
          <c:cat>
            <c:strRef>
              <c:f>Sheet1!$A$2:$A$14</c:f>
              <c:strCache>
                <c:ptCount val="13"/>
                <c:pt idx="0">
                  <c:v>09/09</c:v>
                </c:pt>
                <c:pt idx="1">
                  <c:v>10/09</c:v>
                </c:pt>
                <c:pt idx="2">
                  <c:v>11/09</c:v>
                </c:pt>
                <c:pt idx="3">
                  <c:v>12/09</c:v>
                </c:pt>
                <c:pt idx="4">
                  <c:v>13/09</c:v>
                </c:pt>
                <c:pt idx="5">
                  <c:v>15/09</c:v>
                </c:pt>
                <c:pt idx="6">
                  <c:v>16/09</c:v>
                </c:pt>
                <c:pt idx="7">
                  <c:v>17/09</c:v>
                </c:pt>
                <c:pt idx="8">
                  <c:v>18/09</c:v>
                </c:pt>
                <c:pt idx="9">
                  <c:v>19/09</c:v>
                </c:pt>
                <c:pt idx="10">
                  <c:v>20/09</c:v>
                </c:pt>
                <c:pt idx="11">
                  <c:v>21/09</c:v>
                </c:pt>
                <c:pt idx="12">
                  <c:v>22/09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1.0</c:v>
                </c:pt>
                <c:pt idx="1">
                  <c:v>1.0</c:v>
                </c:pt>
                <c:pt idx="2">
                  <c:v>2.0</c:v>
                </c:pt>
                <c:pt idx="3">
                  <c:v>2.0</c:v>
                </c:pt>
                <c:pt idx="4">
                  <c:v>4.0</c:v>
                </c:pt>
                <c:pt idx="5">
                  <c:v>4.0</c:v>
                </c:pt>
                <c:pt idx="6">
                  <c:v>11.0</c:v>
                </c:pt>
                <c:pt idx="7">
                  <c:v>8.0</c:v>
                </c:pt>
                <c:pt idx="8">
                  <c:v>5.0</c:v>
                </c:pt>
                <c:pt idx="9">
                  <c:v>4.0</c:v>
                </c:pt>
                <c:pt idx="10">
                  <c:v>1.0</c:v>
                </c:pt>
                <c:pt idx="11">
                  <c:v>17.0</c:v>
                </c:pt>
                <c:pt idx="12">
                  <c:v>11.0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Positivité hebdomadaire (12 semaines)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Positivité</c:v>
                </c:pt>
              </c:strCache>
            </c:strRef>
          </c:tx>
          <c:spPr>
            <a:ln w="28575">
              <a:solidFill>
                <a:srgbClr val="C0392B"/>
              </a:solidFill>
            </a:ln>
          </c:spPr>
          <c:cat>
            <c:strRef>
              <c:f>Sheet1!$A$2:$A$11</c:f>
              <c:strCache>
                <c:ptCount val="10"/>
                <c:pt idx="0">
                  <c:v>SE20</c:v>
                </c:pt>
                <c:pt idx="1">
                  <c:v>SE22</c:v>
                </c:pt>
                <c:pt idx="2">
                  <c:v>SE24</c:v>
                </c:pt>
                <c:pt idx="3">
                  <c:v>SE25</c:v>
                </c:pt>
                <c:pt idx="4">
                  <c:v>SE26</c:v>
                </c:pt>
                <c:pt idx="5">
                  <c:v>SE35</c:v>
                </c:pt>
                <c:pt idx="6">
                  <c:v>SE36</c:v>
                </c:pt>
                <c:pt idx="7">
                  <c:v>SE37</c:v>
                </c:pt>
                <c:pt idx="8">
                  <c:v>SE38</c:v>
                </c:pt>
                <c:pt idx="9">
                  <c:v>SE39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25.0</c:v>
                </c:pt>
                <c:pt idx="6">
                  <c:v>57.1</c:v>
                </c:pt>
                <c:pt idx="7">
                  <c:v>26.3</c:v>
                </c:pt>
                <c:pt idx="8">
                  <c:v>5.7</c:v>
                </c:pt>
                <c:pt idx="9">
                  <c:v>3.4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80.0"/>
          <c:min val="0.0"/>
        </c:scaling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numFmt formatCode="0&quot; %&quot;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Alertes de décès, EDS et swabs (7 jours)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Alertes de décès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Sheet1!$A$2:$A$6</c:f>
              <c:strCache>
                <c:ptCount val="5"/>
                <c:pt idx="0">
                  <c:v>19/10</c:v>
                </c:pt>
                <c:pt idx="1">
                  <c:v>20/10</c:v>
                </c:pt>
                <c:pt idx="2">
                  <c:v>22/10</c:v>
                </c:pt>
                <c:pt idx="3">
                  <c:v>24/10</c:v>
                </c:pt>
                <c:pt idx="4">
                  <c:v>25/10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EDS réalisés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Sheet1!$A$2:$A$6</c:f>
              <c:strCache>
                <c:ptCount val="5"/>
                <c:pt idx="0">
                  <c:v>19/10</c:v>
                </c:pt>
                <c:pt idx="1">
                  <c:v>20/10</c:v>
                </c:pt>
                <c:pt idx="2">
                  <c:v>22/10</c:v>
                </c:pt>
                <c:pt idx="3">
                  <c:v>24/10</c:v>
                </c:pt>
                <c:pt idx="4">
                  <c:v>25/10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2.0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Corps swabés</c:v>
                </c:pt>
              </c:strCache>
            </c:strRef>
          </c:tx>
          <c:spPr>
            <a:solidFill>
              <a:srgbClr val="16A085"/>
            </a:solidFill>
          </c:spPr>
          <c:cat>
            <c:strRef>
              <c:f>Sheet1!$A$2:$A$6</c:f>
              <c:strCache>
                <c:ptCount val="5"/>
                <c:pt idx="0">
                  <c:v>19/10</c:v>
                </c:pt>
                <c:pt idx="1">
                  <c:v>20/10</c:v>
                </c:pt>
                <c:pt idx="2">
                  <c:v>22/10</c:v>
                </c:pt>
                <c:pt idx="3">
                  <c:v>24/10</c:v>
                </c:pt>
                <c:pt idx="4">
                  <c:v>25/10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2.0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Relationship Id="rId3" Type="http://schemas.openxmlformats.org/officeDocument/2006/relationships/chart" Target="../charts/char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0"/>
            <a:ext cx="73152" cy="68580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1887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67E22"/>
                </a:solidFill>
                <a:latin typeface="Calibri"/>
              </a:rPr>
              <a:t>RIPOSTE À LA MALADIE À VIRUS EBOLA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i="0">
                <a:solidFill>
                  <a:srgbClr val="1F3864"/>
                </a:solidFill>
                <a:latin typeface="Calibri"/>
              </a:rPr>
              <a:t>SITUATION DE LA MVE</a:t>
            </a:r>
          </a:p>
          <a:p>
            <a:pPr algn="l"/>
            <a:r>
              <a:rPr sz="4000" b="1" i="0">
                <a:solidFill>
                  <a:srgbClr val="1F3864"/>
                </a:solidFill>
                <a:latin typeface="Calibri"/>
              </a:rPr>
              <a:t>ZS MANGUREDJIPA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461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1B2631"/>
                </a:solidFill>
                <a:latin typeface="Calibri"/>
              </a:rPr>
              <a:t>Zone de santé de Manguredjipa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3977639"/>
            <a:ext cx="29260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2062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5D6D7E"/>
                </a:solidFill>
                <a:latin typeface="Calibri"/>
              </a:rPr>
              <a:t>Situation au 25 octobre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9893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de la MVE au 25 octobre 2026, Zone de santé de Manguredjipa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CAS CONFIRMÉS (CUMUL)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depuis le 26 août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5417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DÉCÈS CONFIRMÉS (CUMUL)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5417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5417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létalité : 25 %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0795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AS TOUCHÉES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0795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0795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aires de santé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6172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CAS EN 7 JOURS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6172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6172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1 les 7 jours précédents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6155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ENFANTS &lt; 5 ANS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6155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6155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12,5 % des cas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320040" y="2423160"/>
          <a:ext cx="11548872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320040" y="5943600"/>
            <a:ext cx="11548872" cy="438912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1905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5961888"/>
            <a:ext cx="11274552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1B2631"/>
                </a:solidFill>
                <a:latin typeface="Calibri"/>
              </a:rPr>
              <a:t>Pic à la SE37 (5 cas) ; létalité hebdomadaire de la dernière semaine complète : 0 %.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épidémiologique du jour,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NOUVEAUX CAS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0 vivants · 0 décès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5417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VIVANTS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5417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5417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F : 0 · M : 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0795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DÉCÈS CONFIRMÉS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0795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0795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F : 0 · M : 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6172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AS AYANT NOTIFIÉ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6172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6172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ce jour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6155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NOUVELLE AS TOUCHÉE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6155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7AE60"/>
                </a:solidFill>
                <a:latin typeface="Calibri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6155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aucune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20040" y="2926080"/>
            <a:ext cx="11548872" cy="438912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1905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2944368"/>
            <a:ext cx="11274552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1B2631"/>
                </a:solidFill>
                <a:latin typeface="Calibri"/>
              </a:rPr>
              <a:t>Aucun cas confirmé notifié le 25 octobre 2026.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Nombre de jours sans nouveau cas confirmé par aire de santé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4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20040" y="1234440"/>
          <a:ext cx="7863840" cy="51206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412480" y="1325880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0" y="1325880"/>
            <a:ext cx="3456432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1325880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0 JOUR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1600200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0 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039112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avec cas confirmé ce jour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2487168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80" y="2487168"/>
            <a:ext cx="3456432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2487168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1 À 21 JOURS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761487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1 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200400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transmission récente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3648456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B79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12480" y="3648456"/>
            <a:ext cx="3456432" cy="274320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3648456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22 À 41 JOURS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922776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B7950B"/>
                </a:solidFill>
                <a:latin typeface="Calibri"/>
              </a:rPr>
              <a:t>1 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4361688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vigilance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4809744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12480" y="4809744"/>
            <a:ext cx="3456432" cy="2743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0" y="4809744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≥ 42 JOURS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5084064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7AE60"/>
                </a:solidFill>
                <a:latin typeface="Calibri"/>
              </a:rPr>
              <a:t>1 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5522976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Manguredjipa : 45 jours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Répartition des cas confirmés de MVE par aire de santé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5</a:t>
            </a:r>
          </a:p>
        </p:txBody>
      </p:sp>
      <p:pic>
        <p:nvPicPr>
          <p:cNvPr id="7" name="Picture 6" descr="Carte_categorie_20261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3720" y="1234440"/>
            <a:ext cx="7304253" cy="51663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2.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des alertes au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1818132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NOUVELLES ALERTES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dont 2 décès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66188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66188" y="1261872"/>
            <a:ext cx="1818132" cy="2743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66188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ALERTES À TRAITER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66188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E75B6"/>
                </a:solidFill>
                <a:latin typeface="Calibri"/>
              </a:rPr>
              <a:t>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6188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nouvelles + 0 en report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12336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12336" y="1261872"/>
            <a:ext cx="1818132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12336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INVESTIGUÉES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12336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12336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100,0 % des alertes à traiter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58483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58483" y="1261872"/>
            <a:ext cx="1818132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58483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VALIDÉES (SUSPECTS)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8483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58483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87,5 % des investiguées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04632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04632" y="1261872"/>
            <a:ext cx="1818132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04632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ACHEMINÉES CT/CTE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04632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5/7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04632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71,4 %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0780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050780" y="1261872"/>
            <a:ext cx="1818132" cy="2743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0780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PRÉLEVÉES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0780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7AE60"/>
                </a:solidFill>
                <a:latin typeface="Calibri"/>
              </a:rPr>
              <a:t>7/7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0780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100,0 % des validées</a:t>
            </a:r>
          </a:p>
        </p:txBody>
      </p:sp>
      <p:graphicFrame>
        <p:nvGraphicFramePr>
          <p:cNvPr id="37" name="Chart 36"/>
          <p:cNvGraphicFramePr>
            <a:graphicFrameLocks noGrp="1"/>
          </p:cNvGraphicFramePr>
          <p:nvPr/>
        </p:nvGraphicFramePr>
        <p:xfrm>
          <a:off x="320040" y="2423160"/>
          <a:ext cx="539496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8" name="Chart 37"/>
          <p:cNvGraphicFramePr>
            <a:graphicFrameLocks noGrp="1"/>
          </p:cNvGraphicFramePr>
          <p:nvPr/>
        </p:nvGraphicFramePr>
        <p:xfrm>
          <a:off x="5852160" y="2423160"/>
          <a:ext cx="6016752" cy="3474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2.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Tableau comparatif des alertes sur 3 jours, Zone de santé de Manguredjipa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188720"/>
          <a:ext cx="11548872" cy="38084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9774"/>
                <a:gridCol w="2309774"/>
                <a:gridCol w="2309774"/>
                <a:gridCol w="2309774"/>
                <a:gridCol w="2309776"/>
              </a:tblGrid>
              <a:tr h="22402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Indicateur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22/10/2026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24/10/2026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25/10/2026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Évolution (dernier jour / veille)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Nouvelles alertes vivantes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+6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Nouvelles alertes de décès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+2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Report de la veille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19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15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−15 (−100 %)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Total des alertes à traiter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39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15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8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−7 (−47 %)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Alertes investiguées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39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8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+8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% investiguées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100 %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0 %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100 %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+100 pt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Alertes validées (suspects)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25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7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−4 (−36 %)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Acheminées au CT/CTE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25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11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−6 (−55 %)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Prélevées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25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7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−4 (−36 %)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EDS réalisés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+2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Corps swabés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ESS / FOSA / recherche passive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19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−4 (−40 %)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Communauté / SBC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−3 (−100 %)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Recherche active (RA)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8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PoE / PoC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Contacts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2.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Sources des alertes sur les 3 derniers jours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8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20040" y="1234440"/>
          <a:ext cx="11548872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3. Suivi des contacts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du suivi des contacts au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À SUIVRE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71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dont 0 nouveaux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5417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VUS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5417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71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5417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contacts vus ce jour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0795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TAUX DE SUIVI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0795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7AE60"/>
                </a:solidFill>
                <a:latin typeface="Calibri"/>
              </a:rPr>
              <a:t>100 %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0795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cible ≥ 90 %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6172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NON VUS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6172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6172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dont 0 jamais vus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6155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DEVENUS SUSPECTS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6155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6155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0 sortis au 21e jour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320040" y="2423160"/>
          <a:ext cx="576072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3" name="Chart 32"/>
          <p:cNvGraphicFramePr>
            <a:graphicFrameLocks noGrp="1"/>
          </p:cNvGraphicFramePr>
          <p:nvPr/>
        </p:nvGraphicFramePr>
        <p:xfrm>
          <a:off x="6172200" y="2423160"/>
          <a:ext cx="5696712" cy="3474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5. Laboratoire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Laboratoire, situation au 25 octobre 2026 (derniers résultats saisis : 22 septembre 2026)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791206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ÉCHANTILLONS ANALYSÉS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7 jours au 22/09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9262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39262" y="1261872"/>
            <a:ext cx="2791206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39262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POSITIFS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39262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9262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positivité 5,0 %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58484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58484" y="1261872"/>
            <a:ext cx="2791206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58484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POST-MORTEM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58484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1/3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58484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positivité 33,3 %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77706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77706" y="1261872"/>
            <a:ext cx="2791206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77706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RE-PRÉLÈVEMENTS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7706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77706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sur la période</a:t>
            </a:r>
          </a:p>
        </p:txBody>
      </p:sp>
      <p:graphicFrame>
        <p:nvGraphicFramePr>
          <p:cNvPr id="27" name="Chart 26"/>
          <p:cNvGraphicFramePr>
            <a:graphicFrameLocks noGrp="1"/>
          </p:cNvGraphicFramePr>
          <p:nvPr/>
        </p:nvGraphicFramePr>
        <p:xfrm>
          <a:off x="320040" y="2423160"/>
          <a:ext cx="676656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28" name="Chart 27"/>
          <p:cNvGraphicFramePr>
            <a:graphicFrameLocks noGrp="1"/>
          </p:cNvGraphicFramePr>
          <p:nvPr/>
        </p:nvGraphicFramePr>
        <p:xfrm>
          <a:off x="7223760" y="2423160"/>
          <a:ext cx="4645152" cy="3474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9. Enterrements dignes et sécurisés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Décès communautaires, EDS et prélèvements, situation au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065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0656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06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ALERTES DE DÉCÈS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06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06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7 jours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48712" y="1261872"/>
            <a:ext cx="220065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48712" y="1261872"/>
            <a:ext cx="2200656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48712" y="1261872"/>
            <a:ext cx="22006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EDS RÉALISÉS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48712" y="1536192"/>
            <a:ext cx="22006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48712" y="1975104"/>
            <a:ext cx="22006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7 jours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7384" y="1261872"/>
            <a:ext cx="220065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77384" y="1261872"/>
            <a:ext cx="2200656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77384" y="1261872"/>
            <a:ext cx="22006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CORPS SWABÉS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77384" y="1536192"/>
            <a:ext cx="22006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77384" y="1975104"/>
            <a:ext cx="22006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100,0 % des décès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320040" y="2423160"/>
          <a:ext cx="11548872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