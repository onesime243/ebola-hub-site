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hebdomadaire des cas confirmés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Sheet1!$A$2:$A$20</c:f>
              <c:strCache>
                <c:ptCount val="19"/>
                <c:pt idx="0">
                  <c:v>SE25</c:v>
                </c:pt>
                <c:pt idx="1">
                  <c:v>SE26</c:v>
                </c:pt>
                <c:pt idx="2">
                  <c:v>SE27</c:v>
                </c:pt>
                <c:pt idx="3">
                  <c:v>SE28</c:v>
                </c:pt>
                <c:pt idx="4">
                  <c:v>SE29</c:v>
                </c:pt>
                <c:pt idx="5">
                  <c:v>SE30</c:v>
                </c:pt>
                <c:pt idx="6">
                  <c:v>SE31</c:v>
                </c:pt>
                <c:pt idx="7">
                  <c:v>SE32</c:v>
                </c:pt>
                <c:pt idx="8">
                  <c:v>SE33</c:v>
                </c:pt>
                <c:pt idx="9">
                  <c:v>SE34</c:v>
                </c:pt>
                <c:pt idx="10">
                  <c:v>SE35</c:v>
                </c:pt>
                <c:pt idx="11">
                  <c:v>SE36</c:v>
                </c:pt>
                <c:pt idx="12">
                  <c:v>SE37</c:v>
                </c:pt>
                <c:pt idx="13">
                  <c:v>SE38</c:v>
                </c:pt>
                <c:pt idx="14">
                  <c:v>SE39</c:v>
                </c:pt>
                <c:pt idx="15">
                  <c:v>SE40</c:v>
                </c:pt>
                <c:pt idx="16">
                  <c:v>SE41</c:v>
                </c:pt>
                <c:pt idx="17">
                  <c:v>SE42</c:v>
                </c:pt>
                <c:pt idx="18">
                  <c:v>SE43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1.0</c:v>
                </c:pt>
                <c:pt idx="4">
                  <c:v>2.0</c:v>
                </c:pt>
                <c:pt idx="5">
                  <c:v>2.0</c:v>
                </c:pt>
                <c:pt idx="6">
                  <c:v>4.0</c:v>
                </c:pt>
                <c:pt idx="7">
                  <c:v>1.0</c:v>
                </c:pt>
                <c:pt idx="8">
                  <c:v>6.0</c:v>
                </c:pt>
                <c:pt idx="9">
                  <c:v>1.0</c:v>
                </c:pt>
                <c:pt idx="10">
                  <c:v>1.0</c:v>
                </c:pt>
                <c:pt idx="11">
                  <c:v>6.0</c:v>
                </c:pt>
                <c:pt idx="12">
                  <c:v>9.0</c:v>
                </c:pt>
                <c:pt idx="13">
                  <c:v>3.0</c:v>
                </c:pt>
                <c:pt idx="14">
                  <c:v>0.0</c:v>
                </c:pt>
                <c:pt idx="15">
                  <c:v>11.0</c:v>
                </c:pt>
                <c:pt idx="16">
                  <c:v>5.0</c:v>
                </c:pt>
                <c:pt idx="17">
                  <c:v>4.0</c:v>
                </c:pt>
                <c:pt idx="18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Sheet1!$A$2:$A$20</c:f>
              <c:strCache>
                <c:ptCount val="19"/>
                <c:pt idx="0">
                  <c:v>SE25</c:v>
                </c:pt>
                <c:pt idx="1">
                  <c:v>SE26</c:v>
                </c:pt>
                <c:pt idx="2">
                  <c:v>SE27</c:v>
                </c:pt>
                <c:pt idx="3">
                  <c:v>SE28</c:v>
                </c:pt>
                <c:pt idx="4">
                  <c:v>SE29</c:v>
                </c:pt>
                <c:pt idx="5">
                  <c:v>SE30</c:v>
                </c:pt>
                <c:pt idx="6">
                  <c:v>SE31</c:v>
                </c:pt>
                <c:pt idx="7">
                  <c:v>SE32</c:v>
                </c:pt>
                <c:pt idx="8">
                  <c:v>SE33</c:v>
                </c:pt>
                <c:pt idx="9">
                  <c:v>SE34</c:v>
                </c:pt>
                <c:pt idx="10">
                  <c:v>SE35</c:v>
                </c:pt>
                <c:pt idx="11">
                  <c:v>SE36</c:v>
                </c:pt>
                <c:pt idx="12">
                  <c:v>SE37</c:v>
                </c:pt>
                <c:pt idx="13">
                  <c:v>SE38</c:v>
                </c:pt>
                <c:pt idx="14">
                  <c:v>SE39</c:v>
                </c:pt>
                <c:pt idx="15">
                  <c:v>SE40</c:v>
                </c:pt>
                <c:pt idx="16">
                  <c:v>SE41</c:v>
                </c:pt>
                <c:pt idx="17">
                  <c:v>SE42</c:v>
                </c:pt>
                <c:pt idx="18">
                  <c:v>SE43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2.0</c:v>
                </c:pt>
                <c:pt idx="1">
                  <c:v>0.0</c:v>
                </c:pt>
                <c:pt idx="2">
                  <c:v>5.0</c:v>
                </c:pt>
                <c:pt idx="3">
                  <c:v>1.0</c:v>
                </c:pt>
                <c:pt idx="4">
                  <c:v>8.0</c:v>
                </c:pt>
                <c:pt idx="5">
                  <c:v>5.0</c:v>
                </c:pt>
                <c:pt idx="6">
                  <c:v>11.0</c:v>
                </c:pt>
                <c:pt idx="7">
                  <c:v>5.0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9.0</c:v>
                </c:pt>
                <c:pt idx="12">
                  <c:v>13.0</c:v>
                </c:pt>
                <c:pt idx="13">
                  <c:v>3.0</c:v>
                </c:pt>
                <c:pt idx="14">
                  <c:v>2.0</c:v>
                </c:pt>
                <c:pt idx="15">
                  <c:v>6.0</c:v>
                </c:pt>
                <c:pt idx="16">
                  <c:v>2.0</c:v>
                </c:pt>
                <c:pt idx="17">
                  <c:v>3.0</c:v>
                </c:pt>
                <c:pt idx="18">
                  <c:v>3.0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Répartition des 1 nouveaux cas par aire de santé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Sheet1!$A$2:$A$2</c:f>
              <c:strCache>
                <c:ptCount val="1"/>
                <c:pt idx="0">
                  <c:v>Nduko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Sheet1!$A$2:$A$2</c:f>
              <c:strCache>
                <c:ptCount val="1"/>
                <c:pt idx="0">
                  <c:v>Nduko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Nombre de jours sans nouveau cas confirmé par aire de santé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Jours sans cas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27AE60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27AE60"/>
              </a:solidFill>
            </c:spPr>
          </c:dPt>
          <c:dPt>
            <c:idx val="3"/>
            <c:spPr>
              <a:solidFill>
                <a:srgbClr val="27AE60"/>
              </a:solidFill>
            </c:spPr>
          </c:dPt>
          <c:dPt>
            <c:idx val="4"/>
            <c:spPr>
              <a:solidFill>
                <a:srgbClr val="27AE60"/>
              </a:solidFill>
            </c:spPr>
          </c:dPt>
          <c:dPt>
            <c:idx val="5"/>
            <c:spPr>
              <a:solidFill>
                <a:srgbClr val="27AE60"/>
              </a:solidFill>
            </c:spPr>
          </c:dPt>
          <c:dPt>
            <c:idx val="6"/>
            <c:spPr>
              <a:solidFill>
                <a:srgbClr val="27AE60"/>
              </a:solidFill>
            </c:spPr>
          </c:dPt>
          <c:dPt>
            <c:idx val="7"/>
            <c:spPr>
              <a:solidFill>
                <a:srgbClr val="27AE60"/>
              </a:solidFill>
            </c:spPr>
          </c:dPt>
          <c:dPt>
            <c:idx val="8"/>
            <c:spPr>
              <a:solidFill>
                <a:srgbClr val="F1C40F"/>
              </a:solidFill>
            </c:spPr>
          </c:dPt>
          <c:dPt>
            <c:idx val="9"/>
            <c:spPr>
              <a:solidFill>
                <a:srgbClr val="F1C40F"/>
              </a:solidFill>
            </c:spPr>
          </c:dPt>
          <c:dPt>
            <c:idx val="10"/>
            <c:spPr>
              <a:solidFill>
                <a:srgbClr val="E67E22"/>
              </a:solidFill>
            </c:spPr>
          </c:dPt>
          <c:dPt>
            <c:idx val="11"/>
            <c:spPr>
              <a:solidFill>
                <a:srgbClr val="E67E22"/>
              </a:solidFill>
            </c:spPr>
          </c:dPt>
          <c:dPt>
            <c:idx val="12"/>
            <c:spPr>
              <a:solidFill>
                <a:srgbClr val="E67E22"/>
              </a:solidFill>
            </c:spPr>
          </c:dPt>
          <c:dPt>
            <c:idx val="13"/>
            <c:spPr>
              <a:solidFill>
                <a:srgbClr val="E67E22"/>
              </a:solidFill>
            </c:spPr>
          </c:dPt>
          <c:dPt>
            <c:idx val="14"/>
            <c:spPr>
              <a:solidFill>
                <a:srgbClr val="E67E22"/>
              </a:solidFill>
            </c:spPr>
          </c:dPt>
          <c:dPt>
            <c:idx val="15"/>
            <c:spPr>
              <a:solidFill>
                <a:srgbClr val="E67E22"/>
              </a:solidFill>
            </c:spPr>
          </c:dPt>
          <c:dPt>
            <c:idx val="16"/>
            <c:spPr>
              <a:solidFill>
                <a:srgbClr val="E67E22"/>
              </a:solidFill>
            </c:spPr>
          </c:dPt>
          <c:dPt>
            <c:idx val="17"/>
            <c:spPr>
              <a:solidFill>
                <a:srgbClr val="C0392B"/>
              </a:solidFill>
            </c:spPr>
          </c:dPt>
          <c:cat>
            <c:strRef>
              <c:f>Sheet1!$A$2:$A$19</c:f>
              <c:strCache>
                <c:ptCount val="18"/>
                <c:pt idx="0">
                  <c:v>Bikindwe</c:v>
                </c:pt>
                <c:pt idx="1">
                  <c:v>Mukongo</c:v>
                </c:pt>
                <c:pt idx="2">
                  <c:v>Musimba</c:v>
                </c:pt>
                <c:pt idx="3">
                  <c:v>Katsya</c:v>
                </c:pt>
                <c:pt idx="4">
                  <c:v>Musienene</c:v>
                </c:pt>
                <c:pt idx="5">
                  <c:v>Vighole</c:v>
                </c:pt>
                <c:pt idx="6">
                  <c:v>Munoli</c:v>
                </c:pt>
                <c:pt idx="7">
                  <c:v>Katolo</c:v>
                </c:pt>
                <c:pt idx="8">
                  <c:v>Bweteta</c:v>
                </c:pt>
                <c:pt idx="9">
                  <c:v>Kimbulu</c:v>
                </c:pt>
                <c:pt idx="10">
                  <c:v>Ngeleza</c:v>
                </c:pt>
                <c:pt idx="11">
                  <c:v>Mongali</c:v>
                </c:pt>
                <c:pt idx="12">
                  <c:v>Nyambogho</c:v>
                </c:pt>
                <c:pt idx="13">
                  <c:v>Ivatama</c:v>
                </c:pt>
                <c:pt idx="14">
                  <c:v>Vusamba</c:v>
                </c:pt>
                <c:pt idx="15">
                  <c:v>Kyambogho</c:v>
                </c:pt>
                <c:pt idx="16">
                  <c:v>Mabambi</c:v>
                </c:pt>
                <c:pt idx="17">
                  <c:v>Nduko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113.0</c:v>
                </c:pt>
                <c:pt idx="1">
                  <c:v>83.0</c:v>
                </c:pt>
                <c:pt idx="2">
                  <c:v>82.0</c:v>
                </c:pt>
                <c:pt idx="3">
                  <c:v>75.0</c:v>
                </c:pt>
                <c:pt idx="4">
                  <c:v>67.0</c:v>
                </c:pt>
                <c:pt idx="5">
                  <c:v>65.0</c:v>
                </c:pt>
                <c:pt idx="6">
                  <c:v>53.0</c:v>
                </c:pt>
                <c:pt idx="7">
                  <c:v>48.0</c:v>
                </c:pt>
                <c:pt idx="8">
                  <c:v>28.0</c:v>
                </c:pt>
                <c:pt idx="9">
                  <c:v>22.0</c:v>
                </c:pt>
                <c:pt idx="10">
                  <c:v>21.0</c:v>
                </c:pt>
                <c:pt idx="11">
                  <c:v>17.0</c:v>
                </c:pt>
                <c:pt idx="12">
                  <c:v>14.0</c:v>
                </c:pt>
                <c:pt idx="13">
                  <c:v>13.0</c:v>
                </c:pt>
                <c:pt idx="14">
                  <c:v>6.0</c:v>
                </c:pt>
                <c:pt idx="15">
                  <c:v>2.0</c:v>
                </c:pt>
                <c:pt idx="16">
                  <c:v>2.0</c:v>
                </c:pt>
                <c:pt idx="17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du jour, 163 alertes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16A085"/>
              </a:solidFill>
            </c:spPr>
          </c:dPt>
          <c:dPt>
            <c:idx val="2"/>
            <c:spPr>
              <a:solidFill>
                <a:srgbClr val="E67E22"/>
              </a:solidFill>
            </c:spPr>
          </c:dPt>
          <c:dPt>
            <c:idx val="3"/>
            <c:spPr>
              <a:solidFill>
                <a:srgbClr val="8E44AD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ESS / FOSA / recherche passive</c:v>
                </c:pt>
                <c:pt idx="1">
                  <c:v>Communauté / SBC</c:v>
                </c:pt>
                <c:pt idx="2">
                  <c:v>Recherche active (RA)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29.0</c:v>
                </c:pt>
                <c:pt idx="1">
                  <c:v>50.0</c:v>
                </c:pt>
                <c:pt idx="2">
                  <c:v>78.0</c:v>
                </c:pt>
                <c:pt idx="3">
                  <c:v>6.0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des alertes sur 14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118.0</c:v>
                </c:pt>
                <c:pt idx="1">
                  <c:v>138.0</c:v>
                </c:pt>
                <c:pt idx="2">
                  <c:v>148.0</c:v>
                </c:pt>
                <c:pt idx="3">
                  <c:v>113.0</c:v>
                </c:pt>
                <c:pt idx="4">
                  <c:v>128.0</c:v>
                </c:pt>
                <c:pt idx="5">
                  <c:v>143.0</c:v>
                </c:pt>
                <c:pt idx="6">
                  <c:v>55.0</c:v>
                </c:pt>
                <c:pt idx="7">
                  <c:v>169.0</c:v>
                </c:pt>
                <c:pt idx="8">
                  <c:v>163.0</c:v>
                </c:pt>
                <c:pt idx="9">
                  <c:v>114.0</c:v>
                </c:pt>
                <c:pt idx="10">
                  <c:v>134.0</c:v>
                </c:pt>
                <c:pt idx="11">
                  <c:v>143.0</c:v>
                </c:pt>
                <c:pt idx="12">
                  <c:v>124.0</c:v>
                </c:pt>
                <c:pt idx="13">
                  <c:v>163.0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Investiguées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118.0</c:v>
                </c:pt>
                <c:pt idx="1">
                  <c:v>138.0</c:v>
                </c:pt>
                <c:pt idx="2">
                  <c:v>148.0</c:v>
                </c:pt>
                <c:pt idx="3">
                  <c:v>113.0</c:v>
                </c:pt>
                <c:pt idx="4">
                  <c:v>128.0</c:v>
                </c:pt>
                <c:pt idx="5">
                  <c:v>143.0</c:v>
                </c:pt>
                <c:pt idx="6">
                  <c:v>55.0</c:v>
                </c:pt>
                <c:pt idx="7">
                  <c:v>169.0</c:v>
                </c:pt>
                <c:pt idx="8">
                  <c:v>163.0</c:v>
                </c:pt>
                <c:pt idx="9">
                  <c:v>114.0</c:v>
                </c:pt>
                <c:pt idx="10">
                  <c:v>134.0</c:v>
                </c:pt>
                <c:pt idx="11">
                  <c:v>143.0</c:v>
                </c:pt>
                <c:pt idx="12">
                  <c:v>124.0</c:v>
                </c:pt>
                <c:pt idx="13">
                  <c:v>163.0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Validées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18.0</c:v>
                </c:pt>
                <c:pt idx="1">
                  <c:v>15.0</c:v>
                </c:pt>
                <c:pt idx="2">
                  <c:v>18.0</c:v>
                </c:pt>
                <c:pt idx="3">
                  <c:v>10.0</c:v>
                </c:pt>
                <c:pt idx="4">
                  <c:v>15.0</c:v>
                </c:pt>
                <c:pt idx="5">
                  <c:v>18.0</c:v>
                </c:pt>
                <c:pt idx="6">
                  <c:v>15.0</c:v>
                </c:pt>
                <c:pt idx="7">
                  <c:v>12.0</c:v>
                </c:pt>
                <c:pt idx="8">
                  <c:v>8.0</c:v>
                </c:pt>
                <c:pt idx="9">
                  <c:v>16.0</c:v>
                </c:pt>
                <c:pt idx="10">
                  <c:v>11.0</c:v>
                </c:pt>
                <c:pt idx="11">
                  <c:v>8.0</c:v>
                </c:pt>
                <c:pt idx="12">
                  <c:v>22.0</c:v>
                </c:pt>
                <c:pt idx="13">
                  <c:v>5.0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sur les 3 derniers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23/10</c:v>
                </c:pt>
              </c:strCache>
            </c:strRef>
          </c:tx>
          <c:spPr>
            <a:solidFill>
              <a:srgbClr val="AEB6BF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25.0</c:v>
                </c:pt>
                <c:pt idx="1">
                  <c:v>45.0</c:v>
                </c:pt>
                <c:pt idx="2">
                  <c:v>73.0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24/10</c:v>
                </c:pt>
              </c:strCache>
            </c:strRef>
          </c:tx>
          <c:spPr>
            <a:solidFill>
              <a:srgbClr val="5D8AA8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47.0</c:v>
                </c:pt>
                <c:pt idx="1">
                  <c:v>72.0</c:v>
                </c:pt>
                <c:pt idx="2">
                  <c:v>5.0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25/10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29.0</c:v>
                </c:pt>
                <c:pt idx="1">
                  <c:v>50.0</c:v>
                </c:pt>
                <c:pt idx="2">
                  <c:v>78.0</c:v>
                </c:pt>
                <c:pt idx="3">
                  <c:v>6.0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Raisons de non-suivi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Non vus</c:v>
                </c:pt>
              </c:strCache>
            </c:strRef>
          </c:tx>
          <c:spPr>
            <a:solidFill>
              <a:srgbClr val="C0392B"/>
            </a:solidFill>
          </c:spPr>
          <c:dPt>
            <c:idx val="0"/>
            <c:spPr>
              <a:solidFill>
                <a:srgbClr val="C0392B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922B21"/>
              </a:solidFill>
            </c:spPr>
          </c:dPt>
          <c:dPt>
            <c:idx val="3"/>
            <c:spPr>
              <a:solidFill>
                <a:srgbClr val="8C96A0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Jamais vus</c:v>
                </c:pt>
                <c:pt idx="1">
                  <c:v>Non vus &lt; 48 h (simple absence)</c:v>
                </c:pt>
                <c:pt idx="2">
                  <c:v>Perdus de vue (≥ 72 h)</c:v>
                </c:pt>
                <c:pt idx="3">
                  <c:v>Refus / réticences</c:v>
                </c:pt>
                <c:pt idx="4">
                  <c:v>Déplacés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32.0</c:v>
                </c:pt>
                <c:pt idx="1">
                  <c:v>60.0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Taux de suivi des contacts (21 derniers jours)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suivi</c:v>
                </c:pt>
              </c:strCache>
            </c:strRef>
          </c:tx>
          <c:spPr>
            <a:ln w="28575">
              <a:solidFill>
                <a:srgbClr val="16A085"/>
              </a:solidFill>
            </a:ln>
          </c:spPr>
          <c:cat>
            <c:strRef>
              <c:f>Sheet1!$A$2:$A$22</c:f>
              <c:strCache>
                <c:ptCount val="21"/>
                <c:pt idx="0">
                  <c:v>05/10</c:v>
                </c:pt>
                <c:pt idx="1">
                  <c:v>06/10</c:v>
                </c:pt>
                <c:pt idx="2">
                  <c:v>07/10</c:v>
                </c:pt>
                <c:pt idx="3">
                  <c:v>08/10</c:v>
                </c:pt>
                <c:pt idx="4">
                  <c:v>09/10</c:v>
                </c:pt>
                <c:pt idx="5">
                  <c:v>10/10</c:v>
                </c:pt>
                <c:pt idx="6">
                  <c:v>11/10</c:v>
                </c:pt>
                <c:pt idx="7">
                  <c:v>12/10</c:v>
                </c:pt>
                <c:pt idx="8">
                  <c:v>13/10</c:v>
                </c:pt>
                <c:pt idx="9">
                  <c:v>14/10</c:v>
                </c:pt>
                <c:pt idx="10">
                  <c:v>15/10</c:v>
                </c:pt>
                <c:pt idx="11">
                  <c:v>16/10</c:v>
                </c:pt>
                <c:pt idx="12">
                  <c:v>17/10</c:v>
                </c:pt>
                <c:pt idx="13">
                  <c:v>18/10</c:v>
                </c:pt>
                <c:pt idx="14">
                  <c:v>19/10</c:v>
                </c:pt>
                <c:pt idx="15">
                  <c:v>20/10</c:v>
                </c:pt>
                <c:pt idx="16">
                  <c:v>21/10</c:v>
                </c:pt>
                <c:pt idx="17">
                  <c:v>22/10</c:v>
                </c:pt>
                <c:pt idx="18">
                  <c:v>23/10</c:v>
                </c:pt>
                <c:pt idx="19">
                  <c:v>24/10</c:v>
                </c:pt>
                <c:pt idx="20">
                  <c:v>25/10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93.0</c:v>
                </c:pt>
                <c:pt idx="1">
                  <c:v>93.1</c:v>
                </c:pt>
                <c:pt idx="2">
                  <c:v>94.8</c:v>
                </c:pt>
                <c:pt idx="3">
                  <c:v>79.8</c:v>
                </c:pt>
                <c:pt idx="4">
                  <c:v>93.6</c:v>
                </c:pt>
                <c:pt idx="5">
                  <c:v>93.8</c:v>
                </c:pt>
                <c:pt idx="6">
                  <c:v>95.0</c:v>
                </c:pt>
                <c:pt idx="7">
                  <c:v>97.3</c:v>
                </c:pt>
                <c:pt idx="8">
                  <c:v>92.6</c:v>
                </c:pt>
                <c:pt idx="9">
                  <c:v>96.3</c:v>
                </c:pt>
                <c:pt idx="10">
                  <c:v>97.2</c:v>
                </c:pt>
                <c:pt idx="11">
                  <c:v>87.2</c:v>
                </c:pt>
                <c:pt idx="12">
                  <c:v>90.9</c:v>
                </c:pt>
                <c:pt idx="13">
                  <c:v>88.7</c:v>
                </c:pt>
                <c:pt idx="14">
                  <c:v>54.1</c:v>
                </c:pt>
                <c:pt idx="15">
                  <c:v>96.0</c:v>
                </c:pt>
                <c:pt idx="16">
                  <c:v>93.8</c:v>
                </c:pt>
                <c:pt idx="17">
                  <c:v>95.8</c:v>
                </c:pt>
                <c:pt idx="18">
                  <c:v>97.6</c:v>
                </c:pt>
                <c:pt idx="19">
                  <c:v>96.5</c:v>
                </c:pt>
                <c:pt idx="20">
                  <c:v>86.5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Résultats par jour (14 jours)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Positifs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Sheet1!$A$2:$A$15</c:f>
              <c:strCache>
                <c:ptCount val="14"/>
                <c:pt idx="0">
                  <c:v>11/09</c:v>
                </c:pt>
                <c:pt idx="1">
                  <c:v>12/09</c:v>
                </c:pt>
                <c:pt idx="2">
                  <c:v>13/09</c:v>
                </c:pt>
                <c:pt idx="3">
                  <c:v>14/09</c:v>
                </c:pt>
                <c:pt idx="4">
                  <c:v>15/09</c:v>
                </c:pt>
                <c:pt idx="5">
                  <c:v>16/09</c:v>
                </c:pt>
                <c:pt idx="6">
                  <c:v>17/09</c:v>
                </c:pt>
                <c:pt idx="7">
                  <c:v>18/09</c:v>
                </c:pt>
                <c:pt idx="8">
                  <c:v>19/09</c:v>
                </c:pt>
                <c:pt idx="9">
                  <c:v>20/09</c:v>
                </c:pt>
                <c:pt idx="10">
                  <c:v>21/09</c:v>
                </c:pt>
                <c:pt idx="11">
                  <c:v>22/09</c:v>
                </c:pt>
                <c:pt idx="12">
                  <c:v>23/09</c:v>
                </c:pt>
                <c:pt idx="13">
                  <c:v>24/09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3.0</c:v>
                </c:pt>
                <c:pt idx="1">
                  <c:v>1.0</c:v>
                </c:pt>
                <c:pt idx="2">
                  <c:v>0.0</c:v>
                </c:pt>
                <c:pt idx="3">
                  <c:v>3.0</c:v>
                </c:pt>
                <c:pt idx="4">
                  <c:v>1.0</c:v>
                </c:pt>
                <c:pt idx="5">
                  <c:v>1.0</c:v>
                </c:pt>
                <c:pt idx="6">
                  <c:v>1.0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Négatifs</c:v>
                </c:pt>
              </c:strCache>
            </c:strRef>
          </c:tx>
          <c:spPr>
            <a:solidFill>
              <a:srgbClr val="8C96A0"/>
            </a:solidFill>
          </c:spPr>
          <c:cat>
            <c:strRef>
              <c:f>Sheet1!$A$2:$A$15</c:f>
              <c:strCache>
                <c:ptCount val="14"/>
                <c:pt idx="0">
                  <c:v>11/09</c:v>
                </c:pt>
                <c:pt idx="1">
                  <c:v>12/09</c:v>
                </c:pt>
                <c:pt idx="2">
                  <c:v>13/09</c:v>
                </c:pt>
                <c:pt idx="3">
                  <c:v>14/09</c:v>
                </c:pt>
                <c:pt idx="4">
                  <c:v>15/09</c:v>
                </c:pt>
                <c:pt idx="5">
                  <c:v>16/09</c:v>
                </c:pt>
                <c:pt idx="6">
                  <c:v>17/09</c:v>
                </c:pt>
                <c:pt idx="7">
                  <c:v>18/09</c:v>
                </c:pt>
                <c:pt idx="8">
                  <c:v>19/09</c:v>
                </c:pt>
                <c:pt idx="9">
                  <c:v>20/09</c:v>
                </c:pt>
                <c:pt idx="10">
                  <c:v>21/09</c:v>
                </c:pt>
                <c:pt idx="11">
                  <c:v>22/09</c:v>
                </c:pt>
                <c:pt idx="12">
                  <c:v>23/09</c:v>
                </c:pt>
                <c:pt idx="13">
                  <c:v>24/09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13.0</c:v>
                </c:pt>
                <c:pt idx="1">
                  <c:v>3.0</c:v>
                </c:pt>
                <c:pt idx="2">
                  <c:v>5.0</c:v>
                </c:pt>
                <c:pt idx="3">
                  <c:v>4.0</c:v>
                </c:pt>
                <c:pt idx="4">
                  <c:v>14.0</c:v>
                </c:pt>
                <c:pt idx="5">
                  <c:v>10.0</c:v>
                </c:pt>
                <c:pt idx="6">
                  <c:v>19.0</c:v>
                </c:pt>
                <c:pt idx="7">
                  <c:v>18.0</c:v>
                </c:pt>
                <c:pt idx="8">
                  <c:v>10.0</c:v>
                </c:pt>
                <c:pt idx="9">
                  <c:v>14.0</c:v>
                </c:pt>
                <c:pt idx="10">
                  <c:v>10.0</c:v>
                </c:pt>
                <c:pt idx="11">
                  <c:v>16.0</c:v>
                </c:pt>
                <c:pt idx="12">
                  <c:v>15.0</c:v>
                </c:pt>
                <c:pt idx="13">
                  <c:v>1.0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Positivité hebdomadaire (12 semaines)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Positivité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cat>
            <c:strRef>
              <c:f>Sheet1!$A$2:$A$13</c:f>
              <c:strCache>
                <c:ptCount val="12"/>
                <c:pt idx="0">
                  <c:v>SE28</c:v>
                </c:pt>
                <c:pt idx="1">
                  <c:v>SE29</c:v>
                </c:pt>
                <c:pt idx="2">
                  <c:v>SE30</c:v>
                </c:pt>
                <c:pt idx="3">
                  <c:v>SE31</c:v>
                </c:pt>
                <c:pt idx="4">
                  <c:v>SE32</c:v>
                </c:pt>
                <c:pt idx="5">
                  <c:v>SE33</c:v>
                </c:pt>
                <c:pt idx="6">
                  <c:v>SE34</c:v>
                </c:pt>
                <c:pt idx="7">
                  <c:v>SE35</c:v>
                </c:pt>
                <c:pt idx="8">
                  <c:v>SE36</c:v>
                </c:pt>
                <c:pt idx="9">
                  <c:v>SE37</c:v>
                </c:pt>
                <c:pt idx="10">
                  <c:v>SE38</c:v>
                </c:pt>
                <c:pt idx="11">
                  <c:v>SE39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4.0</c:v>
                </c:pt>
                <c:pt idx="1">
                  <c:v>11.7</c:v>
                </c:pt>
                <c:pt idx="2">
                  <c:v>9.5</c:v>
                </c:pt>
                <c:pt idx="3">
                  <c:v>13.1</c:v>
                </c:pt>
                <c:pt idx="4">
                  <c:v>7.1</c:v>
                </c:pt>
                <c:pt idx="5">
                  <c:v>11.8</c:v>
                </c:pt>
                <c:pt idx="6">
                  <c:v>6.0</c:v>
                </c:pt>
                <c:pt idx="7">
                  <c:v>9.2</c:v>
                </c:pt>
                <c:pt idx="8">
                  <c:v>16.5</c:v>
                </c:pt>
                <c:pt idx="9">
                  <c:v>19.8</c:v>
                </c:pt>
                <c:pt idx="10">
                  <c:v>6.3</c:v>
                </c:pt>
                <c:pt idx="11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Alertes de décès, EDS et swabs (7 jours)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 de 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5.0</c:v>
                </c:pt>
                <c:pt idx="1">
                  <c:v>4.0</c:v>
                </c:pt>
                <c:pt idx="2">
                  <c:v>8.0</c:v>
                </c:pt>
                <c:pt idx="3">
                  <c:v>3.0</c:v>
                </c:pt>
                <c:pt idx="4">
                  <c:v>5.0</c:v>
                </c:pt>
                <c:pt idx="5">
                  <c:v>7.0</c:v>
                </c:pt>
                <c:pt idx="6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EDS réalisés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3.0</c:v>
                </c:pt>
                <c:pt idx="4">
                  <c:v>5.0</c:v>
                </c:pt>
                <c:pt idx="5">
                  <c:v>7.0</c:v>
                </c:pt>
                <c:pt idx="6">
                  <c:v>2.0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Corps swabés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3.0</c:v>
                </c:pt>
                <c:pt idx="4">
                  <c:v>5.0</c:v>
                </c:pt>
                <c:pt idx="5">
                  <c:v>7.0</c:v>
                </c:pt>
                <c:pt idx="6">
                  <c:v>2.0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  <a:latin typeface="Calibri"/>
              </a:rPr>
              <a:t>RIPOSTE À LA MALADIE À VIRUS EBOLA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SITUATION DE LA MVE</a:t>
            </a:r>
          </a:p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ZS MUSIENENE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B2631"/>
                </a:solidFill>
                <a:latin typeface="Calibri"/>
              </a:rPr>
              <a:t>Zone de santé de Musienene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977639"/>
            <a:ext cx="29260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5D6D7E"/>
                </a:solidFill>
                <a:latin typeface="Calibri"/>
              </a:rPr>
              <a:t>Situation au 25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 la MVE au 25 octobre 2026, Zone de santé de Musienene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CONFIRMÉS (CUMUL)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depuis le 16 juin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 (CUMUL)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létalité : 63 %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TOUCHÉES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aires de santé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EN 7 JOURS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les 7 jours précédents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ENFANTS &lt; 5 ANS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21,5 % des cas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20040" y="594360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96188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Pic à la SE37 (22 cas) ; létalité hebdomadaire de la dernière semaine complète : 43 %.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épidémiologique du jour,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NOUVEAUX 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 vivants · 1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VIVANTS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AYANT NOTIFIÉ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ce jour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 AS TOUCHÉE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aucune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Nombre de jours sans nouveau cas confirmé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786384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12480" y="1325880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0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600200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 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039112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avec cas confirmé ce jour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487168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 À 21 JOURS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61487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7 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transmission récente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3648456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9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22 À 41 JOURS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922776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B7950B"/>
                </a:solidFill>
                <a:latin typeface="Calibri"/>
              </a:rPr>
              <a:t>2 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361688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vigilance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809744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≥ 42 JOURS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084064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8 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5522976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Bikindwe : 113 jours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Répartition des cas confirmés de MVE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Carte_categorie_20261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720" y="1234440"/>
            <a:ext cx="7304253" cy="5166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des alertes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NOUVELLES ALERTES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2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6188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À TRAITER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6188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163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6188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nouvelles + 0 en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2336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INVESTIGUÉES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2336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163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2336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alertes à traiter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8483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VALIDÉES (SUSPECTS)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8483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8483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3,1 % des investiguées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4632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ACHEMINÉES CT/CTE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4632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3/5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4632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60,0 %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078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PRÉLEVÉES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078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5/5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078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validées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320040" y="2423160"/>
          <a:ext cx="53949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5852160" y="2423160"/>
          <a:ext cx="60167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Tableau comparatif des alertes sur 3 jours, Zone de santé de Musienene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188720"/>
          <a:ext cx="11548872" cy="38084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774"/>
                <a:gridCol w="2309774"/>
                <a:gridCol w="2309774"/>
                <a:gridCol w="2309774"/>
                <a:gridCol w="2309776"/>
              </a:tblGrid>
              <a:tr h="2240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Indicateur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23/10/2026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24/10/2026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25/10/2026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Évolution (dernier jour / veille)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vivantes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117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161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+44 (+38 %)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de décès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−5 (−71 %)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Report de la veille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Total des alertes à traiter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143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124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163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+39 (+31 %)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investiguées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143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124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163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+39 (+31 %)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% investiguées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+0 pt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validées (suspects)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−17 (−77 %)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Acheminées au CT/CTE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−12 (−80 %)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Prélevées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−17 (−77 %)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EDS réalisés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−5 (−71 %)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Corps swabés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−5 (−71 %)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ESS / FOSA / recherche passive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29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−18 (−38 %)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Communauté / SBC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−22 (−31 %)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Recherche active (RA)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78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+73 (+1 460 %)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PoE / PoC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Contacts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Sources des alertes sur les 3 derniers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11548872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3. Suivi des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du suivi des contacts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À SUIVRE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710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nouveaux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614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contacts vus ce jour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TAUX DE SUIVI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86 %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cible ≥ 90 %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NON VUS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96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32 jamais vus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DEVENUS SUSPECTS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67 sortis au 21e jour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57607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6172200" y="2423160"/>
          <a:ext cx="569671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5. Laboratoire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Laboratoire, situation au 25 octobre 2026 (derniers résultats saisis : 24 septembre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ÉCHANTILLONS ANALYSÉS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 au 24/09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262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POSITIFS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9262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9262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0,0 %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8484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POST-MORTEM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4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0/25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8484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0,0 %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77706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RE-PRÉLÈVEMENTS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7706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7706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sur la période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320040" y="2423160"/>
          <a:ext cx="67665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7223760" y="2423160"/>
          <a:ext cx="46451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9. Enterrements dignes et sécurisés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Décès communautaires, EDS et prélèvements, situation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DE DÉCÈS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8712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EDS RÉALISÉS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8712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7384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CORPS SWABÉS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7384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7384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88,2 % des décès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