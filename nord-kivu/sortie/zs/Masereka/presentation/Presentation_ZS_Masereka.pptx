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Évolution hebdomadaire des cas confirmés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Vivants</c:v>
                </c:pt>
              </c:strCache>
            </c:strRef>
          </c:tx>
          <c:spPr>
            <a:solidFill>
              <a:srgbClr val="2E75B6"/>
            </a:solidFill>
          </c:spPr>
          <c:cat>
            <c:strRef>
              <c:f>Sheet1!$A$2:$A$21</c:f>
              <c:strCache>
                <c:ptCount val="20"/>
                <c:pt idx="0">
                  <c:v>SE24</c:v>
                </c:pt>
                <c:pt idx="1">
                  <c:v>SE25</c:v>
                </c:pt>
                <c:pt idx="2">
                  <c:v>SE26</c:v>
                </c:pt>
                <c:pt idx="3">
                  <c:v>SE27</c:v>
                </c:pt>
                <c:pt idx="4">
                  <c:v>SE28</c:v>
                </c:pt>
                <c:pt idx="5">
                  <c:v>SE29</c:v>
                </c:pt>
                <c:pt idx="6">
                  <c:v>SE30</c:v>
                </c:pt>
                <c:pt idx="7">
                  <c:v>SE31</c:v>
                </c:pt>
                <c:pt idx="8">
                  <c:v>SE32</c:v>
                </c:pt>
                <c:pt idx="9">
                  <c:v>SE33</c:v>
                </c:pt>
                <c:pt idx="10">
                  <c:v>SE34</c:v>
                </c:pt>
                <c:pt idx="11">
                  <c:v>SE35</c:v>
                </c:pt>
                <c:pt idx="12">
                  <c:v>SE36</c:v>
                </c:pt>
                <c:pt idx="13">
                  <c:v>SE37</c:v>
                </c:pt>
                <c:pt idx="14">
                  <c:v>SE38</c:v>
                </c:pt>
                <c:pt idx="15">
                  <c:v>SE39</c:v>
                </c:pt>
                <c:pt idx="16">
                  <c:v>SE40</c:v>
                </c:pt>
                <c:pt idx="17">
                  <c:v>SE41</c:v>
                </c:pt>
                <c:pt idx="18">
                  <c:v>SE42</c:v>
                </c:pt>
                <c:pt idx="19">
                  <c:v>SE43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1.0</c:v>
                </c:pt>
                <c:pt idx="1">
                  <c:v>0.0</c:v>
                </c:pt>
                <c:pt idx="2">
                  <c:v>0.0</c:v>
                </c:pt>
                <c:pt idx="3">
                  <c:v>3.0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1.0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2.0</c:v>
                </c:pt>
                <c:pt idx="13">
                  <c:v>2.0</c:v>
                </c:pt>
                <c:pt idx="14">
                  <c:v>4.0</c:v>
                </c:pt>
                <c:pt idx="15">
                  <c:v>1.0</c:v>
                </c:pt>
                <c:pt idx="16">
                  <c:v>3.0</c:v>
                </c:pt>
                <c:pt idx="17">
                  <c:v>3.0</c:v>
                </c:pt>
                <c:pt idx="18">
                  <c:v>2.0</c:v>
                </c:pt>
                <c:pt idx="19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Décès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Sheet1!$A$2:$A$21</c:f>
              <c:strCache>
                <c:ptCount val="20"/>
                <c:pt idx="0">
                  <c:v>SE24</c:v>
                </c:pt>
                <c:pt idx="1">
                  <c:v>SE25</c:v>
                </c:pt>
                <c:pt idx="2">
                  <c:v>SE26</c:v>
                </c:pt>
                <c:pt idx="3">
                  <c:v>SE27</c:v>
                </c:pt>
                <c:pt idx="4">
                  <c:v>SE28</c:v>
                </c:pt>
                <c:pt idx="5">
                  <c:v>SE29</c:v>
                </c:pt>
                <c:pt idx="6">
                  <c:v>SE30</c:v>
                </c:pt>
                <c:pt idx="7">
                  <c:v>SE31</c:v>
                </c:pt>
                <c:pt idx="8">
                  <c:v>SE32</c:v>
                </c:pt>
                <c:pt idx="9">
                  <c:v>SE33</c:v>
                </c:pt>
                <c:pt idx="10">
                  <c:v>SE34</c:v>
                </c:pt>
                <c:pt idx="11">
                  <c:v>SE35</c:v>
                </c:pt>
                <c:pt idx="12">
                  <c:v>SE36</c:v>
                </c:pt>
                <c:pt idx="13">
                  <c:v>SE37</c:v>
                </c:pt>
                <c:pt idx="14">
                  <c:v>SE38</c:v>
                </c:pt>
                <c:pt idx="15">
                  <c:v>SE39</c:v>
                </c:pt>
                <c:pt idx="16">
                  <c:v>SE40</c:v>
                </c:pt>
                <c:pt idx="17">
                  <c:v>SE41</c:v>
                </c:pt>
                <c:pt idx="18">
                  <c:v>SE42</c:v>
                </c:pt>
                <c:pt idx="19">
                  <c:v>SE43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1.0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2.0</c:v>
                </c:pt>
                <c:pt idx="12">
                  <c:v>4.0</c:v>
                </c:pt>
                <c:pt idx="13">
                  <c:v>3.0</c:v>
                </c:pt>
                <c:pt idx="14">
                  <c:v>1.0</c:v>
                </c:pt>
                <c:pt idx="15">
                  <c:v>2.0</c:v>
                </c:pt>
                <c:pt idx="16">
                  <c:v>1.0</c:v>
                </c:pt>
                <c:pt idx="17">
                  <c:v>1.0</c:v>
                </c:pt>
                <c:pt idx="18">
                  <c:v>1.0</c:v>
                </c:pt>
                <c:pt idx="19">
                  <c:v>0.0</c:v>
                </c:pt>
              </c:numCache>
            </c:numRef>
          </c:val>
        </c:ser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Nombre de jours sans nouveau cas confirmé par aire de santé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Jours sans cas</c:v>
                </c:pt>
              </c:strCache>
            </c:strRef>
          </c:tx>
          <c:spPr>
            <a:solidFill>
              <a:srgbClr val="1F3864"/>
            </a:solidFill>
          </c:spPr>
          <c:dPt>
            <c:idx val="0"/>
            <c:spPr>
              <a:solidFill>
                <a:srgbClr val="27AE60"/>
              </a:solidFill>
            </c:spPr>
          </c:dPt>
          <c:dPt>
            <c:idx val="1"/>
            <c:spPr>
              <a:solidFill>
                <a:srgbClr val="27AE60"/>
              </a:solidFill>
            </c:spPr>
          </c:dPt>
          <c:dPt>
            <c:idx val="2"/>
            <c:spPr>
              <a:solidFill>
                <a:srgbClr val="27AE60"/>
              </a:solidFill>
            </c:spPr>
          </c:dPt>
          <c:dPt>
            <c:idx val="3"/>
            <c:spPr>
              <a:solidFill>
                <a:srgbClr val="27AE60"/>
              </a:solidFill>
            </c:spPr>
          </c:dPt>
          <c:dPt>
            <c:idx val="4"/>
            <c:spPr>
              <a:solidFill>
                <a:srgbClr val="F1C40F"/>
              </a:solidFill>
            </c:spPr>
          </c:dPt>
          <c:dPt>
            <c:idx val="5"/>
            <c:spPr>
              <a:solidFill>
                <a:srgbClr val="F1C40F"/>
              </a:solidFill>
            </c:spPr>
          </c:dPt>
          <c:dPt>
            <c:idx val="6"/>
            <c:spPr>
              <a:solidFill>
                <a:srgbClr val="F1C40F"/>
              </a:solidFill>
            </c:spPr>
          </c:dPt>
          <c:dPt>
            <c:idx val="7"/>
            <c:spPr>
              <a:solidFill>
                <a:srgbClr val="E67E22"/>
              </a:solidFill>
            </c:spPr>
          </c:dPt>
          <c:dPt>
            <c:idx val="8"/>
            <c:spPr>
              <a:solidFill>
                <a:srgbClr val="E67E22"/>
              </a:solidFill>
            </c:spPr>
          </c:dPt>
          <c:dPt>
            <c:idx val="9"/>
            <c:spPr>
              <a:solidFill>
                <a:srgbClr val="E67E22"/>
              </a:solidFill>
            </c:spPr>
          </c:dPt>
          <c:dPt>
            <c:idx val="10"/>
            <c:spPr>
              <a:solidFill>
                <a:srgbClr val="E67E22"/>
              </a:solidFill>
            </c:spPr>
          </c:dPt>
          <c:dPt>
            <c:idx val="11"/>
            <c:spPr>
              <a:solidFill>
                <a:srgbClr val="E67E22"/>
              </a:solidFill>
            </c:spPr>
          </c:dPt>
          <c:cat>
            <c:strRef>
              <c:f>Sheet1!$A$2:$A$13</c:f>
              <c:strCache>
                <c:ptCount val="12"/>
                <c:pt idx="0">
                  <c:v>Kaniyi</c:v>
                </c:pt>
                <c:pt idx="1">
                  <c:v>Kitsuku</c:v>
                </c:pt>
                <c:pt idx="2">
                  <c:v>Magheria</c:v>
                </c:pt>
                <c:pt idx="3">
                  <c:v>Mihake</c:v>
                </c:pt>
                <c:pt idx="4">
                  <c:v>Kitsimba</c:v>
                </c:pt>
                <c:pt idx="5">
                  <c:v>Vusumba</c:v>
                </c:pt>
                <c:pt idx="6">
                  <c:v>Nyabili</c:v>
                </c:pt>
                <c:pt idx="7">
                  <c:v>Miringate</c:v>
                </c:pt>
                <c:pt idx="8">
                  <c:v>Ikuvula</c:v>
                </c:pt>
                <c:pt idx="9">
                  <c:v>Masereka</c:v>
                </c:pt>
                <c:pt idx="10">
                  <c:v>Lukanga</c:v>
                </c:pt>
                <c:pt idx="11">
                  <c:v>Luotu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138.0</c:v>
                </c:pt>
                <c:pt idx="1">
                  <c:v>54.0</c:v>
                </c:pt>
                <c:pt idx="2">
                  <c:v>50.0</c:v>
                </c:pt>
                <c:pt idx="3">
                  <c:v>44.0</c:v>
                </c:pt>
                <c:pt idx="4">
                  <c:v>36.0</c:v>
                </c:pt>
                <c:pt idx="5">
                  <c:v>32.0</c:v>
                </c:pt>
                <c:pt idx="6">
                  <c:v>26.0</c:v>
                </c:pt>
                <c:pt idx="7">
                  <c:v>19.0</c:v>
                </c:pt>
                <c:pt idx="8">
                  <c:v>18.0</c:v>
                </c:pt>
                <c:pt idx="9">
                  <c:v>13.0</c:v>
                </c:pt>
                <c:pt idx="10">
                  <c:v>11.0</c:v>
                </c:pt>
                <c:pt idx="11">
                  <c:v>7.0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Sources des alertes du jour, 51 alertes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Alertes</c:v>
                </c:pt>
              </c:strCache>
            </c:strRef>
          </c:tx>
          <c:spPr>
            <a:solidFill>
              <a:srgbClr val="1F3864"/>
            </a:solidFill>
          </c:spPr>
          <c:dPt>
            <c:idx val="0"/>
            <c:spPr>
              <a:solidFill>
                <a:srgbClr val="1F3864"/>
              </a:solidFill>
            </c:spPr>
          </c:dPt>
          <c:dPt>
            <c:idx val="1"/>
            <c:spPr>
              <a:solidFill>
                <a:srgbClr val="16A085"/>
              </a:solidFill>
            </c:spPr>
          </c:dPt>
          <c:dPt>
            <c:idx val="2"/>
            <c:spPr>
              <a:solidFill>
                <a:srgbClr val="E67E22"/>
              </a:solidFill>
            </c:spPr>
          </c:dPt>
          <c:dPt>
            <c:idx val="3"/>
            <c:spPr>
              <a:solidFill>
                <a:srgbClr val="8E44AD"/>
              </a:solidFill>
            </c:spPr>
          </c:dPt>
          <c:dPt>
            <c:idx val="4"/>
            <c:spPr>
              <a:solidFill>
                <a:srgbClr val="2E75B6"/>
              </a:solidFill>
            </c:spPr>
          </c:dPt>
          <c:cat>
            <c:strRef>
              <c:f>Sheet1!$A$2:$A$6</c:f>
              <c:strCache>
                <c:ptCount val="5"/>
                <c:pt idx="0">
                  <c:v>ESS / FOSA / recherche passive</c:v>
                </c:pt>
                <c:pt idx="1">
                  <c:v>Communauté / SBC</c:v>
                </c:pt>
                <c:pt idx="2">
                  <c:v>Recherche active (RA)</c:v>
                </c:pt>
                <c:pt idx="3">
                  <c:v>PoE / PoC</c:v>
                </c:pt>
                <c:pt idx="4">
                  <c:v>Contacts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10.0</c:v>
                </c:pt>
                <c:pt idx="1">
                  <c:v>0.0</c:v>
                </c:pt>
                <c:pt idx="2">
                  <c:v>41.0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Évolution des alertes sur 14 jours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Alertes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Sheet1!$A$2:$A$15</c:f>
              <c:strCache>
                <c:ptCount val="14"/>
                <c:pt idx="0">
                  <c:v>12/10</c:v>
                </c:pt>
                <c:pt idx="1">
                  <c:v>13/10</c:v>
                </c:pt>
                <c:pt idx="2">
                  <c:v>14/10</c:v>
                </c:pt>
                <c:pt idx="3">
                  <c:v>15/10</c:v>
                </c:pt>
                <c:pt idx="4">
                  <c:v>16/10</c:v>
                </c:pt>
                <c:pt idx="5">
                  <c:v>17/10</c:v>
                </c:pt>
                <c:pt idx="6">
                  <c:v>18/10</c:v>
                </c:pt>
                <c:pt idx="7">
                  <c:v>19/10</c:v>
                </c:pt>
                <c:pt idx="8">
                  <c:v>20/10</c:v>
                </c:pt>
                <c:pt idx="9">
                  <c:v>21/10</c:v>
                </c:pt>
                <c:pt idx="10">
                  <c:v>22/10</c:v>
                </c:pt>
                <c:pt idx="11">
                  <c:v>23/10</c:v>
                </c:pt>
                <c:pt idx="12">
                  <c:v>24/10</c:v>
                </c:pt>
                <c:pt idx="13">
                  <c:v>25/10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75.0</c:v>
                </c:pt>
                <c:pt idx="1">
                  <c:v>89.0</c:v>
                </c:pt>
                <c:pt idx="2">
                  <c:v>59.0</c:v>
                </c:pt>
                <c:pt idx="3">
                  <c:v>3.0</c:v>
                </c:pt>
                <c:pt idx="4">
                  <c:v>26.0</c:v>
                </c:pt>
                <c:pt idx="5">
                  <c:v>4.0</c:v>
                </c:pt>
                <c:pt idx="6">
                  <c:v>75.0</c:v>
                </c:pt>
                <c:pt idx="7">
                  <c:v>9.0</c:v>
                </c:pt>
                <c:pt idx="8">
                  <c:v>54.0</c:v>
                </c:pt>
                <c:pt idx="9">
                  <c:v>72.0</c:v>
                </c:pt>
                <c:pt idx="10">
                  <c:v>57.0</c:v>
                </c:pt>
                <c:pt idx="11">
                  <c:v>74.0</c:v>
                </c:pt>
                <c:pt idx="12">
                  <c:v>44.0</c:v>
                </c:pt>
                <c:pt idx="13">
                  <c:v>51.0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Investiguées</c:v>
                </c:pt>
              </c:strCache>
            </c:strRef>
          </c:tx>
          <c:spPr>
            <a:solidFill>
              <a:srgbClr val="16A085"/>
            </a:solidFill>
          </c:spPr>
          <c:cat>
            <c:strRef>
              <c:f>Sheet1!$A$2:$A$15</c:f>
              <c:strCache>
                <c:ptCount val="14"/>
                <c:pt idx="0">
                  <c:v>12/10</c:v>
                </c:pt>
                <c:pt idx="1">
                  <c:v>13/10</c:v>
                </c:pt>
                <c:pt idx="2">
                  <c:v>14/10</c:v>
                </c:pt>
                <c:pt idx="3">
                  <c:v>15/10</c:v>
                </c:pt>
                <c:pt idx="4">
                  <c:v>16/10</c:v>
                </c:pt>
                <c:pt idx="5">
                  <c:v>17/10</c:v>
                </c:pt>
                <c:pt idx="6">
                  <c:v>18/10</c:v>
                </c:pt>
                <c:pt idx="7">
                  <c:v>19/10</c:v>
                </c:pt>
                <c:pt idx="8">
                  <c:v>20/10</c:v>
                </c:pt>
                <c:pt idx="9">
                  <c:v>21/10</c:v>
                </c:pt>
                <c:pt idx="10">
                  <c:v>22/10</c:v>
                </c:pt>
                <c:pt idx="11">
                  <c:v>23/10</c:v>
                </c:pt>
                <c:pt idx="12">
                  <c:v>24/10</c:v>
                </c:pt>
                <c:pt idx="13">
                  <c:v>25/10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75.0</c:v>
                </c:pt>
                <c:pt idx="1">
                  <c:v>89.0</c:v>
                </c:pt>
                <c:pt idx="2">
                  <c:v>59.0</c:v>
                </c:pt>
                <c:pt idx="3">
                  <c:v>3.0</c:v>
                </c:pt>
                <c:pt idx="4">
                  <c:v>26.0</c:v>
                </c:pt>
                <c:pt idx="5">
                  <c:v>4.0</c:v>
                </c:pt>
                <c:pt idx="6">
                  <c:v>75.0</c:v>
                </c:pt>
                <c:pt idx="7">
                  <c:v>9.0</c:v>
                </c:pt>
                <c:pt idx="8">
                  <c:v>54.0</c:v>
                </c:pt>
                <c:pt idx="9">
                  <c:v>72.0</c:v>
                </c:pt>
                <c:pt idx="10">
                  <c:v>57.0</c:v>
                </c:pt>
                <c:pt idx="11">
                  <c:v>74.0</c:v>
                </c:pt>
                <c:pt idx="12">
                  <c:v>44.0</c:v>
                </c:pt>
                <c:pt idx="13">
                  <c:v>51.0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Validées</c:v>
                </c:pt>
              </c:strCache>
            </c:strRef>
          </c:tx>
          <c:spPr>
            <a:solidFill>
              <a:srgbClr val="E67E22"/>
            </a:solidFill>
          </c:spPr>
          <c:cat>
            <c:strRef>
              <c:f>Sheet1!$A$2:$A$15</c:f>
              <c:strCache>
                <c:ptCount val="14"/>
                <c:pt idx="0">
                  <c:v>12/10</c:v>
                </c:pt>
                <c:pt idx="1">
                  <c:v>13/10</c:v>
                </c:pt>
                <c:pt idx="2">
                  <c:v>14/10</c:v>
                </c:pt>
                <c:pt idx="3">
                  <c:v>15/10</c:v>
                </c:pt>
                <c:pt idx="4">
                  <c:v>16/10</c:v>
                </c:pt>
                <c:pt idx="5">
                  <c:v>17/10</c:v>
                </c:pt>
                <c:pt idx="6">
                  <c:v>18/10</c:v>
                </c:pt>
                <c:pt idx="7">
                  <c:v>19/10</c:v>
                </c:pt>
                <c:pt idx="8">
                  <c:v>20/10</c:v>
                </c:pt>
                <c:pt idx="9">
                  <c:v>21/10</c:v>
                </c:pt>
                <c:pt idx="10">
                  <c:v>22/10</c:v>
                </c:pt>
                <c:pt idx="11">
                  <c:v>23/10</c:v>
                </c:pt>
                <c:pt idx="12">
                  <c:v>24/10</c:v>
                </c:pt>
                <c:pt idx="13">
                  <c:v>25/10</c:v>
                </c:pt>
              </c:strCache>
            </c:strRef>
          </c:cat>
          <c:val>
            <c:numRef>
              <c:f>Sheet1!$D$2:$D$15</c:f>
              <c:numCache>
                <c:formatCode>General</c:formatCode>
                <c:ptCount val="14"/>
                <c:pt idx="0">
                  <c:v>7.0</c:v>
                </c:pt>
                <c:pt idx="1">
                  <c:v>26.0</c:v>
                </c:pt>
                <c:pt idx="2">
                  <c:v>12.0</c:v>
                </c:pt>
                <c:pt idx="3">
                  <c:v>3.0</c:v>
                </c:pt>
                <c:pt idx="4">
                  <c:v>26.0</c:v>
                </c:pt>
                <c:pt idx="5">
                  <c:v>4.0</c:v>
                </c:pt>
                <c:pt idx="6">
                  <c:v>29.0</c:v>
                </c:pt>
                <c:pt idx="7">
                  <c:v>9.0</c:v>
                </c:pt>
                <c:pt idx="8">
                  <c:v>1.0</c:v>
                </c:pt>
                <c:pt idx="9">
                  <c:v>8.0</c:v>
                </c:pt>
                <c:pt idx="10">
                  <c:v>3.0</c:v>
                </c:pt>
                <c:pt idx="11">
                  <c:v>4.0</c:v>
                </c:pt>
                <c:pt idx="12">
                  <c:v>0.0</c:v>
                </c:pt>
                <c:pt idx="13">
                  <c:v>10.0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Sources des alertes sur les 3 derniers jours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23/10</c:v>
                </c:pt>
              </c:strCache>
            </c:strRef>
          </c:tx>
          <c:spPr>
            <a:solidFill>
              <a:srgbClr val="AEB6BF"/>
            </a:solidFill>
          </c:spPr>
          <c:cat>
            <c:strRef>
              <c:f>Sheet1!$A$2:$A$6</c:f>
              <c:strCache>
                <c:ptCount val="5"/>
                <c:pt idx="0">
                  <c:v>ESS / FOSA</c:v>
                </c:pt>
                <c:pt idx="1">
                  <c:v>Communauté / SBC</c:v>
                </c:pt>
                <c:pt idx="2">
                  <c:v>Recherche active</c:v>
                </c:pt>
                <c:pt idx="3">
                  <c:v>PoE / PoC</c:v>
                </c:pt>
                <c:pt idx="4">
                  <c:v>Contacts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3.0</c:v>
                </c:pt>
                <c:pt idx="1">
                  <c:v>1.0</c:v>
                </c:pt>
                <c:pt idx="2">
                  <c:v>70.0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24/10</c:v>
                </c:pt>
              </c:strCache>
            </c:strRef>
          </c:tx>
          <c:spPr>
            <a:solidFill>
              <a:srgbClr val="5D8AA8"/>
            </a:solidFill>
          </c:spPr>
          <c:cat>
            <c:strRef>
              <c:f>Sheet1!$A$2:$A$6</c:f>
              <c:strCache>
                <c:ptCount val="5"/>
                <c:pt idx="0">
                  <c:v>ESS / FOSA</c:v>
                </c:pt>
                <c:pt idx="1">
                  <c:v>Communauté / SBC</c:v>
                </c:pt>
                <c:pt idx="2">
                  <c:v>Recherche active</c:v>
                </c:pt>
                <c:pt idx="3">
                  <c:v>PoE / PoC</c:v>
                </c:pt>
                <c:pt idx="4">
                  <c:v>Contacts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44.0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25/10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Sheet1!$A$2:$A$6</c:f>
              <c:strCache>
                <c:ptCount val="5"/>
                <c:pt idx="0">
                  <c:v>ESS / FOSA</c:v>
                </c:pt>
                <c:pt idx="1">
                  <c:v>Communauté / SBC</c:v>
                </c:pt>
                <c:pt idx="2">
                  <c:v>Recherche active</c:v>
                </c:pt>
                <c:pt idx="3">
                  <c:v>PoE / PoC</c:v>
                </c:pt>
                <c:pt idx="4">
                  <c:v>Contacts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10.0</c:v>
                </c:pt>
                <c:pt idx="1">
                  <c:v>0.0</c:v>
                </c:pt>
                <c:pt idx="2">
                  <c:v>41.0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Raisons de non-suivi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Non vus</c:v>
                </c:pt>
              </c:strCache>
            </c:strRef>
          </c:tx>
          <c:spPr>
            <a:solidFill>
              <a:srgbClr val="C0392B"/>
            </a:solidFill>
          </c:spPr>
          <c:dPt>
            <c:idx val="0"/>
            <c:spPr>
              <a:solidFill>
                <a:srgbClr val="C0392B"/>
              </a:solidFill>
            </c:spPr>
          </c:dPt>
          <c:dPt>
            <c:idx val="1"/>
            <c:spPr>
              <a:solidFill>
                <a:srgbClr val="E67E22"/>
              </a:solidFill>
            </c:spPr>
          </c:dPt>
          <c:dPt>
            <c:idx val="2"/>
            <c:spPr>
              <a:solidFill>
                <a:srgbClr val="922B21"/>
              </a:solidFill>
            </c:spPr>
          </c:dPt>
          <c:dPt>
            <c:idx val="3"/>
            <c:spPr>
              <a:solidFill>
                <a:srgbClr val="8C96A0"/>
              </a:solidFill>
            </c:spPr>
          </c:dPt>
          <c:dPt>
            <c:idx val="4"/>
            <c:spPr>
              <a:solidFill>
                <a:srgbClr val="2E75B6"/>
              </a:solidFill>
            </c:spPr>
          </c:dPt>
          <c:cat>
            <c:strRef>
              <c:f>Sheet1!$A$2:$A$6</c:f>
              <c:strCache>
                <c:ptCount val="5"/>
                <c:pt idx="0">
                  <c:v>Jamais vus</c:v>
                </c:pt>
                <c:pt idx="1">
                  <c:v>Non vus &lt; 48 h (simple absence)</c:v>
                </c:pt>
                <c:pt idx="2">
                  <c:v>Perdus de vue (≥ 72 h)</c:v>
                </c:pt>
                <c:pt idx="3">
                  <c:v>Refus / réticences</c:v>
                </c:pt>
                <c:pt idx="4">
                  <c:v>Déplacés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Taux de suivi des contacts (21 derniers jours)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Taux de suivi</c:v>
                </c:pt>
              </c:strCache>
            </c:strRef>
          </c:tx>
          <c:spPr>
            <a:ln w="28575">
              <a:solidFill>
                <a:srgbClr val="16A085"/>
              </a:solidFill>
            </a:ln>
          </c:spPr>
          <c:cat>
            <c:strRef>
              <c:f>Sheet1!$A$2:$A$22</c:f>
              <c:strCache>
                <c:ptCount val="21"/>
                <c:pt idx="0">
                  <c:v>05/10</c:v>
                </c:pt>
                <c:pt idx="1">
                  <c:v>06/10</c:v>
                </c:pt>
                <c:pt idx="2">
                  <c:v>07/10</c:v>
                </c:pt>
                <c:pt idx="3">
                  <c:v>08/10</c:v>
                </c:pt>
                <c:pt idx="4">
                  <c:v>09/10</c:v>
                </c:pt>
                <c:pt idx="5">
                  <c:v>10/10</c:v>
                </c:pt>
                <c:pt idx="6">
                  <c:v>11/10</c:v>
                </c:pt>
                <c:pt idx="7">
                  <c:v>12/10</c:v>
                </c:pt>
                <c:pt idx="8">
                  <c:v>13/10</c:v>
                </c:pt>
                <c:pt idx="9">
                  <c:v>14/10</c:v>
                </c:pt>
                <c:pt idx="10">
                  <c:v>15/10</c:v>
                </c:pt>
                <c:pt idx="11">
                  <c:v>16/10</c:v>
                </c:pt>
                <c:pt idx="12">
                  <c:v>17/10</c:v>
                </c:pt>
                <c:pt idx="13">
                  <c:v>18/10</c:v>
                </c:pt>
                <c:pt idx="14">
                  <c:v>19/10</c:v>
                </c:pt>
                <c:pt idx="15">
                  <c:v>20/10</c:v>
                </c:pt>
                <c:pt idx="16">
                  <c:v>21/10</c:v>
                </c:pt>
                <c:pt idx="17">
                  <c:v>22/10</c:v>
                </c:pt>
                <c:pt idx="18">
                  <c:v>23/10</c:v>
                </c:pt>
                <c:pt idx="19">
                  <c:v>24/10</c:v>
                </c:pt>
                <c:pt idx="20">
                  <c:v>25/10</c:v>
                </c:pt>
              </c:strCache>
            </c: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97.9</c:v>
                </c:pt>
                <c:pt idx="1">
                  <c:v>97.9</c:v>
                </c:pt>
                <c:pt idx="2">
                  <c:v>95.9</c:v>
                </c:pt>
                <c:pt idx="3">
                  <c:v>98.4</c:v>
                </c:pt>
                <c:pt idx="4">
                  <c:v>98.4</c:v>
                </c:pt>
                <c:pt idx="5">
                  <c:v>98.0</c:v>
                </c:pt>
                <c:pt idx="6">
                  <c:v>98.0</c:v>
                </c:pt>
                <c:pt idx="7">
                  <c:v>98.0</c:v>
                </c:pt>
                <c:pt idx="8">
                  <c:v>97.7</c:v>
                </c:pt>
                <c:pt idx="9">
                  <c:v>97.7</c:v>
                </c:pt>
                <c:pt idx="10">
                  <c:v>97.7</c:v>
                </c:pt>
                <c:pt idx="11">
                  <c:v>97.7</c:v>
                </c:pt>
                <c:pt idx="12">
                  <c:v>100.0</c:v>
                </c:pt>
                <c:pt idx="13">
                  <c:v>97.1</c:v>
                </c:pt>
                <c:pt idx="14">
                  <c:v>97.3</c:v>
                </c:pt>
                <c:pt idx="15">
                  <c:v>97.3</c:v>
                </c:pt>
                <c:pt idx="16">
                  <c:v>97.3</c:v>
                </c:pt>
                <c:pt idx="17">
                  <c:v>97.0</c:v>
                </c:pt>
                <c:pt idx="18">
                  <c:v>97.0</c:v>
                </c:pt>
                <c:pt idx="19">
                  <c:v>97.0</c:v>
                </c:pt>
                <c:pt idx="20">
                  <c:v>100.0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numFmt formatCode="0&quot; %&quot;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Résultats par jour (14 jours)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Positifs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Sheet1!$A$2:$A$15</c:f>
              <c:strCache>
                <c:ptCount val="14"/>
                <c:pt idx="0">
                  <c:v>10/09</c:v>
                </c:pt>
                <c:pt idx="1">
                  <c:v>11/09</c:v>
                </c:pt>
                <c:pt idx="2">
                  <c:v>12/09</c:v>
                </c:pt>
                <c:pt idx="3">
                  <c:v>13/09</c:v>
                </c:pt>
                <c:pt idx="4">
                  <c:v>14/09</c:v>
                </c:pt>
                <c:pt idx="5">
                  <c:v>15/09</c:v>
                </c:pt>
                <c:pt idx="6">
                  <c:v>16/09</c:v>
                </c:pt>
                <c:pt idx="7">
                  <c:v>17/09</c:v>
                </c:pt>
                <c:pt idx="8">
                  <c:v>18/09</c:v>
                </c:pt>
                <c:pt idx="9">
                  <c:v>19/09</c:v>
                </c:pt>
                <c:pt idx="10">
                  <c:v>20/09</c:v>
                </c:pt>
                <c:pt idx="11">
                  <c:v>21/09</c:v>
                </c:pt>
                <c:pt idx="12">
                  <c:v>22/09</c:v>
                </c:pt>
                <c:pt idx="13">
                  <c:v>23/09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2.0</c:v>
                </c:pt>
                <c:pt idx="1">
                  <c:v>0.0</c:v>
                </c:pt>
                <c:pt idx="2">
                  <c:v>0.0</c:v>
                </c:pt>
                <c:pt idx="3">
                  <c:v>1.0</c:v>
                </c:pt>
                <c:pt idx="4">
                  <c:v>3.0</c:v>
                </c:pt>
                <c:pt idx="5">
                  <c:v>1.0</c:v>
                </c:pt>
                <c:pt idx="6">
                  <c:v>0.0</c:v>
                </c:pt>
                <c:pt idx="7">
                  <c:v>1.0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3.0</c:v>
                </c:pt>
                <c:pt idx="12">
                  <c:v>0.0</c:v>
                </c:pt>
                <c:pt idx="13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Négatifs</c:v>
                </c:pt>
              </c:strCache>
            </c:strRef>
          </c:tx>
          <c:spPr>
            <a:solidFill>
              <a:srgbClr val="8C96A0"/>
            </a:solidFill>
          </c:spPr>
          <c:cat>
            <c:strRef>
              <c:f>Sheet1!$A$2:$A$15</c:f>
              <c:strCache>
                <c:ptCount val="14"/>
                <c:pt idx="0">
                  <c:v>10/09</c:v>
                </c:pt>
                <c:pt idx="1">
                  <c:v>11/09</c:v>
                </c:pt>
                <c:pt idx="2">
                  <c:v>12/09</c:v>
                </c:pt>
                <c:pt idx="3">
                  <c:v>13/09</c:v>
                </c:pt>
                <c:pt idx="4">
                  <c:v>14/09</c:v>
                </c:pt>
                <c:pt idx="5">
                  <c:v>15/09</c:v>
                </c:pt>
                <c:pt idx="6">
                  <c:v>16/09</c:v>
                </c:pt>
                <c:pt idx="7">
                  <c:v>17/09</c:v>
                </c:pt>
                <c:pt idx="8">
                  <c:v>18/09</c:v>
                </c:pt>
                <c:pt idx="9">
                  <c:v>19/09</c:v>
                </c:pt>
                <c:pt idx="10">
                  <c:v>20/09</c:v>
                </c:pt>
                <c:pt idx="11">
                  <c:v>21/09</c:v>
                </c:pt>
                <c:pt idx="12">
                  <c:v>22/09</c:v>
                </c:pt>
                <c:pt idx="13">
                  <c:v>23/09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6.0</c:v>
                </c:pt>
                <c:pt idx="1">
                  <c:v>7.0</c:v>
                </c:pt>
                <c:pt idx="2">
                  <c:v>5.0</c:v>
                </c:pt>
                <c:pt idx="3">
                  <c:v>14.0</c:v>
                </c:pt>
                <c:pt idx="4">
                  <c:v>12.0</c:v>
                </c:pt>
                <c:pt idx="5">
                  <c:v>13.0</c:v>
                </c:pt>
                <c:pt idx="6">
                  <c:v>8.0</c:v>
                </c:pt>
                <c:pt idx="7">
                  <c:v>9.0</c:v>
                </c:pt>
                <c:pt idx="8">
                  <c:v>9.0</c:v>
                </c:pt>
                <c:pt idx="9">
                  <c:v>3.0</c:v>
                </c:pt>
                <c:pt idx="10">
                  <c:v>6.0</c:v>
                </c:pt>
                <c:pt idx="11">
                  <c:v>5.0</c:v>
                </c:pt>
                <c:pt idx="12">
                  <c:v>9.0</c:v>
                </c:pt>
                <c:pt idx="13">
                  <c:v>1.0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Positivité hebdomadaire (12 semaines)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Positivité</c:v>
                </c:pt>
              </c:strCache>
            </c:strRef>
          </c:tx>
          <c:spPr>
            <a:ln w="28575">
              <a:solidFill>
                <a:srgbClr val="C0392B"/>
              </a:solidFill>
            </a:ln>
          </c:spPr>
          <c:cat>
            <c:strRef>
              <c:f>Sheet1!$A$2:$A$13</c:f>
              <c:strCache>
                <c:ptCount val="12"/>
                <c:pt idx="0">
                  <c:v>SE28</c:v>
                </c:pt>
                <c:pt idx="1">
                  <c:v>SE29</c:v>
                </c:pt>
                <c:pt idx="2">
                  <c:v>SE30</c:v>
                </c:pt>
                <c:pt idx="3">
                  <c:v>SE31</c:v>
                </c:pt>
                <c:pt idx="4">
                  <c:v>SE32</c:v>
                </c:pt>
                <c:pt idx="5">
                  <c:v>SE33</c:v>
                </c:pt>
                <c:pt idx="6">
                  <c:v>SE34</c:v>
                </c:pt>
                <c:pt idx="7">
                  <c:v>SE35</c:v>
                </c:pt>
                <c:pt idx="8">
                  <c:v>SE36</c:v>
                </c:pt>
                <c:pt idx="9">
                  <c:v>SE37</c:v>
                </c:pt>
                <c:pt idx="10">
                  <c:v>SE38</c:v>
                </c:pt>
                <c:pt idx="11">
                  <c:v>SE39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12.5</c:v>
                </c:pt>
                <c:pt idx="5">
                  <c:v>0.0</c:v>
                </c:pt>
                <c:pt idx="6">
                  <c:v>4.5</c:v>
                </c:pt>
                <c:pt idx="7">
                  <c:v>17.2</c:v>
                </c:pt>
                <c:pt idx="8">
                  <c:v>8.1</c:v>
                </c:pt>
                <c:pt idx="9">
                  <c:v>11.3</c:v>
                </c:pt>
                <c:pt idx="10">
                  <c:v>7.7</c:v>
                </c:pt>
                <c:pt idx="11">
                  <c:v>16.7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25.0"/>
          <c:min val="0.0"/>
        </c:scaling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numFmt formatCode="0&quot; %&quot;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Alertes de décès, EDS et swabs (7 jours)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Alertes de décès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Sheet1!$A$2:$A$8</c:f>
              <c:strCache>
                <c:ptCount val="7"/>
                <c:pt idx="0">
                  <c:v>19/10</c:v>
                </c:pt>
                <c:pt idx="1">
                  <c:v>20/10</c:v>
                </c:pt>
                <c:pt idx="2">
                  <c:v>21/10</c:v>
                </c:pt>
                <c:pt idx="3">
                  <c:v>22/10</c:v>
                </c:pt>
                <c:pt idx="4">
                  <c:v>23/10</c:v>
                </c:pt>
                <c:pt idx="5">
                  <c:v>24/10</c:v>
                </c:pt>
                <c:pt idx="6">
                  <c:v>25/10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0.0</c:v>
                </c:pt>
                <c:pt idx="1">
                  <c:v>0.0</c:v>
                </c:pt>
                <c:pt idx="2">
                  <c:v>2.0</c:v>
                </c:pt>
                <c:pt idx="3">
                  <c:v>1.0</c:v>
                </c:pt>
                <c:pt idx="4">
                  <c:v>2.0</c:v>
                </c:pt>
                <c:pt idx="5">
                  <c:v>0.0</c:v>
                </c:pt>
                <c:pt idx="6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EDS réalisés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Sheet1!$A$2:$A$8</c:f>
              <c:strCache>
                <c:ptCount val="7"/>
                <c:pt idx="0">
                  <c:v>19/10</c:v>
                </c:pt>
                <c:pt idx="1">
                  <c:v>20/10</c:v>
                </c:pt>
                <c:pt idx="2">
                  <c:v>21/10</c:v>
                </c:pt>
                <c:pt idx="3">
                  <c:v>22/10</c:v>
                </c:pt>
                <c:pt idx="4">
                  <c:v>23/10</c:v>
                </c:pt>
                <c:pt idx="5">
                  <c:v>24/10</c:v>
                </c:pt>
                <c:pt idx="6">
                  <c:v>25/10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0.0</c:v>
                </c:pt>
                <c:pt idx="1">
                  <c:v>0.0</c:v>
                </c:pt>
                <c:pt idx="2">
                  <c:v>2.0</c:v>
                </c:pt>
                <c:pt idx="3">
                  <c:v>1.0</c:v>
                </c:pt>
                <c:pt idx="4">
                  <c:v>2.0</c:v>
                </c:pt>
                <c:pt idx="5">
                  <c:v>0.0</c:v>
                </c:pt>
                <c:pt idx="6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Corps swabés</c:v>
                </c:pt>
              </c:strCache>
            </c:strRef>
          </c:tx>
          <c:spPr>
            <a:solidFill>
              <a:srgbClr val="16A085"/>
            </a:solidFill>
          </c:spPr>
          <c:cat>
            <c:strRef>
              <c:f>Sheet1!$A$2:$A$8</c:f>
              <c:strCache>
                <c:ptCount val="7"/>
                <c:pt idx="0">
                  <c:v>19/10</c:v>
                </c:pt>
                <c:pt idx="1">
                  <c:v>20/10</c:v>
                </c:pt>
                <c:pt idx="2">
                  <c:v>21/10</c:v>
                </c:pt>
                <c:pt idx="3">
                  <c:v>22/10</c:v>
                </c:pt>
                <c:pt idx="4">
                  <c:v>23/10</c:v>
                </c:pt>
                <c:pt idx="5">
                  <c:v>24/10</c:v>
                </c:pt>
                <c:pt idx="6">
                  <c:v>25/10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0.0</c:v>
                </c:pt>
                <c:pt idx="1">
                  <c:v>0.0</c:v>
                </c:pt>
                <c:pt idx="2">
                  <c:v>2.0</c:v>
                </c:pt>
                <c:pt idx="3">
                  <c:v>1.0</c:v>
                </c:pt>
                <c:pt idx="4">
                  <c:v>2.0</c:v>
                </c:pt>
                <c:pt idx="5">
                  <c:v>0.0</c:v>
                </c:pt>
                <c:pt idx="6">
                  <c:v>0.0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chart" Target="../charts/char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Relationship Id="rId3" Type="http://schemas.openxmlformats.org/officeDocument/2006/relationships/chart" Target="../charts/chart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0"/>
            <a:ext cx="73152" cy="685800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1887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67E22"/>
                </a:solidFill>
                <a:latin typeface="Calibri"/>
              </a:rPr>
              <a:t>RIPOSTE À LA MALADIE À VIRUS EBOLA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i="0">
                <a:solidFill>
                  <a:srgbClr val="1F3864"/>
                </a:solidFill>
                <a:latin typeface="Calibri"/>
              </a:rPr>
              <a:t>SITUATION DE LA MVE</a:t>
            </a:r>
          </a:p>
          <a:p>
            <a:pPr algn="l"/>
            <a:r>
              <a:rPr sz="4000" b="1" i="0">
                <a:solidFill>
                  <a:srgbClr val="1F3864"/>
                </a:solidFill>
                <a:latin typeface="Calibri"/>
              </a:rPr>
              <a:t>ZS MASEREKA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461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1B2631"/>
                </a:solidFill>
                <a:latin typeface="Calibri"/>
              </a:rPr>
              <a:t>Zone de santé de Masereka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3977639"/>
            <a:ext cx="2926080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2062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5D6D7E"/>
                </a:solidFill>
                <a:latin typeface="Calibri"/>
              </a:rPr>
              <a:t>Situation au 25 octobre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9893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1. Surveillance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Situation de la MVE au 25 octobre 2026, Zone de santé de Masereka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CAS CONFIRMÉS (CUMUL)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38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depuis le 9 juin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55417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DÉCÈS CONFIRMÉS (CUMUL)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5417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5417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létalité : 42 %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0795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AS TOUCHÉES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0795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90795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aires de santé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6172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CAS EN 7 JOURS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26172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26172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3 les 7 jours précédents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6155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ENFANTS &lt; 5 ANS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6155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6155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13,2 % des cas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320040" y="2423160"/>
          <a:ext cx="11548872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320040" y="5943600"/>
            <a:ext cx="11548872" cy="438912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19050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5961888"/>
            <a:ext cx="11274552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1B2631"/>
                </a:solidFill>
                <a:latin typeface="Calibri"/>
              </a:rPr>
              <a:t>Pic à la SE36 (6 cas) ; létalité hebdomadaire de la dernière semaine complète : 33 %.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1. Surveillance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Situation épidémiologique du jour, 25 octobre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NOUVEAUX CAS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0 vivants · 0 décès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55417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VIVANTS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5417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5417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F : 0 · M : 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0795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DÉCÈS CONFIRMÉS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0795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90795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F : 0 · M : 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6172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AS AYANT NOTIFIÉ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26172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26172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ce jour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6155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NOUVELLE AS TOUCHÉE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6155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27AE60"/>
                </a:solidFill>
                <a:latin typeface="Calibri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6155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aucune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20040" y="2926080"/>
            <a:ext cx="11548872" cy="438912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19050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2944368"/>
            <a:ext cx="11274552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1B2631"/>
                </a:solidFill>
                <a:latin typeface="Calibri"/>
              </a:rPr>
              <a:t>Aucun cas confirmé notifié le 25 octobre 2026.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1. Surveillance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Nombre de jours sans nouveau cas confirmé par aire de santé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4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320040" y="1234440"/>
          <a:ext cx="7863840" cy="51206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412480" y="1325880"/>
            <a:ext cx="34564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0" y="1325880"/>
            <a:ext cx="3456432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1325880"/>
            <a:ext cx="34564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0 JOUR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1600200"/>
            <a:ext cx="34564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0 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039112"/>
            <a:ext cx="34564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avec cas confirmé ce jour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0" y="2487168"/>
            <a:ext cx="34564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12480" y="2487168"/>
            <a:ext cx="3456432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2487168"/>
            <a:ext cx="34564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1 À 21 JOURS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761487"/>
            <a:ext cx="34564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5 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3200400"/>
            <a:ext cx="34564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transmission récente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0" y="3648456"/>
            <a:ext cx="34564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B79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412480" y="3648456"/>
            <a:ext cx="3456432" cy="274320"/>
          </a:xfrm>
          <a:prstGeom prst="rect">
            <a:avLst/>
          </a:prstGeom>
          <a:solidFill>
            <a:srgbClr val="B79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3648456"/>
            <a:ext cx="34564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22 À 41 JOURS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3922776"/>
            <a:ext cx="34564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B7950B"/>
                </a:solidFill>
                <a:latin typeface="Calibri"/>
              </a:rPr>
              <a:t>3 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4361688"/>
            <a:ext cx="34564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vigilance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4809744"/>
            <a:ext cx="34564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412480" y="4809744"/>
            <a:ext cx="3456432" cy="27432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0" y="4809744"/>
            <a:ext cx="34564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≥ 42 JOURS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5084064"/>
            <a:ext cx="34564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27AE60"/>
                </a:solidFill>
                <a:latin typeface="Calibri"/>
              </a:rPr>
              <a:t>4 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5522976"/>
            <a:ext cx="34564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Kaniyi : 138 jours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1. Surveillance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Répartition des cas confirmés de MVE par aire de santé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5</a:t>
            </a:r>
          </a:p>
        </p:txBody>
      </p:sp>
      <p:pic>
        <p:nvPicPr>
          <p:cNvPr id="7" name="Picture 6" descr="Carte_categorie_20261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3720" y="1234440"/>
            <a:ext cx="7304253" cy="51663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2. Alertes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Situation des alertes au 25 octobre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1818132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NOUVELLES ALERTES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51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dont 0 décès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66188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266188" y="1261872"/>
            <a:ext cx="1818132" cy="27432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66188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ALERTES À TRAITER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66188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2E75B6"/>
                </a:solidFill>
                <a:latin typeface="Calibri"/>
              </a:rPr>
              <a:t>51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6188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nouvelles + 0 en report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12336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12336" y="1261872"/>
            <a:ext cx="1818132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12336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INVESTIGUÉES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12336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51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12336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100,0 % des alertes à traiter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58483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58483" y="1261872"/>
            <a:ext cx="1818132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58483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VALIDÉES (SUSPECTS)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58483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10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58483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19,6 % des investiguées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04632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04632" y="1261872"/>
            <a:ext cx="1818132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04632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ACHEMINÉES CT/CTE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04632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10/10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04632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100,0 %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0780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050780" y="1261872"/>
            <a:ext cx="1818132" cy="27432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0780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PRÉLEVÉES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0780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27AE60"/>
                </a:solidFill>
                <a:latin typeface="Calibri"/>
              </a:rPr>
              <a:t>10/10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0780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100,0 % des validées</a:t>
            </a:r>
          </a:p>
        </p:txBody>
      </p:sp>
      <p:graphicFrame>
        <p:nvGraphicFramePr>
          <p:cNvPr id="37" name="Chart 36"/>
          <p:cNvGraphicFramePr>
            <a:graphicFrameLocks noGrp="1"/>
          </p:cNvGraphicFramePr>
          <p:nvPr/>
        </p:nvGraphicFramePr>
        <p:xfrm>
          <a:off x="320040" y="2423160"/>
          <a:ext cx="539496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8" name="Chart 37"/>
          <p:cNvGraphicFramePr>
            <a:graphicFrameLocks noGrp="1"/>
          </p:cNvGraphicFramePr>
          <p:nvPr/>
        </p:nvGraphicFramePr>
        <p:xfrm>
          <a:off x="5852160" y="2423160"/>
          <a:ext cx="6016752" cy="3474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2. Alertes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Tableau comparatif des alertes sur 3 jours, Zone de santé de Masereka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188720"/>
          <a:ext cx="11548872" cy="38084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9774"/>
                <a:gridCol w="2309774"/>
                <a:gridCol w="2309774"/>
                <a:gridCol w="2309774"/>
                <a:gridCol w="2309776"/>
              </a:tblGrid>
              <a:tr h="22402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Indicateur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23/10/2026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24/10/2026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25/10/2026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Évolution (dernier jour / veille)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Nouvelles alertes vivantes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72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44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51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+7 (+16 %)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Nouvelles alertes de décès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=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Report de la veille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=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Total des alertes à traiter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74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44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51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+7 (+16 %)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Alertes investiguées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74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44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51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+7 (+16 %)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% investiguées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100 %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100 %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100 %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+0 pt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Alertes validées (suspects)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4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+10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Acheminées au CT/CTE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+10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Prélevées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4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+10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EDS réalisés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=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Corps swabés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=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ESS / FOSA / recherche passive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3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+10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Communauté / SBC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=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Recherche active (RA)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70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44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41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−3 (−7 %)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PoE / PoC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=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Contacts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=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2. Alertes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Sources des alertes sur les 3 derniers jours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8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320040" y="1234440"/>
          <a:ext cx="11548872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3. Suivi des contacts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Situation du suivi des contacts au 25 octobre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À SUIVRE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296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dont 0 nouveaux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55417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VUS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5417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296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5417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contacts vus ce jour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0795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TAUX DE SUIVI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0795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27AE60"/>
                </a:solidFill>
                <a:latin typeface="Calibri"/>
              </a:rPr>
              <a:t>100 %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90795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cible ≥ 90 %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6172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NON VUS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26172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26172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dont 0 jamais vus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6155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DEVENUS SUSPECTS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6155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6155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0 sortis au 21e jour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320040" y="2423160"/>
          <a:ext cx="576072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3" name="Chart 32"/>
          <p:cNvGraphicFramePr>
            <a:graphicFrameLocks noGrp="1"/>
          </p:cNvGraphicFramePr>
          <p:nvPr/>
        </p:nvGraphicFramePr>
        <p:xfrm>
          <a:off x="6172200" y="2423160"/>
          <a:ext cx="5696712" cy="3474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5. Laboratoire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Laboratoire, situation au 25 octobre 2026 (derniers résultats saisis : 23 septembre 2026)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79120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791206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79120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ÉCHANTILLONS ANALYSÉS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79120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46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79120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7 jours au 23/09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39262" y="1261872"/>
            <a:ext cx="279120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39262" y="1261872"/>
            <a:ext cx="2791206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39262" y="1261872"/>
            <a:ext cx="279120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POSITIFS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39262" y="1536192"/>
            <a:ext cx="279120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9262" y="1975104"/>
            <a:ext cx="279120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positivité 8,7 %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58484" y="1261872"/>
            <a:ext cx="279120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58484" y="1261872"/>
            <a:ext cx="2791206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58484" y="1261872"/>
            <a:ext cx="279120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POST-MORTEM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58484" y="1536192"/>
            <a:ext cx="279120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1/4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58484" y="1975104"/>
            <a:ext cx="279120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positivité 25,0 %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77706" y="1261872"/>
            <a:ext cx="279120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77706" y="1261872"/>
            <a:ext cx="2791206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77706" y="1261872"/>
            <a:ext cx="279120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RE-PRÉLÈVEMENTS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7706" y="1536192"/>
            <a:ext cx="279120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13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77706" y="1975104"/>
            <a:ext cx="279120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sur la période</a:t>
            </a:r>
          </a:p>
        </p:txBody>
      </p:sp>
      <p:graphicFrame>
        <p:nvGraphicFramePr>
          <p:cNvPr id="27" name="Chart 26"/>
          <p:cNvGraphicFramePr>
            <a:graphicFrameLocks noGrp="1"/>
          </p:cNvGraphicFramePr>
          <p:nvPr/>
        </p:nvGraphicFramePr>
        <p:xfrm>
          <a:off x="320040" y="2423160"/>
          <a:ext cx="676656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28" name="Chart 27"/>
          <p:cNvGraphicFramePr>
            <a:graphicFrameLocks noGrp="1"/>
          </p:cNvGraphicFramePr>
          <p:nvPr/>
        </p:nvGraphicFramePr>
        <p:xfrm>
          <a:off x="7223760" y="2423160"/>
          <a:ext cx="4645152" cy="3474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9. Enterrements dignes et sécurisés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Décès communautaires, EDS et prélèvements, situation au 25 octobre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20065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200656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2006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ALERTES DE DÉCÈS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2006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20065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7 jours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48712" y="1261872"/>
            <a:ext cx="220065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48712" y="1261872"/>
            <a:ext cx="2200656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48712" y="1261872"/>
            <a:ext cx="22006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EDS RÉALISÉS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48712" y="1536192"/>
            <a:ext cx="22006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48712" y="1975104"/>
            <a:ext cx="220065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7 jours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77384" y="1261872"/>
            <a:ext cx="220065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77384" y="1261872"/>
            <a:ext cx="2200656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77384" y="1261872"/>
            <a:ext cx="22006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CORPS SWABÉS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77384" y="1536192"/>
            <a:ext cx="22006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77384" y="1975104"/>
            <a:ext cx="220065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100,0 % des décès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320040" y="2423160"/>
          <a:ext cx="11548872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