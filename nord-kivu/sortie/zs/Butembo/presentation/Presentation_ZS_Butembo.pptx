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hebdomadaire des cas confirmés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Sheet1!$B$2:$B$24</c:f>
              <c:numCache>
                <c:formatCode>General</c:formatCode>
                <c:ptCount val="23"/>
                <c:pt idx="0">
                  <c:v>0.0</c:v>
                </c:pt>
                <c:pt idx="1">
                  <c:v>0.0</c:v>
                </c:pt>
                <c:pt idx="2">
                  <c:v>2.0</c:v>
                </c:pt>
                <c:pt idx="3">
                  <c:v>4.0</c:v>
                </c:pt>
                <c:pt idx="4">
                  <c:v>2.0</c:v>
                </c:pt>
                <c:pt idx="5">
                  <c:v>0.0</c:v>
                </c:pt>
                <c:pt idx="6">
                  <c:v>1.0</c:v>
                </c:pt>
                <c:pt idx="7">
                  <c:v>2.0</c:v>
                </c:pt>
                <c:pt idx="8">
                  <c:v>0.0</c:v>
                </c:pt>
                <c:pt idx="9">
                  <c:v>1.0</c:v>
                </c:pt>
                <c:pt idx="10">
                  <c:v>5.0</c:v>
                </c:pt>
                <c:pt idx="11">
                  <c:v>5.0</c:v>
                </c:pt>
                <c:pt idx="12">
                  <c:v>4.0</c:v>
                </c:pt>
                <c:pt idx="13">
                  <c:v>9.0</c:v>
                </c:pt>
                <c:pt idx="14">
                  <c:v>5.0</c:v>
                </c:pt>
                <c:pt idx="15">
                  <c:v>13.0</c:v>
                </c:pt>
                <c:pt idx="16">
                  <c:v>17.0</c:v>
                </c:pt>
                <c:pt idx="17">
                  <c:v>16.0</c:v>
                </c:pt>
                <c:pt idx="18">
                  <c:v>0.0</c:v>
                </c:pt>
                <c:pt idx="19">
                  <c:v>11.0</c:v>
                </c:pt>
                <c:pt idx="20">
                  <c:v>17.0</c:v>
                </c:pt>
                <c:pt idx="21">
                  <c:v>31.0</c:v>
                </c:pt>
                <c:pt idx="22">
                  <c:v>19.0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Sheet1!$A$2:$A$24</c:f>
              <c:strCache>
                <c:ptCount val="23"/>
                <c:pt idx="0">
                  <c:v>SE21</c:v>
                </c:pt>
                <c:pt idx="1">
                  <c:v>SE22</c:v>
                </c:pt>
                <c:pt idx="2">
                  <c:v>SE23</c:v>
                </c:pt>
                <c:pt idx="3">
                  <c:v>SE24</c:v>
                </c:pt>
                <c:pt idx="4">
                  <c:v>SE25</c:v>
                </c:pt>
                <c:pt idx="5">
                  <c:v>SE26</c:v>
                </c:pt>
                <c:pt idx="6">
                  <c:v>SE27</c:v>
                </c:pt>
                <c:pt idx="7">
                  <c:v>SE28</c:v>
                </c:pt>
                <c:pt idx="8">
                  <c:v>SE29</c:v>
                </c:pt>
                <c:pt idx="9">
                  <c:v>SE30</c:v>
                </c:pt>
                <c:pt idx="10">
                  <c:v>SE31</c:v>
                </c:pt>
                <c:pt idx="11">
                  <c:v>SE32</c:v>
                </c:pt>
                <c:pt idx="12">
                  <c:v>SE33</c:v>
                </c:pt>
                <c:pt idx="13">
                  <c:v>SE34</c:v>
                </c:pt>
                <c:pt idx="14">
                  <c:v>SE35</c:v>
                </c:pt>
                <c:pt idx="15">
                  <c:v>SE36</c:v>
                </c:pt>
                <c:pt idx="16">
                  <c:v>SE37</c:v>
                </c:pt>
                <c:pt idx="17">
                  <c:v>SE38</c:v>
                </c:pt>
                <c:pt idx="18">
                  <c:v>SE39</c:v>
                </c:pt>
                <c:pt idx="19">
                  <c:v>SE40</c:v>
                </c:pt>
                <c:pt idx="20">
                  <c:v>SE41</c:v>
                </c:pt>
                <c:pt idx="21">
                  <c:v>SE42</c:v>
                </c:pt>
                <c:pt idx="22">
                  <c:v>SE43</c:v>
                </c:pt>
              </c:strCache>
            </c:strRef>
          </c:cat>
          <c:val>
            <c:numRef>
              <c:f>Sheet1!$C$2:$C$24</c:f>
              <c:numCache>
                <c:formatCode>General</c:formatCode>
                <c:ptCount val="23"/>
                <c:pt idx="0">
                  <c:v>2.0</c:v>
                </c:pt>
                <c:pt idx="1">
                  <c:v>0.0</c:v>
                </c:pt>
                <c:pt idx="2">
                  <c:v>2.0</c:v>
                </c:pt>
                <c:pt idx="3">
                  <c:v>8.0</c:v>
                </c:pt>
                <c:pt idx="4">
                  <c:v>4.0</c:v>
                </c:pt>
                <c:pt idx="5">
                  <c:v>2.0</c:v>
                </c:pt>
                <c:pt idx="6">
                  <c:v>3.0</c:v>
                </c:pt>
                <c:pt idx="7">
                  <c:v>3.0</c:v>
                </c:pt>
                <c:pt idx="8">
                  <c:v>15.0</c:v>
                </c:pt>
                <c:pt idx="9">
                  <c:v>20.0</c:v>
                </c:pt>
                <c:pt idx="10">
                  <c:v>9.0</c:v>
                </c:pt>
                <c:pt idx="11">
                  <c:v>9.0</c:v>
                </c:pt>
                <c:pt idx="12">
                  <c:v>8.0</c:v>
                </c:pt>
                <c:pt idx="13">
                  <c:v>14.0</c:v>
                </c:pt>
                <c:pt idx="14">
                  <c:v>20.0</c:v>
                </c:pt>
                <c:pt idx="15">
                  <c:v>28.0</c:v>
                </c:pt>
                <c:pt idx="16">
                  <c:v>12.0</c:v>
                </c:pt>
                <c:pt idx="17">
                  <c:v>7.0</c:v>
                </c:pt>
                <c:pt idx="18">
                  <c:v>7.0</c:v>
                </c:pt>
                <c:pt idx="19">
                  <c:v>13.0</c:v>
                </c:pt>
                <c:pt idx="20">
                  <c:v>4.0</c:v>
                </c:pt>
                <c:pt idx="21">
                  <c:v>4.0</c:v>
                </c:pt>
                <c:pt idx="22">
                  <c:v>5.0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Répartition des 4 nouveaux cas par aire de santé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Vivants</c:v>
                </c:pt>
              </c:strCache>
            </c:strRef>
          </c:tx>
          <c:spPr>
            <a:solidFill>
              <a:srgbClr val="2E75B6"/>
            </a:solidFill>
          </c:spPr>
          <c:cat>
            <c:strRef>
              <c:f>Sheet1!$A$2:$A$5</c:f>
              <c:strCache>
                <c:ptCount val="4"/>
                <c:pt idx="0">
                  <c:v>Kyangike</c:v>
                </c:pt>
                <c:pt idx="1">
                  <c:v>Makasi</c:v>
                </c:pt>
                <c:pt idx="2">
                  <c:v>Non renseignée</c:v>
                </c:pt>
                <c:pt idx="3">
                  <c:v>Vuvatsi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1.0</c:v>
                </c:pt>
                <c:pt idx="2">
                  <c:v>1.0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Sheet1!$A$2:$A$5</c:f>
              <c:strCache>
                <c:ptCount val="4"/>
                <c:pt idx="0">
                  <c:v>Kyangike</c:v>
                </c:pt>
                <c:pt idx="1">
                  <c:v>Makasi</c:v>
                </c:pt>
                <c:pt idx="2">
                  <c:v>Non renseignée</c:v>
                </c:pt>
                <c:pt idx="3">
                  <c:v>Vuvatsi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1.0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Nombre de jours sans nouveau cas confirmé par aire de santé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Jours sans cas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27AE60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27AE60"/>
              </a:solidFill>
            </c:spPr>
          </c:dPt>
          <c:dPt>
            <c:idx val="3"/>
            <c:spPr>
              <a:solidFill>
                <a:srgbClr val="27AE60"/>
              </a:solidFill>
            </c:spPr>
          </c:dPt>
          <c:dPt>
            <c:idx val="4"/>
            <c:spPr>
              <a:solidFill>
                <a:srgbClr val="27AE60"/>
              </a:solidFill>
            </c:spPr>
          </c:dPt>
          <c:dPt>
            <c:idx val="5"/>
            <c:spPr>
              <a:solidFill>
                <a:srgbClr val="27AE60"/>
              </a:solidFill>
            </c:spPr>
          </c:dPt>
          <c:dPt>
            <c:idx val="6"/>
            <c:spPr>
              <a:solidFill>
                <a:srgbClr val="27AE60"/>
              </a:solidFill>
            </c:spPr>
          </c:dPt>
          <c:dPt>
            <c:idx val="7"/>
            <c:spPr>
              <a:solidFill>
                <a:srgbClr val="27AE60"/>
              </a:solidFill>
            </c:spPr>
          </c:dPt>
          <c:dPt>
            <c:idx val="8"/>
            <c:spPr>
              <a:solidFill>
                <a:srgbClr val="27AE60"/>
              </a:solidFill>
            </c:spPr>
          </c:dPt>
          <c:dPt>
            <c:idx val="9"/>
            <c:spPr>
              <a:solidFill>
                <a:srgbClr val="27AE60"/>
              </a:solidFill>
            </c:spPr>
          </c:dPt>
          <c:dPt>
            <c:idx val="10"/>
            <c:spPr>
              <a:solidFill>
                <a:srgbClr val="27AE60"/>
              </a:solidFill>
            </c:spPr>
          </c:dPt>
          <c:dPt>
            <c:idx val="11"/>
            <c:spPr>
              <a:solidFill>
                <a:srgbClr val="F1C40F"/>
              </a:solidFill>
            </c:spPr>
          </c:dPt>
          <c:dPt>
            <c:idx val="12"/>
            <c:spPr>
              <a:solidFill>
                <a:srgbClr val="F1C40F"/>
              </a:solidFill>
            </c:spPr>
          </c:dPt>
          <c:dPt>
            <c:idx val="13"/>
            <c:spPr>
              <a:solidFill>
                <a:srgbClr val="F1C40F"/>
              </a:solidFill>
            </c:spPr>
          </c:dPt>
          <c:dPt>
            <c:idx val="14"/>
            <c:spPr>
              <a:solidFill>
                <a:srgbClr val="F1C40F"/>
              </a:solidFill>
            </c:spPr>
          </c:dPt>
          <c:dPt>
            <c:idx val="15"/>
            <c:spPr>
              <a:solidFill>
                <a:srgbClr val="E67E22"/>
              </a:solidFill>
            </c:spPr>
          </c:dPt>
          <c:dPt>
            <c:idx val="16"/>
            <c:spPr>
              <a:solidFill>
                <a:srgbClr val="E67E22"/>
              </a:solidFill>
            </c:spPr>
          </c:dPt>
          <c:dPt>
            <c:idx val="17"/>
            <c:spPr>
              <a:solidFill>
                <a:srgbClr val="E67E22"/>
              </a:solidFill>
            </c:spPr>
          </c:dPt>
          <c:dPt>
            <c:idx val="18"/>
            <c:spPr>
              <a:solidFill>
                <a:srgbClr val="E67E22"/>
              </a:solidFill>
            </c:spPr>
          </c:dPt>
          <c:dPt>
            <c:idx val="19"/>
            <c:spPr>
              <a:solidFill>
                <a:srgbClr val="E67E22"/>
              </a:solidFill>
            </c:spPr>
          </c:dPt>
          <c:dPt>
            <c:idx val="20"/>
            <c:spPr>
              <a:solidFill>
                <a:srgbClr val="E67E22"/>
              </a:solidFill>
            </c:spPr>
          </c:dPt>
          <c:dPt>
            <c:idx val="21"/>
            <c:spPr>
              <a:solidFill>
                <a:srgbClr val="E67E22"/>
              </a:solidFill>
            </c:spPr>
          </c:dPt>
          <c:dPt>
            <c:idx val="22"/>
            <c:spPr>
              <a:solidFill>
                <a:srgbClr val="E67E22"/>
              </a:solidFill>
            </c:spPr>
          </c:dPt>
          <c:dPt>
            <c:idx val="23"/>
            <c:spPr>
              <a:solidFill>
                <a:srgbClr val="E67E22"/>
              </a:solidFill>
            </c:spPr>
          </c:dPt>
          <c:dPt>
            <c:idx val="24"/>
            <c:spPr>
              <a:solidFill>
                <a:srgbClr val="E67E22"/>
              </a:solidFill>
            </c:spPr>
          </c:dPt>
          <c:dPt>
            <c:idx val="25"/>
            <c:spPr>
              <a:solidFill>
                <a:srgbClr val="C0392B"/>
              </a:solidFill>
            </c:spPr>
          </c:dPt>
          <c:dPt>
            <c:idx val="26"/>
            <c:spPr>
              <a:solidFill>
                <a:srgbClr val="C0392B"/>
              </a:solidFill>
            </c:spPr>
          </c:dPt>
          <c:dPt>
            <c:idx val="27"/>
            <c:spPr>
              <a:solidFill>
                <a:srgbClr val="C0392B"/>
              </a:solidFill>
            </c:spPr>
          </c:dPt>
          <c:cat>
            <c:strRef>
              <c:f>Sheet1!$A$2:$A$29</c:f>
              <c:strCache>
                <c:ptCount val="28"/>
                <c:pt idx="0">
                  <c:v>Tulizeni</c:v>
                </c:pt>
                <c:pt idx="1">
                  <c:v>Masuli</c:v>
                </c:pt>
                <c:pt idx="2">
                  <c:v>Nduko</c:v>
                </c:pt>
                <c:pt idx="3">
                  <c:v>Munzambaye</c:v>
                </c:pt>
                <c:pt idx="4">
                  <c:v>Ngengere</c:v>
                </c:pt>
                <c:pt idx="5">
                  <c:v>Mahamba</c:v>
                </c:pt>
                <c:pt idx="6">
                  <c:v>Musayi</c:v>
                </c:pt>
                <c:pt idx="7">
                  <c:v>Mumole</c:v>
                </c:pt>
                <c:pt idx="8">
                  <c:v>Vutsondo</c:v>
                </c:pt>
                <c:pt idx="9">
                  <c:v>Musienene</c:v>
                </c:pt>
                <c:pt idx="10">
                  <c:v>Wanamahika</c:v>
                </c:pt>
                <c:pt idx="11">
                  <c:v>Kyangite</c:v>
                </c:pt>
                <c:pt idx="12">
                  <c:v>Vutetse</c:v>
                </c:pt>
                <c:pt idx="13">
                  <c:v>Matanda</c:v>
                </c:pt>
                <c:pt idx="14">
                  <c:v>Malende</c:v>
                </c:pt>
                <c:pt idx="15">
                  <c:v>Vulindi</c:v>
                </c:pt>
                <c:pt idx="16">
                  <c:v>Kyaghala</c:v>
                </c:pt>
                <c:pt idx="17">
                  <c:v>Mama Musayi</c:v>
                </c:pt>
                <c:pt idx="18">
                  <c:v>Wayene</c:v>
                </c:pt>
                <c:pt idx="19">
                  <c:v>Vulamba</c:v>
                </c:pt>
                <c:pt idx="20">
                  <c:v>Vutike</c:v>
                </c:pt>
                <c:pt idx="21">
                  <c:v>Mondo</c:v>
                </c:pt>
                <c:pt idx="22">
                  <c:v>Vusenzera</c:v>
                </c:pt>
                <c:pt idx="23">
                  <c:v>Katsya</c:v>
                </c:pt>
                <c:pt idx="24">
                  <c:v>Vutsundo</c:v>
                </c:pt>
                <c:pt idx="25">
                  <c:v>Makasi</c:v>
                </c:pt>
                <c:pt idx="26">
                  <c:v>Vuvatsi</c:v>
                </c:pt>
                <c:pt idx="27">
                  <c:v>Kyangike</c:v>
                </c:pt>
              </c:strCache>
            </c:strRef>
          </c:cat>
          <c:val>
            <c:numRef>
              <c:f>Sheet1!$B$2:$B$29</c:f>
              <c:numCache>
                <c:formatCode>General</c:formatCode>
                <c:ptCount val="28"/>
                <c:pt idx="0">
                  <c:v>131.0</c:v>
                </c:pt>
                <c:pt idx="1">
                  <c:v>104.0</c:v>
                </c:pt>
                <c:pt idx="2">
                  <c:v>95.0</c:v>
                </c:pt>
                <c:pt idx="3">
                  <c:v>91.0</c:v>
                </c:pt>
                <c:pt idx="4">
                  <c:v>85.0</c:v>
                </c:pt>
                <c:pt idx="5">
                  <c:v>85.0</c:v>
                </c:pt>
                <c:pt idx="6">
                  <c:v>77.0</c:v>
                </c:pt>
                <c:pt idx="7">
                  <c:v>76.0</c:v>
                </c:pt>
                <c:pt idx="8">
                  <c:v>69.0</c:v>
                </c:pt>
                <c:pt idx="9">
                  <c:v>66.0</c:v>
                </c:pt>
                <c:pt idx="10">
                  <c:v>65.0</c:v>
                </c:pt>
                <c:pt idx="11">
                  <c:v>40.0</c:v>
                </c:pt>
                <c:pt idx="12">
                  <c:v>26.0</c:v>
                </c:pt>
                <c:pt idx="13">
                  <c:v>26.0</c:v>
                </c:pt>
                <c:pt idx="14">
                  <c:v>23.0</c:v>
                </c:pt>
                <c:pt idx="15">
                  <c:v>21.0</c:v>
                </c:pt>
                <c:pt idx="16">
                  <c:v>18.0</c:v>
                </c:pt>
                <c:pt idx="17">
                  <c:v>17.0</c:v>
                </c:pt>
                <c:pt idx="18">
                  <c:v>12.0</c:v>
                </c:pt>
                <c:pt idx="19">
                  <c:v>10.0</c:v>
                </c:pt>
                <c:pt idx="20">
                  <c:v>10.0</c:v>
                </c:pt>
                <c:pt idx="21">
                  <c:v>9.0</c:v>
                </c:pt>
                <c:pt idx="22">
                  <c:v>6.0</c:v>
                </c:pt>
                <c:pt idx="23">
                  <c:v>6.0</c:v>
                </c:pt>
                <c:pt idx="24">
                  <c:v>2.0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du jour, 156 alertes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dPt>
            <c:idx val="0"/>
            <c:spPr>
              <a:solidFill>
                <a:srgbClr val="1F3864"/>
              </a:solidFill>
            </c:spPr>
          </c:dPt>
          <c:dPt>
            <c:idx val="1"/>
            <c:spPr>
              <a:solidFill>
                <a:srgbClr val="16A085"/>
              </a:solidFill>
            </c:spPr>
          </c:dPt>
          <c:dPt>
            <c:idx val="2"/>
            <c:spPr>
              <a:solidFill>
                <a:srgbClr val="E67E22"/>
              </a:solidFill>
            </c:spPr>
          </c:dPt>
          <c:dPt>
            <c:idx val="3"/>
            <c:spPr>
              <a:solidFill>
                <a:srgbClr val="8E44AD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ESS / FOSA / recherche passive</c:v>
                </c:pt>
                <c:pt idx="1">
                  <c:v>Communauté / SBC</c:v>
                </c:pt>
                <c:pt idx="2">
                  <c:v>Recherche active (RA)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48.0</c:v>
                </c:pt>
                <c:pt idx="2">
                  <c:v>28.0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Évolution des alertes sur 14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94.0</c:v>
                </c:pt>
                <c:pt idx="1">
                  <c:v>108.0</c:v>
                </c:pt>
                <c:pt idx="2">
                  <c:v>137.0</c:v>
                </c:pt>
                <c:pt idx="3">
                  <c:v>93.0</c:v>
                </c:pt>
                <c:pt idx="4">
                  <c:v>131.0</c:v>
                </c:pt>
                <c:pt idx="5">
                  <c:v>130.0</c:v>
                </c:pt>
                <c:pt idx="6">
                  <c:v>213.0</c:v>
                </c:pt>
                <c:pt idx="7">
                  <c:v>106.0</c:v>
                </c:pt>
                <c:pt idx="8">
                  <c:v>129.0</c:v>
                </c:pt>
                <c:pt idx="9">
                  <c:v>96.0</c:v>
                </c:pt>
                <c:pt idx="10">
                  <c:v>102.0</c:v>
                </c:pt>
                <c:pt idx="11">
                  <c:v>95.0</c:v>
                </c:pt>
                <c:pt idx="12">
                  <c:v>156.0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Investiguées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94.0</c:v>
                </c:pt>
                <c:pt idx="1">
                  <c:v>108.0</c:v>
                </c:pt>
                <c:pt idx="2">
                  <c:v>137.0</c:v>
                </c:pt>
                <c:pt idx="3">
                  <c:v>93.0</c:v>
                </c:pt>
                <c:pt idx="4">
                  <c:v>131.0</c:v>
                </c:pt>
                <c:pt idx="5">
                  <c:v>130.0</c:v>
                </c:pt>
                <c:pt idx="6">
                  <c:v>213.0</c:v>
                </c:pt>
                <c:pt idx="7">
                  <c:v>106.0</c:v>
                </c:pt>
                <c:pt idx="8">
                  <c:v>129.0</c:v>
                </c:pt>
                <c:pt idx="9">
                  <c:v>96.0</c:v>
                </c:pt>
                <c:pt idx="10">
                  <c:v>102.0</c:v>
                </c:pt>
                <c:pt idx="11">
                  <c:v>0.0</c:v>
                </c:pt>
                <c:pt idx="12">
                  <c:v>77.0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Validées</c:v>
                </c:pt>
              </c:strCache>
            </c:strRef>
          </c:tx>
          <c:spPr>
            <a:solidFill>
              <a:srgbClr val="E67E22"/>
            </a:solidFill>
          </c:spPr>
          <c:cat>
            <c:strRef>
              <c:f>Sheet1!$A$2:$A$14</c:f>
              <c:strCache>
                <c:ptCount val="13"/>
                <c:pt idx="0">
                  <c:v>12/10</c:v>
                </c:pt>
                <c:pt idx="1">
                  <c:v>13/10</c:v>
                </c:pt>
                <c:pt idx="2">
                  <c:v>14/10</c:v>
                </c:pt>
                <c:pt idx="3">
                  <c:v>15/10</c:v>
                </c:pt>
                <c:pt idx="4">
                  <c:v>16/10</c:v>
                </c:pt>
                <c:pt idx="5">
                  <c:v>17/10</c:v>
                </c:pt>
                <c:pt idx="6">
                  <c:v>18/10</c:v>
                </c:pt>
                <c:pt idx="7">
                  <c:v>19/10</c:v>
                </c:pt>
                <c:pt idx="8">
                  <c:v>20/10</c:v>
                </c:pt>
                <c:pt idx="9">
                  <c:v>21/10</c:v>
                </c:pt>
                <c:pt idx="10">
                  <c:v>22/10</c:v>
                </c:pt>
                <c:pt idx="11">
                  <c:v>24/10</c:v>
                </c:pt>
                <c:pt idx="12">
                  <c:v>25/10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15.0</c:v>
                </c:pt>
                <c:pt idx="1">
                  <c:v>24.0</c:v>
                </c:pt>
                <c:pt idx="2">
                  <c:v>24.0</c:v>
                </c:pt>
                <c:pt idx="3">
                  <c:v>10.0</c:v>
                </c:pt>
                <c:pt idx="4">
                  <c:v>16.0</c:v>
                </c:pt>
                <c:pt idx="5">
                  <c:v>20.0</c:v>
                </c:pt>
                <c:pt idx="6">
                  <c:v>20.0</c:v>
                </c:pt>
                <c:pt idx="7">
                  <c:v>16.0</c:v>
                </c:pt>
                <c:pt idx="8">
                  <c:v>22.0</c:v>
                </c:pt>
                <c:pt idx="9">
                  <c:v>12.0</c:v>
                </c:pt>
                <c:pt idx="10">
                  <c:v>20.0</c:v>
                </c:pt>
                <c:pt idx="11">
                  <c:v>18.0</c:v>
                </c:pt>
                <c:pt idx="12">
                  <c:v>19.0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Sources des alertes sur les 3 derniers jours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22/10</c:v>
                </c:pt>
              </c:strCache>
            </c:strRef>
          </c:tx>
          <c:spPr>
            <a:solidFill>
              <a:srgbClr val="AEB6BF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62.0</c:v>
                </c:pt>
                <c:pt idx="2">
                  <c:v>36.0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24/10</c:v>
                </c:pt>
              </c:strCache>
            </c:strRef>
          </c:tx>
          <c:spPr>
            <a:solidFill>
              <a:srgbClr val="5D8AA8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5.0</c:v>
                </c:pt>
                <c:pt idx="1">
                  <c:v>58.0</c:v>
                </c:pt>
                <c:pt idx="2">
                  <c:v>32.0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25/10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Sheet1!$A$2:$A$6</c:f>
              <c:strCache>
                <c:ptCount val="5"/>
                <c:pt idx="0">
                  <c:v>ESS / FOSA</c:v>
                </c:pt>
                <c:pt idx="1">
                  <c:v>Communauté / SBC</c:v>
                </c:pt>
                <c:pt idx="2">
                  <c:v>Recherche active</c:v>
                </c:pt>
                <c:pt idx="3">
                  <c:v>PoE / PoC</c:v>
                </c:pt>
                <c:pt idx="4">
                  <c:v>Contacts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80.0</c:v>
                </c:pt>
                <c:pt idx="1">
                  <c:v>48.0</c:v>
                </c:pt>
                <c:pt idx="2">
                  <c:v>28.0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Raisons de non-suivi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Non vus</c:v>
                </c:pt>
              </c:strCache>
            </c:strRef>
          </c:tx>
          <c:spPr>
            <a:solidFill>
              <a:srgbClr val="C0392B"/>
            </a:solidFill>
          </c:spPr>
          <c:dPt>
            <c:idx val="0"/>
            <c:spPr>
              <a:solidFill>
                <a:srgbClr val="C0392B"/>
              </a:solidFill>
            </c:spPr>
          </c:dPt>
          <c:dPt>
            <c:idx val="1"/>
            <c:spPr>
              <a:solidFill>
                <a:srgbClr val="E67E22"/>
              </a:solidFill>
            </c:spPr>
          </c:dPt>
          <c:dPt>
            <c:idx val="2"/>
            <c:spPr>
              <a:solidFill>
                <a:srgbClr val="922B21"/>
              </a:solidFill>
            </c:spPr>
          </c:dPt>
          <c:dPt>
            <c:idx val="3"/>
            <c:spPr>
              <a:solidFill>
                <a:srgbClr val="8C96A0"/>
              </a:solidFill>
            </c:spPr>
          </c:dPt>
          <c:dPt>
            <c:idx val="4"/>
            <c:spPr>
              <a:solidFill>
                <a:srgbClr val="2E75B6"/>
              </a:solidFill>
            </c:spPr>
          </c:dPt>
          <c:cat>
            <c:strRef>
              <c:f>Sheet1!$A$2:$A$6</c:f>
              <c:strCache>
                <c:ptCount val="5"/>
                <c:pt idx="0">
                  <c:v>Jamais vus</c:v>
                </c:pt>
                <c:pt idx="1">
                  <c:v>Non vus &lt; 48 h (simple absence)</c:v>
                </c:pt>
                <c:pt idx="2">
                  <c:v>Perdus de vue (≥ 72 h)</c:v>
                </c:pt>
                <c:pt idx="3">
                  <c:v>Refus / réticences</c:v>
                </c:pt>
                <c:pt idx="4">
                  <c:v>Déplacés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26.0</c:v>
                </c:pt>
                <c:pt idx="1">
                  <c:v>52.0</c:v>
                </c:pt>
                <c:pt idx="2">
                  <c:v>41.0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Taux de suivi des contacts (21 derniers jours)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suivi</c:v>
                </c:pt>
              </c:strCache>
            </c:strRef>
          </c:tx>
          <c:spPr>
            <a:ln w="28575">
              <a:solidFill>
                <a:srgbClr val="16A085"/>
              </a:solidFill>
            </a:ln>
          </c:spPr>
          <c:cat>
            <c:strRef>
              <c:f>Sheet1!$A$2:$A$22</c:f>
              <c:strCache>
                <c:ptCount val="21"/>
                <c:pt idx="0">
                  <c:v>05/10</c:v>
                </c:pt>
                <c:pt idx="1">
                  <c:v>06/10</c:v>
                </c:pt>
                <c:pt idx="2">
                  <c:v>07/10</c:v>
                </c:pt>
                <c:pt idx="3">
                  <c:v>08/10</c:v>
                </c:pt>
                <c:pt idx="4">
                  <c:v>09/10</c:v>
                </c:pt>
                <c:pt idx="5">
                  <c:v>10/10</c:v>
                </c:pt>
                <c:pt idx="6">
                  <c:v>11/10</c:v>
                </c:pt>
                <c:pt idx="7">
                  <c:v>12/10</c:v>
                </c:pt>
                <c:pt idx="8">
                  <c:v>13/10</c:v>
                </c:pt>
                <c:pt idx="9">
                  <c:v>14/10</c:v>
                </c:pt>
                <c:pt idx="10">
                  <c:v>15/10</c:v>
                </c:pt>
                <c:pt idx="11">
                  <c:v>16/10</c:v>
                </c:pt>
                <c:pt idx="12">
                  <c:v>17/10</c:v>
                </c:pt>
                <c:pt idx="13">
                  <c:v>18/10</c:v>
                </c:pt>
                <c:pt idx="14">
                  <c:v>19/10</c:v>
                </c:pt>
                <c:pt idx="15">
                  <c:v>20/10</c:v>
                </c:pt>
                <c:pt idx="16">
                  <c:v>21/10</c:v>
                </c:pt>
                <c:pt idx="17">
                  <c:v>22/10</c:v>
                </c:pt>
                <c:pt idx="18">
                  <c:v>23/10</c:v>
                </c:pt>
                <c:pt idx="19">
                  <c:v>24/10</c:v>
                </c:pt>
                <c:pt idx="20">
                  <c:v>25/10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85.4</c:v>
                </c:pt>
                <c:pt idx="1">
                  <c:v>85.4</c:v>
                </c:pt>
                <c:pt idx="2">
                  <c:v>84.4</c:v>
                </c:pt>
                <c:pt idx="3">
                  <c:v>82.4</c:v>
                </c:pt>
                <c:pt idx="4">
                  <c:v>80.2</c:v>
                </c:pt>
                <c:pt idx="5">
                  <c:v>81.1</c:v>
                </c:pt>
                <c:pt idx="6">
                  <c:v>79.9</c:v>
                </c:pt>
                <c:pt idx="7">
                  <c:v>77.5</c:v>
                </c:pt>
                <c:pt idx="8">
                  <c:v>78.2</c:v>
                </c:pt>
                <c:pt idx="9">
                  <c:v>79.1</c:v>
                </c:pt>
                <c:pt idx="10">
                  <c:v>84.6</c:v>
                </c:pt>
                <c:pt idx="11">
                  <c:v>83.2</c:v>
                </c:pt>
                <c:pt idx="12">
                  <c:v>94.7</c:v>
                </c:pt>
                <c:pt idx="13">
                  <c:v>77.9</c:v>
                </c:pt>
                <c:pt idx="14">
                  <c:v>84.3</c:v>
                </c:pt>
                <c:pt idx="15">
                  <c:v>90.0</c:v>
                </c:pt>
                <c:pt idx="16">
                  <c:v>87.6</c:v>
                </c:pt>
                <c:pt idx="17">
                  <c:v>87.7</c:v>
                </c:pt>
                <c:pt idx="18">
                  <c:v>89.5</c:v>
                </c:pt>
                <c:pt idx="19">
                  <c:v>88.2</c:v>
                </c:pt>
                <c:pt idx="20">
                  <c:v>88.1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Résultats par jour (14 jours)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Positifs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11.0</c:v>
                </c:pt>
                <c:pt idx="1">
                  <c:v>4.0</c:v>
                </c:pt>
                <c:pt idx="2">
                  <c:v>2.0</c:v>
                </c:pt>
                <c:pt idx="3">
                  <c:v>3.0</c:v>
                </c:pt>
                <c:pt idx="4">
                  <c:v>5.0</c:v>
                </c:pt>
                <c:pt idx="5">
                  <c:v>3.0</c:v>
                </c:pt>
                <c:pt idx="6">
                  <c:v>5.0</c:v>
                </c:pt>
                <c:pt idx="7">
                  <c:v>5.0</c:v>
                </c:pt>
                <c:pt idx="8">
                  <c:v>3.0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5.0</c:v>
                </c:pt>
                <c:pt idx="1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Négatifs</c:v>
                </c:pt>
              </c:strCache>
            </c:strRef>
          </c:tx>
          <c:spPr>
            <a:solidFill>
              <a:srgbClr val="8C96A0"/>
            </a:solidFill>
          </c:spPr>
          <c:cat>
            <c:strRef>
              <c:f>Sheet1!$A$2:$A$15</c:f>
              <c:strCache>
                <c:ptCount val="14"/>
                <c:pt idx="0">
                  <c:v>11/09</c:v>
                </c:pt>
                <c:pt idx="1">
                  <c:v>12/09</c:v>
                </c:pt>
                <c:pt idx="2">
                  <c:v>13/09</c:v>
                </c:pt>
                <c:pt idx="3">
                  <c:v>14/09</c:v>
                </c:pt>
                <c:pt idx="4">
                  <c:v>15/09</c:v>
                </c:pt>
                <c:pt idx="5">
                  <c:v>16/09</c:v>
                </c:pt>
                <c:pt idx="6">
                  <c:v>17/09</c:v>
                </c:pt>
                <c:pt idx="7">
                  <c:v>18/09</c:v>
                </c:pt>
                <c:pt idx="8">
                  <c:v>19/09</c:v>
                </c:pt>
                <c:pt idx="9">
                  <c:v>20/09</c:v>
                </c:pt>
                <c:pt idx="10">
                  <c:v>21/09</c:v>
                </c:pt>
                <c:pt idx="11">
                  <c:v>22/09</c:v>
                </c:pt>
                <c:pt idx="12">
                  <c:v>23/09</c:v>
                </c:pt>
                <c:pt idx="13">
                  <c:v>24/09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9.0</c:v>
                </c:pt>
                <c:pt idx="1">
                  <c:v>14.0</c:v>
                </c:pt>
                <c:pt idx="2">
                  <c:v>7.0</c:v>
                </c:pt>
                <c:pt idx="3">
                  <c:v>13.0</c:v>
                </c:pt>
                <c:pt idx="4">
                  <c:v>5.0</c:v>
                </c:pt>
                <c:pt idx="5">
                  <c:v>18.0</c:v>
                </c:pt>
                <c:pt idx="6">
                  <c:v>9.0</c:v>
                </c:pt>
                <c:pt idx="7">
                  <c:v>14.0</c:v>
                </c:pt>
                <c:pt idx="8">
                  <c:v>16.0</c:v>
                </c:pt>
                <c:pt idx="9">
                  <c:v>16.0</c:v>
                </c:pt>
                <c:pt idx="10">
                  <c:v>21.0</c:v>
                </c:pt>
                <c:pt idx="11">
                  <c:v>8.0</c:v>
                </c:pt>
                <c:pt idx="12">
                  <c:v>9.0</c:v>
                </c:pt>
                <c:pt idx="13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Positivité hebdomadaire (12 semaines)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Positivité</c:v>
                </c:pt>
              </c:strCache>
            </c:strRef>
          </c:tx>
          <c:spPr>
            <a:ln w="28575">
              <a:solidFill>
                <a:srgbClr val="C0392B"/>
              </a:solidFill>
            </a:ln>
          </c:spPr>
          <c:cat>
            <c:strRef>
              <c:f>Sheet1!$A$2:$A$13</c:f>
              <c:strCache>
                <c:ptCount val="12"/>
                <c:pt idx="0">
                  <c:v>SE28</c:v>
                </c:pt>
                <c:pt idx="1">
                  <c:v>SE29</c:v>
                </c:pt>
                <c:pt idx="2">
                  <c:v>SE30</c:v>
                </c:pt>
                <c:pt idx="3">
                  <c:v>SE31</c:v>
                </c:pt>
                <c:pt idx="4">
                  <c:v>SE32</c:v>
                </c:pt>
                <c:pt idx="5">
                  <c:v>SE33</c:v>
                </c:pt>
                <c:pt idx="6">
                  <c:v>SE34</c:v>
                </c:pt>
                <c:pt idx="7">
                  <c:v>SE35</c:v>
                </c:pt>
                <c:pt idx="8">
                  <c:v>SE36</c:v>
                </c:pt>
                <c:pt idx="9">
                  <c:v>SE37</c:v>
                </c:pt>
                <c:pt idx="10">
                  <c:v>SE38</c:v>
                </c:pt>
                <c:pt idx="11">
                  <c:v>SE39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4.4</c:v>
                </c:pt>
                <c:pt idx="1">
                  <c:v>8.6</c:v>
                </c:pt>
                <c:pt idx="2">
                  <c:v>11.8</c:v>
                </c:pt>
                <c:pt idx="3">
                  <c:v>11.7</c:v>
                </c:pt>
                <c:pt idx="4">
                  <c:v>14.5</c:v>
                </c:pt>
                <c:pt idx="5">
                  <c:v>16.0</c:v>
                </c:pt>
                <c:pt idx="6">
                  <c:v>19.7</c:v>
                </c:pt>
                <c:pt idx="7">
                  <c:v>24.5</c:v>
                </c:pt>
                <c:pt idx="8">
                  <c:v>31.7</c:v>
                </c:pt>
                <c:pt idx="9">
                  <c:v>32.3</c:v>
                </c:pt>
                <c:pt idx="10">
                  <c:v>22.2</c:v>
                </c:pt>
                <c:pt idx="11">
                  <c:v>13.5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45.0"/>
          <c:min val="0.0"/>
        </c:scaling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numFmt formatCode="0&quot; %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F3864"/>
                </a:solidFill>
              </a:rPr>
              <a:t>Alertes de décès, EDS et swabs (7 jours)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Alertes de décès</c:v>
                </c:pt>
              </c:strCache>
            </c:strRef>
          </c:tx>
          <c:spPr>
            <a:solidFill>
              <a:srgbClr val="C0392B"/>
            </a:solidFill>
          </c:spPr>
          <c:cat>
            <c:strRef>
              <c:f>Sheet1!$A$2:$A$7</c:f>
              <c:strCache>
                <c:ptCount val="6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5.0</c:v>
                </c:pt>
                <c:pt idx="4">
                  <c:v>0.0</c:v>
                </c:pt>
                <c:pt idx="5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EDS réalisés</c:v>
                </c:pt>
              </c:strCache>
            </c:strRef>
          </c:tx>
          <c:spPr>
            <a:solidFill>
              <a:srgbClr val="1F3864"/>
            </a:solidFill>
          </c:spPr>
          <c:cat>
            <c:strRef>
              <c:f>Sheet1!$A$2:$A$7</c:f>
              <c:strCache>
                <c:ptCount val="6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4.0</c:v>
                </c:pt>
                <c:pt idx="1">
                  <c:v>7.0</c:v>
                </c:pt>
                <c:pt idx="2">
                  <c:v>5.0</c:v>
                </c:pt>
                <c:pt idx="3">
                  <c:v>5.0</c:v>
                </c:pt>
                <c:pt idx="4">
                  <c:v>6.0</c:v>
                </c:pt>
                <c:pt idx="5">
                  <c:v>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Corps swabés</c:v>
                </c:pt>
              </c:strCache>
            </c:strRef>
          </c:tx>
          <c:spPr>
            <a:solidFill>
              <a:srgbClr val="16A085"/>
            </a:solidFill>
          </c:spPr>
          <c:cat>
            <c:strRef>
              <c:f>Sheet1!$A$2:$A$7</c:f>
              <c:strCache>
                <c:ptCount val="6"/>
                <c:pt idx="0">
                  <c:v>19/10</c:v>
                </c:pt>
                <c:pt idx="1">
                  <c:v>20/10</c:v>
                </c:pt>
                <c:pt idx="2">
                  <c:v>21/10</c:v>
                </c:pt>
                <c:pt idx="3">
                  <c:v>22/10</c:v>
                </c:pt>
                <c:pt idx="4">
                  <c:v>24/10</c:v>
                </c:pt>
                <c:pt idx="5">
                  <c:v>25/10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4.0</c:v>
                </c:pt>
                <c:pt idx="1">
                  <c:v>7.0</c:v>
                </c:pt>
                <c:pt idx="2">
                  <c:v>5.0</c:v>
                </c:pt>
                <c:pt idx="3">
                  <c:v>5.0</c:v>
                </c:pt>
                <c:pt idx="4">
                  <c:v>6.0</c:v>
                </c:pt>
                <c:pt idx="5">
                  <c:v>7.0</c:v>
                </c:pt>
              </c:numCache>
            </c:numRef>
          </c:val>
        </c:ser>
        <c:dLbls>
          <c:numFmt formatCode="#,##0;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5E8EC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0"/>
            <a:ext cx="73152" cy="6858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E67E22"/>
                </a:solidFill>
                <a:latin typeface="Calibri"/>
              </a:rPr>
              <a:t>RIPOSTE À LA MALADIE À VIRUS EBOLA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SITUATION DE LA MVE</a:t>
            </a:r>
          </a:p>
          <a:p>
            <a:pPr algn="l"/>
            <a:r>
              <a:rPr sz="4000" b="1" i="0">
                <a:solidFill>
                  <a:srgbClr val="1F3864"/>
                </a:solidFill>
                <a:latin typeface="Calibri"/>
              </a:rPr>
              <a:t>ZS BUTEMBO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2461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>
                <a:solidFill>
                  <a:srgbClr val="1B2631"/>
                </a:solidFill>
                <a:latin typeface="Calibri"/>
              </a:rPr>
              <a:t>Zone de santé de Butembo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3977639"/>
            <a:ext cx="2926080" cy="457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0624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i="0">
                <a:solidFill>
                  <a:srgbClr val="5D6D7E"/>
                </a:solidFill>
                <a:latin typeface="Calibri"/>
              </a:rPr>
              <a:t>Situation au 25 octobre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9893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 la MVE au 25 octobre 2026, Zone de santé de Butembo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CONFIRMÉS (CUMUL)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363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depuis le 18 mai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 (CUMUL)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199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létalité : 55 %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TOUCHÉES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aires de santé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CAS EN 7 JOURS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35 les 7 jours précédents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ENFANTS &lt; 5 ANS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20,1 % des cas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29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320040" y="5943600"/>
            <a:ext cx="11548872" cy="438912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19050">
            <a:solidFill>
              <a:srgbClr val="D5DB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5961888"/>
            <a:ext cx="11274552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 i="0">
                <a:solidFill>
                  <a:srgbClr val="1B2631"/>
                </a:solidFill>
                <a:latin typeface="Calibri"/>
              </a:rPr>
              <a:t>Pic à la SE36 (41 cas) ; létalité hebdomadaire de la dernière semaine complète : 11 %.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épidémiologique du jour,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NOUVEAUX 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 vivants · 2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VIVANTS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2 · M :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DÉCÈS CONFIRMÉS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F : 1 · M :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AS AYANT NOTIFIÉ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ce jour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 AS TOUCHÉE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aucune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Nombre de jours sans nouveau cas confirmé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7863840" cy="51206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12480" y="1325880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1325880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0 JOUR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1600200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3 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039112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avec cas confirmé ce jour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2487168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487168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1 À 21 JOURS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761487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10 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200400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transmission récente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3648456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95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solidFill>
            <a:srgbClr val="B79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3648456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22 À 41 JOURS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922776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B7950B"/>
                </a:solidFill>
                <a:latin typeface="Calibri"/>
              </a:rPr>
              <a:t>4 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4361688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vigilance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4809744"/>
            <a:ext cx="3456432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4809744"/>
            <a:ext cx="34564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≥ 42 JOURS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084064"/>
            <a:ext cx="34564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11 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5522976"/>
            <a:ext cx="34564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Tulizeni : 131 jours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1. Surveillance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Répartition des cas confirmés de MVE par aire de santé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Carte_categorie_20261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3720" y="1234440"/>
            <a:ext cx="7304253" cy="516635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des alertes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NOUVELLES ALERTES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77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4 décès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66188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66188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À TRAITER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6188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E75B6"/>
                </a:solidFill>
                <a:latin typeface="Calibri"/>
              </a:rPr>
              <a:t>156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6188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nouvelles + 79 en report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12336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INVESTIGUÉES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12336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2336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49,4 % des alertes à traiter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58483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58483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VALIDÉES (SUSPECTS)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58483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58483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24,7 % des investiguées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4632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04632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ACHEMINÉES CT/CTE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04632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10/19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04632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52,6 %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0780" y="1261872"/>
            <a:ext cx="1818132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7AE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0780" y="1261872"/>
            <a:ext cx="1818132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PRÉLEVÉES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0780" y="1536192"/>
            <a:ext cx="181813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27AE60"/>
                </a:solidFill>
                <a:latin typeface="Calibri"/>
              </a:rPr>
              <a:t>17/19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0780" y="1975104"/>
            <a:ext cx="181813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89,5 % des validées</a:t>
            </a:r>
          </a:p>
        </p:txBody>
      </p:sp>
      <p:graphicFrame>
        <p:nvGraphicFramePr>
          <p:cNvPr id="37" name="Chart 36"/>
          <p:cNvGraphicFramePr>
            <a:graphicFrameLocks noGrp="1"/>
          </p:cNvGraphicFramePr>
          <p:nvPr/>
        </p:nvGraphicFramePr>
        <p:xfrm>
          <a:off x="320040" y="2423160"/>
          <a:ext cx="53949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8" name="Chart 37"/>
          <p:cNvGraphicFramePr>
            <a:graphicFrameLocks noGrp="1"/>
          </p:cNvGraphicFramePr>
          <p:nvPr/>
        </p:nvGraphicFramePr>
        <p:xfrm>
          <a:off x="5852160" y="2423160"/>
          <a:ext cx="60167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Tableau comparatif des alertes sur 3 jours, Zone de santé de Butembo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188720"/>
          <a:ext cx="11548872" cy="40325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9774"/>
                <a:gridCol w="2309774"/>
                <a:gridCol w="2309774"/>
                <a:gridCol w="2309774"/>
                <a:gridCol w="2309776"/>
              </a:tblGrid>
              <a:tr h="224028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Indicateur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22/10/2026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24/10/2026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25/10/2026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Évolution (dernier jour / veille)</a:t>
                      </a: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vivantes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Nouvelles alertes de décès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Report de la veille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−16 (−17 %)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Total des alertes à traiter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95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156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+61 (+64 %)</a:t>
                      </a:r>
                    </a:p>
                  </a:txBody>
                  <a:tcPr marT="18288" marB="18288">
                    <a:solidFill>
                      <a:srgbClr val="E8EDF3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investiguées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% investiguées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49 %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+49 pt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Alertes validées (suspects)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(+6 %)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Acheminées au CT/CTE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+3 (+43 %)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Prélevées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13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+4 (+31 %)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EDS réalisés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(+17 %)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Corps swabés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7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+1 (+17 %)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ESS / FOSA / recherche passive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80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+75 (+1 500 %)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Communauté / SBC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62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48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−10 (−17 %)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Recherche active (RA)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36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32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28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−4 (−12 %)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PoE / PoC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Source : Contacts</a:t>
                      </a:r>
                    </a:p>
                  </a:txBody>
                  <a:tcPr marT="18288" marB="18288">
                    <a:solidFill>
                      <a:srgbClr val="F3EE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0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=</a:t>
                      </a:r>
                    </a:p>
                  </a:txBody>
                  <a:tcPr marT="18288" marB="18288">
                    <a:solidFill>
                      <a:srgbClr val="F7F9F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r>
                        <a:rPr sz="850" b="0"/>
                        <a:t>Réticents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9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/>
                        <a:t>−3 (−60 %)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2. Alertes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Sources des alertes sur les 3 derniers jours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320040" y="1234440"/>
          <a:ext cx="11548872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3. Suivi des contacts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Situation du suivi des contacts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À SUIVRE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869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0 nouveaux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55417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55417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VUS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5417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766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5417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contacts vus ce jour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0795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90795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TAUX DE SUIVI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0795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88 %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90795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cible ≥ 90 %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26172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26172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NON VUS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26172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6172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dont 26 jamais vus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61550" y="1261872"/>
            <a:ext cx="2207361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61550" y="1261872"/>
            <a:ext cx="2207361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DEVENUS SUSPECTS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1550" y="1536192"/>
            <a:ext cx="220736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61550" y="1975104"/>
            <a:ext cx="2207361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102 sortis au 21e jour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320040" y="2423160"/>
          <a:ext cx="57607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6172200" y="2423160"/>
          <a:ext cx="569671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5. Laboratoire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Laboratoire, situation au 25 octobre 2026 (derniers résultats saisis : 24 septembre 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ÉCHANTILLONS ANALYSÉS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108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 au 24/09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39262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39262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POSITIFS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39262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9262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15,7 %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8484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7E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4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POST-MORTEM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4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E67E22"/>
                </a:solidFill>
                <a:latin typeface="Calibri"/>
              </a:rPr>
              <a:t>2/30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8484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positivité 6,7 %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77706" y="1261872"/>
            <a:ext cx="279120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7706" y="1261872"/>
            <a:ext cx="279120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RE-PRÉLÈVEMENTS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7706" y="1536192"/>
            <a:ext cx="279120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7706" y="1975104"/>
            <a:ext cx="279120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sur la période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320040" y="2423160"/>
          <a:ext cx="676656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8" name="Chart 27"/>
          <p:cNvGraphicFramePr>
            <a:graphicFrameLocks noGrp="1"/>
          </p:cNvGraphicFramePr>
          <p:nvPr/>
        </p:nvGraphicFramePr>
        <p:xfrm>
          <a:off x="7223760" y="2423160"/>
          <a:ext cx="4645152" cy="3474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15568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  <a:latin typeface="Calibri"/>
              </a:rPr>
              <a:t>9. Enterrements dignes et sécurisés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786384"/>
            <a:ext cx="115214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Décès communautaires, EDS et prélèvements, situation au 25 octobre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73952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50" b="0" i="1">
                <a:solidFill>
                  <a:srgbClr val="5D6D7E"/>
                </a:solidFill>
                <a:latin typeface="Calibri"/>
              </a:rPr>
              <a:t>Sources : liste labo des cas confirmés, base chiffrée provinciale (suivi des contacts, alertes) · Ebola Outbreak, outil provincial du Nord-Kivu · 25 octobre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5D6D7E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ALERTES DE DÉCÈS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C0392B"/>
                </a:solidFill>
                <a:latin typeface="Calibri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48712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48712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EDS RÉALISÉS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8712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F3864"/>
                </a:solidFill>
                <a:latin typeface="Calibri"/>
              </a:rPr>
              <a:t>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8712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7 jours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7384" y="1261872"/>
            <a:ext cx="2200656" cy="10241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6A0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solidFill>
            <a:srgbClr val="16A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7384" y="1261872"/>
            <a:ext cx="220065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CORPS SWABÉS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77384" y="1536192"/>
            <a:ext cx="2200656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 i="0">
                <a:solidFill>
                  <a:srgbClr val="16A085"/>
                </a:solidFill>
                <a:latin typeface="Calibri"/>
              </a:rPr>
              <a:t>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7384" y="1975104"/>
            <a:ext cx="220065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50" b="0" i="1">
                <a:solidFill>
                  <a:srgbClr val="5D6D7E"/>
                </a:solidFill>
                <a:latin typeface="Calibri"/>
              </a:rPr>
              <a:t>125,9 % des décès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320040" y="2423160"/>
          <a:ext cx="11548872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